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 id="2147483660" r:id="rId2"/>
  </p:sldMasterIdLst>
  <p:notesMasterIdLst>
    <p:notesMasterId r:id="rId24"/>
  </p:notesMasterIdLst>
  <p:sldIdLst>
    <p:sldId id="256" r:id="rId3"/>
    <p:sldId id="1469" r:id="rId4"/>
    <p:sldId id="1470" r:id="rId5"/>
    <p:sldId id="257" r:id="rId6"/>
    <p:sldId id="1472" r:id="rId7"/>
    <p:sldId id="1473" r:id="rId8"/>
    <p:sldId id="1474" r:id="rId9"/>
    <p:sldId id="1475" r:id="rId10"/>
    <p:sldId id="1477" r:id="rId11"/>
    <p:sldId id="1478" r:id="rId12"/>
    <p:sldId id="1490" r:id="rId13"/>
    <p:sldId id="1479" r:id="rId14"/>
    <p:sldId id="1480" r:id="rId15"/>
    <p:sldId id="1481" r:id="rId16"/>
    <p:sldId id="1482" r:id="rId17"/>
    <p:sldId id="1483" r:id="rId18"/>
    <p:sldId id="1484" r:id="rId19"/>
    <p:sldId id="1485" r:id="rId20"/>
    <p:sldId id="1486" r:id="rId21"/>
    <p:sldId id="1489" r:id="rId22"/>
    <p:sldId id="1487"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3"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CB5"/>
    <a:srgbClr val="FDE2BF"/>
    <a:srgbClr val="FFE089"/>
    <a:srgbClr val="FFF8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9" autoAdjust="0"/>
    <p:restoredTop sz="76505" autoAdjust="0"/>
  </p:normalViewPr>
  <p:slideViewPr>
    <p:cSldViewPr snapToGrid="0">
      <p:cViewPr varScale="1">
        <p:scale>
          <a:sx n="87" d="100"/>
          <a:sy n="87" d="100"/>
        </p:scale>
        <p:origin x="1386"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048" y="-11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67590A-9551-4E71-86A8-E52D1297AC03}" type="datetimeFigureOut">
              <a:rPr lang="fr-FR" smtClean="0"/>
              <a:t>24/12/2025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65106E-0D85-4682-A296-B6C7F5A09409}" type="slidenum">
              <a:rPr lang="fr-FR" smtClean="0"/>
              <a:t>‹N°›</a:t>
            </a:fld>
            <a:endParaRPr lang="fr-FR" dirty="0"/>
          </a:p>
        </p:txBody>
      </p:sp>
    </p:spTree>
    <p:extLst>
      <p:ext uri="{BB962C8B-B14F-4D97-AF65-F5344CB8AC3E}">
        <p14:creationId xmlns:p14="http://schemas.microsoft.com/office/powerpoint/2010/main" val="287748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4400" b="0" i="0" u="none" dirty="0">
                <a:latin typeface="Bodoni MT" panose="02070603080606020203" pitchFamily="18" charset="0"/>
                <a:cs typeface="Times New Roman" panose="02020603050405020304" pitchFamily="18" charset="0"/>
              </a:rPr>
              <a:t>Merci Monsieur le Président du Jury pour la parole accordée</a:t>
            </a:r>
          </a:p>
          <a:p>
            <a:r>
              <a:rPr lang="fr-FR" sz="4400" b="0" i="0" u="none" dirty="0">
                <a:latin typeface="Bodoni MT" panose="02070603080606020203" pitchFamily="18" charset="0"/>
                <a:cs typeface="Times New Roman" panose="02020603050405020304" pitchFamily="18" charset="0"/>
              </a:rPr>
              <a:t>Chers Parents et amis, bonjour et bienvenue à notre soutenance</a:t>
            </a:r>
          </a:p>
          <a:p>
            <a:endParaRPr lang="fr-FR" sz="4400" b="0" i="0" u="none" dirty="0">
              <a:latin typeface="Bodoni MT" panose="02070603080606020203" pitchFamily="18" charset="0"/>
              <a:cs typeface="Times New Roman" panose="02020603050405020304" pitchFamily="18" charset="0"/>
            </a:endParaRP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a:t>
            </a:fld>
            <a:endParaRPr lang="fr-FR" dirty="0"/>
          </a:p>
        </p:txBody>
      </p:sp>
    </p:spTree>
    <p:extLst>
      <p:ext uri="{BB962C8B-B14F-4D97-AF65-F5344CB8AC3E}">
        <p14:creationId xmlns:p14="http://schemas.microsoft.com/office/powerpoint/2010/main" val="3641418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800" b="1" i="0" u="none" dirty="0">
                <a:latin typeface="Bodoni MT" panose="02070603080606020203" pitchFamily="18" charset="0"/>
                <a:cs typeface="Times New Roman" panose="02020603050405020304" pitchFamily="18" charset="0"/>
              </a:rPr>
              <a:t>Excellence Monsieur le Président du jury</a:t>
            </a:r>
            <a:r>
              <a:rPr lang="fr-FR" sz="1200" b="0" i="0" u="none" dirty="0">
                <a:latin typeface="Bodoni MT" panose="02070603080606020203" pitchFamily="18" charset="0"/>
                <a:cs typeface="Times New Roman" panose="02020603050405020304" pitchFamily="18" charset="0"/>
              </a:rPr>
              <a:t>, </a:t>
            </a:r>
          </a:p>
          <a:p>
            <a:r>
              <a:rPr lang="fr-FR" sz="1200" b="0" i="0" u="none" dirty="0">
                <a:latin typeface="Bodoni MT" panose="02070603080606020203" pitchFamily="18" charset="0"/>
                <a:cs typeface="Times New Roman" panose="02020603050405020304" pitchFamily="18" charset="0"/>
              </a:rPr>
              <a:t>Honorables Membres du Jury,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dirty="0">
                <a:latin typeface="Bodoni MT" panose="02070603080606020203" pitchFamily="18" charset="0"/>
                <a:cs typeface="Times New Roman" panose="02020603050405020304" pitchFamily="18" charset="0"/>
              </a:rPr>
              <a:t>Nous ne saurions commencer cette présentation sans vous adresser nos sincères remerciements pour votre présence en dépits de vos diverses occupations afin d’évaluer les résultats de nos travaux de fin de </a:t>
            </a:r>
            <a:r>
              <a:rPr lang="fr-FR" sz="1200" dirty="0"/>
              <a:t>formation portant sur l’Etude hydrologique du sous bassin versant drainé par le collecteur </a:t>
            </a:r>
            <a:r>
              <a:rPr lang="fr-FR" sz="1200" dirty="0" err="1"/>
              <a:t>Qb</a:t>
            </a:r>
            <a:r>
              <a:rPr lang="fr-FR" sz="1200" dirty="0"/>
              <a:t> de COTONOU.</a:t>
            </a:r>
          </a:p>
          <a:p>
            <a:r>
              <a:rPr lang="fr-FR" dirty="0">
                <a:solidFill>
                  <a:srgbClr val="FF0000"/>
                </a:solidFill>
              </a:rPr>
              <a:t>Ce travail a été réalisé sous la supervision de </a:t>
            </a:r>
            <a:r>
              <a:rPr kumimoji="0" lang="fr-FR" sz="1200" b="0" i="0" u="none" strike="noStrike" kern="1200" cap="none" spc="0" normalizeH="0" baseline="0" noProof="0" dirty="0">
                <a:ln>
                  <a:noFill/>
                </a:ln>
                <a:solidFill>
                  <a:srgbClr val="FF0000"/>
                </a:solidFill>
                <a:effectLst/>
                <a:uLnTx/>
                <a:uFillTx/>
                <a:latin typeface="Cambria Math" panose="02040503050406030204" pitchFamily="18" charset="0"/>
                <a:ea typeface="Cambria Math" panose="02040503050406030204" pitchFamily="18" charset="0"/>
                <a:cs typeface="Times New Roman" panose="02020603050405020304" pitchFamily="18" charset="0"/>
              </a:rPr>
              <a:t>Dr. Jean HOUNKPE et M. Gilbert HOUNNOU</a:t>
            </a:r>
            <a:r>
              <a:rPr lang="fr-FR" dirty="0">
                <a:solidFill>
                  <a:srgbClr val="FF0000"/>
                </a:solidFill>
              </a:rPr>
              <a:t> à qui nous adressons nos sincères remerciements. </a:t>
            </a:r>
            <a:endParaRPr lang="fr-BJ" dirty="0">
              <a:solidFill>
                <a:srgbClr val="FF0000"/>
              </a:solidFill>
            </a:endParaRP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47046D70-1050-413E-A77C-5351FEEAD71C}" type="slidenum">
              <a:rPr kumimoji="0" lang="en-US" sz="1200" b="0" i="0" u="none" strike="noStrike" kern="0" cap="none" spc="0" normalizeH="0" baseline="0" noProof="0" smtClean="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lang="en-US" sz="12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46028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defTabSz="990752">
              <a:defRPr/>
            </a:pPr>
            <a:r>
              <a:rPr lang="fr-FR" baseline="0" dirty="0"/>
              <a:t>Avant de plonger dans les détails de nos travaux de recherche, qu’il nous soit permis de rappeler le plan autour duquel s’articulera notre présentation,</a:t>
            </a:r>
          </a:p>
          <a:p>
            <a:pPr algn="just" defTabSz="990752">
              <a:defRPr/>
            </a:pPr>
            <a:r>
              <a:rPr lang="fr-FR" baseline="0" dirty="0"/>
              <a:t>Nous commencerons par une intro, puis la présentation de la zone d’étude. Nous aborderons ensuite les données utilisées puis le matériel et la méthodologie suivies. Par la suite nous aboutirons aux résultats de notre travail ainsi que la discussion. Nous finirons par la conclusion suivi de quelques  perspectives</a:t>
            </a:r>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3</a:t>
            </a:fld>
            <a:endParaRPr lang="fr-FR" dirty="0"/>
          </a:p>
        </p:txBody>
      </p:sp>
    </p:spTree>
    <p:extLst>
      <p:ext uri="{BB962C8B-B14F-4D97-AF65-F5344CB8AC3E}">
        <p14:creationId xmlns:p14="http://schemas.microsoft.com/office/powerpoint/2010/main" val="3999991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effet, l’Afrique de l’Ouest connait aujourd’hui une urbanisation rapide et souvent incontrôlée, entrainant une augmentation des surfaces imperméables. Cette évolution intensifie le ruissellement pluvial et accroit le risque d’inondation. À Cotonou, cette dynamique est particulièrement marquée. La ville, soumise à un climat tropical humide avec une pluviométrie annuelle élevée, est confrontée à une forte pression démographique et à une urbanisation non réglementée, notamment dans les zones inondables.</a:t>
            </a:r>
          </a:p>
          <a:p>
            <a:r>
              <a:rPr lang="fr-FR" dirty="0"/>
              <a:t>L’ensemble de ces facteurs amplifie considérablement la vulnérabilité de la ville face aux inondations</a:t>
            </a:r>
          </a:p>
          <a:p>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4</a:t>
            </a:fld>
            <a:endParaRPr lang="fr-FR" dirty="0"/>
          </a:p>
        </p:txBody>
      </p:sp>
    </p:spTree>
    <p:extLst>
      <p:ext uri="{BB962C8B-B14F-4D97-AF65-F5344CB8AC3E}">
        <p14:creationId xmlns:p14="http://schemas.microsoft.com/office/powerpoint/2010/main" val="825211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est important de soulignant que l’absence de contrôle efficace de l’urbanisation </a:t>
            </a:r>
            <a:r>
              <a:rPr lang="fr-FR" sz="1800" kern="100" dirty="0">
                <a:effectLst/>
                <a:latin typeface="Times New Roman" panose="02020603050405020304" pitchFamily="18" charset="0"/>
                <a:ea typeface="SimSun" panose="02010600030101010101" pitchFamily="2" charset="-122"/>
              </a:rPr>
              <a:t>combinée aux effets du changement climatique, laisse présager une aggravation de ces phénomènes dans les prochaines décennies. Les projections climatiques pour l’Afriques de l’Ouest indiquent en effet une intensification des évènements extrêmes, ce qui pourrait augmenter le risque d’inondation. </a:t>
            </a:r>
            <a:r>
              <a:rPr kumimoji="0" lang="fr-FR" altLang="zh-CN" sz="12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Face à cette situation il devient indispensable de mener des études afin de mieux anticiper les risques et</a:t>
            </a:r>
            <a:r>
              <a:rPr kumimoji="0" lang="fr-FR" altLang="zh-CN" sz="1200" b="0" i="0" u="none" strike="noStrike" cap="none" normalizeH="0" baseline="0" dirty="0">
                <a:ln>
                  <a:noFill/>
                </a:ln>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 </a:t>
            </a:r>
            <a:r>
              <a:rPr kumimoji="0" lang="fr-FR" altLang="zh-CN" sz="12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d’aider les décideurs pour la planification des infrastructures de drainag</a:t>
            </a:r>
            <a:r>
              <a:rPr kumimoji="0" lang="fr-FR" altLang="zh-CN" sz="1200" b="0" i="0" u="none" strike="noStrike" cap="none" normalizeH="0" baseline="0" dirty="0">
                <a:ln>
                  <a:noFill/>
                </a:ln>
                <a:effectLst/>
                <a:latin typeface="Times New Roman" panose="02020603050405020304" pitchFamily="18" charset="0"/>
                <a:ea typeface="SimSun" panose="02010600030101010101" pitchFamily="2" charset="-122"/>
                <a:cs typeface="Times New Roman" panose="02020603050405020304" pitchFamily="18" charset="0"/>
              </a:rPr>
              <a:t>es dans les villes comme Cotonou</a:t>
            </a:r>
            <a:r>
              <a:rPr kumimoji="0" lang="fr-FR" altLang="zh-CN" sz="800" b="0" i="0" u="none" strike="noStrike" cap="none" normalizeH="0" baseline="0" dirty="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 C’est pourquoi cette étude se propose de réaliser </a:t>
            </a:r>
            <a:endParaRPr kumimoji="0" lang="fr-FR" altLang="zh-CN" sz="1050" b="0" i="0" u="none" strike="noStrike" cap="none" normalizeH="0" baseline="0" dirty="0">
              <a:ln>
                <a:noFill/>
              </a:ln>
              <a:solidFill>
                <a:schemeClr val="tx1"/>
              </a:solidFill>
              <a:effectLst/>
              <a:latin typeface="Arial" panose="020B060402020202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5</a:t>
            </a:fld>
            <a:endParaRPr lang="fr-FR" dirty="0"/>
          </a:p>
        </p:txBody>
      </p:sp>
    </p:spTree>
    <p:extLst>
      <p:ext uri="{BB962C8B-B14F-4D97-AF65-F5344CB8AC3E}">
        <p14:creationId xmlns:p14="http://schemas.microsoft.com/office/powerpoint/2010/main" val="131566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Spécifiquement, cela a consister à </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6</a:t>
            </a:fld>
            <a:endParaRPr lang="fr-FR" dirty="0"/>
          </a:p>
        </p:txBody>
      </p:sp>
    </p:spTree>
    <p:extLst>
      <p:ext uri="{BB962C8B-B14F-4D97-AF65-F5344CB8AC3E}">
        <p14:creationId xmlns:p14="http://schemas.microsoft.com/office/powerpoint/2010/main" val="3369154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2400" b="0" dirty="0">
                <a:latin typeface="+mn-lt"/>
              </a:rPr>
              <a:t>Excellence Monsieur le Président du Jury, honorables membres du jury, </a:t>
            </a:r>
          </a:p>
          <a:p>
            <a:r>
              <a:rPr lang="fr-FR" sz="2400" b="0" dirty="0">
                <a:latin typeface="+mn-lt"/>
              </a:rPr>
              <a:t>Nos travaux ont porté sur le bassin </a:t>
            </a:r>
            <a:r>
              <a:rPr lang="fr-FR" sz="2400" b="0" dirty="0" err="1">
                <a:latin typeface="+mn-lt"/>
              </a:rPr>
              <a:t>Qb</a:t>
            </a:r>
            <a:r>
              <a:rPr lang="fr-FR" sz="2400" b="0" dirty="0">
                <a:latin typeface="+mn-lt"/>
              </a:rPr>
              <a:t> situé dans la ville de Cotonou dans le sud Bénin. </a:t>
            </a:r>
          </a:p>
          <a:p>
            <a:r>
              <a:rPr lang="fr-FR" sz="2400" b="0" dirty="0">
                <a:latin typeface="+mn-lt"/>
              </a:rPr>
              <a:t>La ville s’étend sur une superficie de 79 km² située entre </a:t>
            </a:r>
          </a:p>
          <a:p>
            <a:r>
              <a:rPr lang="fr-FR" sz="2400" b="0" dirty="0">
                <a:latin typeface="+mn-lt"/>
              </a:rPr>
              <a:t>-les parallèles 6°19’ et 2°26’ de latitude Nord et</a:t>
            </a:r>
          </a:p>
          <a:p>
            <a:r>
              <a:rPr lang="fr-FR" sz="2400" b="0" dirty="0">
                <a:latin typeface="+mn-lt"/>
              </a:rPr>
              <a:t>-les méridiens 2°20’ et 2°29’ de longitude Est</a:t>
            </a:r>
          </a:p>
          <a:p>
            <a:r>
              <a:rPr lang="fr-FR" sz="2400" b="0" dirty="0">
                <a:latin typeface="+mn-lt"/>
              </a:rPr>
              <a:t>Elle est soumise à un climat tropical humide avec une pluviométrie moyenne annuelle de 1328 mm par an sur la période de 1993 à 2023 et est caractérisé par un relief plat.</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7</a:t>
            </a:fld>
            <a:endParaRPr lang="fr-FR" dirty="0"/>
          </a:p>
        </p:txBody>
      </p:sp>
    </p:spTree>
    <p:extLst>
      <p:ext uri="{BB962C8B-B14F-4D97-AF65-F5344CB8AC3E}">
        <p14:creationId xmlns:p14="http://schemas.microsoft.com/office/powerpoint/2010/main" val="1801751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Deux types de données ont été utilisées pour cette étude :</a:t>
            </a:r>
          </a:p>
          <a:p>
            <a:pPr marL="171450" indent="-171450">
              <a:buFontTx/>
              <a:buChar char="-"/>
            </a:pPr>
            <a:r>
              <a:rPr lang="fr-FR" dirty="0"/>
              <a:t>Les données climatiques telles que les précipitations journalières et </a:t>
            </a:r>
            <a:r>
              <a:rPr lang="fr-FR" sz="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les températures </a:t>
            </a:r>
            <a:r>
              <a:rPr lang="fr-FR" sz="1200" dirty="0">
                <a:solidFill>
                  <a:schemeClr val="tx1"/>
                </a:solidFill>
                <a:latin typeface="Times New Roman" panose="02020603050405020304" pitchFamily="18" charset="0"/>
                <a:cs typeface="Times New Roman" panose="02020603050405020304" pitchFamily="18" charset="0"/>
              </a:rPr>
              <a:t>maximales et minimales journalières </a:t>
            </a:r>
            <a:r>
              <a:rPr lang="fr-FR" dirty="0"/>
              <a:t> </a:t>
            </a:r>
            <a:r>
              <a:rPr lang="fr-FR" sz="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de la station synoptique de l’Aéroport de Cotonou sur la période 1993 à 2023)</a:t>
            </a:r>
          </a:p>
          <a:p>
            <a:pPr marL="171450" indent="-171450">
              <a:buFontTx/>
              <a:buChar char="-"/>
            </a:pPr>
            <a:r>
              <a:rPr lang="fr-FR" sz="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Les données cartographiques telles que les données géographiques issues du fond topographique IGN, le MNT </a:t>
            </a:r>
            <a:r>
              <a:rPr lang="fr-FR" sz="1200" dirty="0" err="1">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Copernicus</a:t>
            </a:r>
            <a:r>
              <a:rPr lang="fr-FR" sz="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DEM 30 m et la carte d’occupation du sol </a:t>
            </a:r>
            <a:r>
              <a:rPr lang="fr-FR" sz="1200" kern="100" dirty="0" err="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WorldCover</a:t>
            </a:r>
            <a:r>
              <a:rPr lang="fr-FR" sz="120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2021 de résolution 30m couvrant la ville de Cotonou</a:t>
            </a:r>
            <a:endParaRPr lang="fr-FR" sz="1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8</a:t>
            </a:fld>
            <a:endParaRPr lang="fr-FR" dirty="0"/>
          </a:p>
        </p:txBody>
      </p:sp>
    </p:spTree>
    <p:extLst>
      <p:ext uri="{BB962C8B-B14F-4D97-AF65-F5344CB8AC3E}">
        <p14:creationId xmlns:p14="http://schemas.microsoft.com/office/powerpoint/2010/main" val="299461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l"/>
            <a:r>
              <a:rPr lang="fr-FR" b="0" i="0" dirty="0">
                <a:effectLst/>
                <a:latin typeface="Söhne"/>
              </a:rPr>
              <a:t>Le matériel utilisé au cours de cette étude est composé des logiciels tels que </a:t>
            </a:r>
            <a:r>
              <a:rPr lang="fr-FR" b="0" i="0" dirty="0" err="1">
                <a:effectLst/>
                <a:latin typeface="Söhne"/>
              </a:rPr>
              <a:t>word</a:t>
            </a:r>
            <a:r>
              <a:rPr lang="fr-FR" b="0" i="0" dirty="0">
                <a:effectLst/>
                <a:latin typeface="Söhne"/>
              </a:rPr>
              <a:t> pour le traitement de texte, Excel pour le traitement des données climatiques, </a:t>
            </a:r>
            <a:r>
              <a:rPr lang="fr-FR" b="0" i="0" dirty="0" err="1">
                <a:effectLst/>
                <a:latin typeface="Söhne"/>
              </a:rPr>
              <a:t>Qgis</a:t>
            </a:r>
            <a:r>
              <a:rPr lang="fr-FR" b="0" i="0" dirty="0">
                <a:effectLst/>
                <a:latin typeface="Söhne"/>
              </a:rPr>
              <a:t> pour la réalisations des cartes, Global mapper pour la délimitation et la caractérisation du bassin  et </a:t>
            </a:r>
            <a:r>
              <a:rPr lang="fr-FR" b="0" i="0" dirty="0" err="1">
                <a:effectLst/>
                <a:latin typeface="Söhne"/>
              </a:rPr>
              <a:t>Hyfran</a:t>
            </a:r>
            <a:r>
              <a:rPr lang="fr-FR" b="0" i="0" dirty="0">
                <a:effectLst/>
                <a:latin typeface="Söhne"/>
              </a:rPr>
              <a:t> pour l’analyse fréquentielle.</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47046D70-1050-413E-A77C-5351FEEAD71C}" type="slidenum">
              <a:rPr kumimoji="0" lang="en-US" sz="1200" b="0" i="0" u="none" strike="noStrike" kern="0" cap="none" spc="0" normalizeH="0" baseline="0" noProof="0" smtClean="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lang="en-US" sz="12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37625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50000"/>
              </a:lnSpc>
            </a:pPr>
            <a:r>
              <a:rPr lang="fr-FR" dirty="0"/>
              <a:t>Excellence Monsieur le Président du jury, honorables membres du jury;  la délimitation et la caractérisation morphométrique du bassin ont été faite avec le logiciel Global mapper. Nous avons commencé par importer le Modèle Numérique </a:t>
            </a:r>
            <a:r>
              <a:rPr lang="fr-FR" dirty="0" err="1"/>
              <a:t>Copernicus</a:t>
            </a:r>
            <a:r>
              <a:rPr lang="fr-FR" dirty="0"/>
              <a:t> DEM de résolution 30m initialement traité et le point exutoire à partir de ses coordonnées géographiques. A ce point, nous avons ensuite appliquer l’outil </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Create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Watershed</a:t>
            </a:r>
            <a:r>
              <a:rPr lang="fr-FR" dirty="0">
                <a:latin typeface="Times New Roman" panose="02020603050405020304" pitchFamily="18" charset="0"/>
                <a:cs typeface="Times New Roman" panose="02020603050405020304" pitchFamily="18" charset="0"/>
              </a:rPr>
              <a:t>’’ paramétré pour délimiter automatiquement les bassins. La prochaine étape a été d’identifier le bassin et de déterminer automatiquement les paramètres caractéristiques de sa morphologie qui sont : la surface, le périmètre, la pente moyenne, l’altitude maxi et celle min. Les autres paramètres tels que la longueur du rectangle équivalent, l’indice de compacité et la densité spécifique ont été calculé à partir de ceux déterminer automatiquement.</a:t>
            </a:r>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10</a:t>
            </a:fld>
            <a:endParaRPr lang="fr-FR" dirty="0"/>
          </a:p>
        </p:txBody>
      </p:sp>
    </p:spTree>
    <p:extLst>
      <p:ext uri="{BB962C8B-B14F-4D97-AF65-F5344CB8AC3E}">
        <p14:creationId xmlns:p14="http://schemas.microsoft.com/office/powerpoint/2010/main" val="4109269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l’analyse fréquentielle des précipitations journalières, nous avons utilisé le logiciel </a:t>
            </a:r>
            <a:r>
              <a:rPr lang="fr-FR" dirty="0" err="1"/>
              <a:t>Hyfran</a:t>
            </a:r>
            <a:r>
              <a:rPr lang="fr-FR" dirty="0"/>
              <a:t> Plus et suivi la démarche suivante.</a:t>
            </a:r>
          </a:p>
          <a:p>
            <a:r>
              <a:rPr lang="fr-FR" dirty="0"/>
              <a:t>Nous avons d’abord constitué un fichier Excel comportant deux colonnes : les années et les valeurs maximales annuelles de précipitation.</a:t>
            </a:r>
          </a:p>
          <a:p>
            <a:r>
              <a:rPr lang="fr-FR" dirty="0"/>
              <a:t>Ensuite, nous avons vérifié les trois hypothèses fondamentales nécessaires à l’analyse fréquentielle, à savoir :</a:t>
            </a:r>
          </a:p>
          <a:p>
            <a:pPr>
              <a:buFont typeface="Arial" panose="020B0604020202020204" pitchFamily="34" charset="0"/>
              <a:buChar char="•"/>
            </a:pPr>
            <a:r>
              <a:rPr lang="fr-FR" dirty="0"/>
              <a:t>l’homogénéité,</a:t>
            </a:r>
          </a:p>
          <a:p>
            <a:pPr>
              <a:buFont typeface="Arial" panose="020B0604020202020204" pitchFamily="34" charset="0"/>
              <a:buChar char="•"/>
            </a:pPr>
            <a:r>
              <a:rPr lang="fr-FR" dirty="0"/>
              <a:t>l’indépendance,</a:t>
            </a:r>
          </a:p>
          <a:p>
            <a:pPr>
              <a:buFont typeface="Arial" panose="020B0604020202020204" pitchFamily="34" charset="0"/>
              <a:buChar char="•"/>
            </a:pPr>
            <a:r>
              <a:rPr lang="fr-FR" dirty="0"/>
              <a:t>et la stationnarité de la série.</a:t>
            </a:r>
            <a:br>
              <a:rPr lang="fr-FR" dirty="0"/>
            </a:br>
            <a:r>
              <a:rPr lang="fr-FR" dirty="0"/>
              <a:t>Ces tests d’hypothèse ont permis de confirmer la stabilité des données.</a:t>
            </a:r>
          </a:p>
          <a:p>
            <a:r>
              <a:rPr lang="fr-FR" dirty="0"/>
              <a:t>Nous avons ensuite procédé à l’ajustement de plusieurs lois de probabilité, notamment la loi de </a:t>
            </a:r>
            <a:r>
              <a:rPr lang="fr-FR" dirty="0" err="1"/>
              <a:t>Gumbel</a:t>
            </a:r>
            <a:r>
              <a:rPr lang="fr-FR" dirty="0"/>
              <a:t>, la loi GEV et la loi Normale (ou loi de Gauss). Ces lois ont été comparées afin d’identifier celle qui représente le mieux la variabilité des précipitations extrêmes.</a:t>
            </a:r>
          </a:p>
          <a:p>
            <a:r>
              <a:rPr lang="fr-FR" dirty="0"/>
              <a:t>Une fois la loi la plus performante retenue, nous avons calculé les quantiles associés aux différentes périodes de retour, ce qui nous a permis d’estimer.</a:t>
            </a:r>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12</a:t>
            </a:fld>
            <a:endParaRPr lang="fr-FR" dirty="0"/>
          </a:p>
        </p:txBody>
      </p:sp>
    </p:spTree>
    <p:extLst>
      <p:ext uri="{BB962C8B-B14F-4D97-AF65-F5344CB8AC3E}">
        <p14:creationId xmlns:p14="http://schemas.microsoft.com/office/powerpoint/2010/main" val="1724301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estimer le débit généré par le bassin versant, deux méthodes empiriques ont été utilisées : la méthode rationnelle et la méthode du CIEH.</a:t>
            </a:r>
          </a:p>
          <a:p>
            <a:r>
              <a:rPr lang="fr-FR" dirty="0"/>
              <a:t>La méthode rationnelle, très utilisée en milieu urbain et pour les petits bassins, repose sur la relation Q égale C fois I fois A. Elle permet une estimation simple et rapide du débit de pointe.</a:t>
            </a:r>
          </a:p>
          <a:p>
            <a:r>
              <a:rPr lang="fr-FR" dirty="0"/>
              <a:t>La méthode du CIEH est quant à elle une méthode régionale, développée pour les bassins d’Afrique de l’Ouest. Elle prend en compte les caractéristiques morphométriques et climatiques du bassin, telles que la superficie, la pente globale et la pluie moyenne annuelle. </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13</a:t>
            </a:fld>
            <a:endParaRPr lang="fr-FR" dirty="0"/>
          </a:p>
        </p:txBody>
      </p:sp>
    </p:spTree>
    <p:extLst>
      <p:ext uri="{BB962C8B-B14F-4D97-AF65-F5344CB8AC3E}">
        <p14:creationId xmlns:p14="http://schemas.microsoft.com/office/powerpoint/2010/main" val="2431550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Excellence Monsieur le Président, Honorables membres du jury,</a:t>
            </a:r>
            <a:endParaRPr lang="fr-FR" dirty="0"/>
          </a:p>
          <a:p>
            <a:r>
              <a:rPr lang="fr-FR" dirty="0"/>
              <a:t>La délimitation réalisée à partir du MNT a révélé que le bassin </a:t>
            </a:r>
            <a:r>
              <a:rPr lang="fr-FR" b="1" dirty="0" err="1"/>
              <a:t>Qb</a:t>
            </a:r>
            <a:r>
              <a:rPr lang="fr-FR" b="1" dirty="0"/>
              <a:t> constitue une portion d’un bassin plus vaste</a:t>
            </a:r>
            <a:r>
              <a:rPr lang="fr-FR" dirty="0"/>
              <a:t>, que nous avons noté </a:t>
            </a:r>
            <a:r>
              <a:rPr lang="fr-FR" b="1" dirty="0"/>
              <a:t>Q’</a:t>
            </a:r>
            <a:r>
              <a:rPr lang="fr-FR" dirty="0"/>
              <a:t>, et avec lequel il partage le même exutoire.</a:t>
            </a:r>
          </a:p>
          <a:p>
            <a:r>
              <a:rPr lang="fr-FR" dirty="0"/>
              <a:t>Le bassin </a:t>
            </a:r>
            <a:r>
              <a:rPr lang="fr-FR" b="1" dirty="0" err="1"/>
              <a:t>Qb</a:t>
            </a:r>
            <a:r>
              <a:rPr lang="fr-FR" dirty="0"/>
              <a:t> présente une superficie de </a:t>
            </a:r>
            <a:r>
              <a:rPr lang="fr-FR" b="1" dirty="0"/>
              <a:t>0,68 km²</a:t>
            </a:r>
            <a:r>
              <a:rPr lang="fr-FR" dirty="0"/>
              <a:t> pour un périmètre de </a:t>
            </a:r>
            <a:r>
              <a:rPr lang="fr-FR" b="1" dirty="0"/>
              <a:t>5,22 km</a:t>
            </a:r>
            <a:r>
              <a:rPr lang="fr-FR" dirty="0"/>
              <a:t>.</a:t>
            </a:r>
            <a:br>
              <a:rPr lang="fr-FR" dirty="0"/>
            </a:br>
            <a:r>
              <a:rPr lang="fr-FR" dirty="0"/>
              <a:t>En revanche, le bassin contributif réel </a:t>
            </a:r>
            <a:r>
              <a:rPr lang="fr-FR" b="1" dirty="0"/>
              <a:t>Q’</a:t>
            </a:r>
            <a:r>
              <a:rPr lang="fr-FR" dirty="0"/>
              <a:t> couvre une superficie beaucoup plus importante, de </a:t>
            </a:r>
            <a:r>
              <a:rPr lang="fr-FR" b="1" dirty="0"/>
              <a:t>3,792 km²</a:t>
            </a:r>
            <a:r>
              <a:rPr lang="fr-FR" dirty="0"/>
              <a:t>, avec un périmètre de </a:t>
            </a:r>
            <a:r>
              <a:rPr lang="fr-FR" b="1" dirty="0"/>
              <a:t>20,218 km</a:t>
            </a:r>
            <a:r>
              <a:rPr lang="fr-FR" dirty="0"/>
              <a:t>.</a:t>
            </a:r>
          </a:p>
          <a:p>
            <a:r>
              <a:rPr lang="fr-FR" dirty="0"/>
              <a:t>Ce résultat met en évidence que les écoulements drainés vers l’exutoire ne proviennent pas uniquement du bassin </a:t>
            </a:r>
            <a:r>
              <a:rPr lang="fr-FR" dirty="0" err="1"/>
              <a:t>Qb</a:t>
            </a:r>
            <a:r>
              <a:rPr lang="fr-FR" dirty="0"/>
              <a:t> initialement considéré, mais d’un bassin contributif plus large, ce qui a une influence directe sur l’estimation des débits de ruissellement.</a:t>
            </a:r>
          </a:p>
          <a:p>
            <a:r>
              <a:rPr lang="fr-FR" b="1" dirty="0"/>
              <a:t>Néanmoins, ce résultat est cohérent avec ceux obtenu dans le PAPC car la partie du bassin Q’ différente du bassin </a:t>
            </a:r>
            <a:r>
              <a:rPr lang="fr-FR" b="1" dirty="0" err="1"/>
              <a:t>Qb</a:t>
            </a:r>
            <a:r>
              <a:rPr lang="fr-FR" b="1" dirty="0"/>
              <a:t> est déjà drainé par diverses ouvrages de drainages. </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14</a:t>
            </a:fld>
            <a:endParaRPr lang="fr-FR" dirty="0"/>
          </a:p>
        </p:txBody>
      </p:sp>
    </p:spTree>
    <p:extLst>
      <p:ext uri="{BB962C8B-B14F-4D97-AF65-F5344CB8AC3E}">
        <p14:creationId xmlns:p14="http://schemas.microsoft.com/office/powerpoint/2010/main" val="10659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tableau présenté compare les principales caractéristiques physiographiques du bassin </a:t>
            </a:r>
            <a:r>
              <a:rPr lang="fr-FR" b="1" dirty="0" err="1"/>
              <a:t>Qb</a:t>
            </a:r>
            <a:r>
              <a:rPr lang="fr-FR" dirty="0"/>
              <a:t> et du bassin contributif réel </a:t>
            </a:r>
            <a:r>
              <a:rPr lang="fr-FR" b="1" dirty="0"/>
              <a:t>Q’</a:t>
            </a:r>
            <a:r>
              <a:rPr lang="fr-FR" dirty="0"/>
              <a:t>.</a:t>
            </a:r>
          </a:p>
          <a:p>
            <a:r>
              <a:rPr lang="fr-FR" dirty="0"/>
              <a:t>Tout d’abord, on observe que les </a:t>
            </a:r>
            <a:r>
              <a:rPr lang="fr-FR" b="1" dirty="0"/>
              <a:t>pentes moyennes</a:t>
            </a:r>
            <a:r>
              <a:rPr lang="fr-FR" dirty="0"/>
              <a:t> restent faibles pour les deux bassins, avec </a:t>
            </a:r>
            <a:r>
              <a:rPr lang="fr-FR" b="1" dirty="0"/>
              <a:t>2,11 % pour </a:t>
            </a:r>
            <a:r>
              <a:rPr lang="fr-FR" b="1" dirty="0" err="1"/>
              <a:t>Qb</a:t>
            </a:r>
            <a:r>
              <a:rPr lang="fr-FR" dirty="0"/>
              <a:t> et </a:t>
            </a:r>
            <a:r>
              <a:rPr lang="fr-FR" b="1" dirty="0"/>
              <a:t>2,84 % pour Q’</a:t>
            </a:r>
            <a:r>
              <a:rPr lang="fr-FR" dirty="0"/>
              <a:t>, ce qui traduit des bassins de pente </a:t>
            </a:r>
            <a:r>
              <a:rPr lang="fr-FR" b="1" dirty="0"/>
              <a:t>faiblement inclinés</a:t>
            </a:r>
            <a:r>
              <a:rPr lang="fr-FR" dirty="0"/>
              <a:t>. Cette faible pente favorise un écoulement lent et une accumulation des eaux en période de fortes pluies.</a:t>
            </a:r>
          </a:p>
          <a:p>
            <a:r>
              <a:rPr lang="fr-FR" dirty="0"/>
              <a:t>Ensuite, l’</a:t>
            </a:r>
            <a:r>
              <a:rPr lang="fr-FR" b="1" dirty="0"/>
              <a:t>indice de compacité</a:t>
            </a:r>
            <a:r>
              <a:rPr lang="fr-FR" dirty="0"/>
              <a:t> est supérieur à 1 pour les deux bassins, avec </a:t>
            </a:r>
            <a:r>
              <a:rPr lang="fr-FR" b="1" dirty="0"/>
              <a:t>1,784 pour </a:t>
            </a:r>
            <a:r>
              <a:rPr lang="fr-FR" b="1" dirty="0" err="1"/>
              <a:t>Qb</a:t>
            </a:r>
            <a:r>
              <a:rPr lang="fr-FR" dirty="0"/>
              <a:t> et </a:t>
            </a:r>
            <a:r>
              <a:rPr lang="fr-FR" b="1" dirty="0"/>
              <a:t>2,928 pour Q’</a:t>
            </a:r>
            <a:r>
              <a:rPr lang="fr-FR" dirty="0"/>
              <a:t>, ce qui indique des bassins à </a:t>
            </a:r>
            <a:r>
              <a:rPr lang="fr-FR" b="1" dirty="0"/>
              <a:t>forme allongée</a:t>
            </a:r>
            <a:r>
              <a:rPr lang="fr-FR" dirty="0"/>
              <a:t>. Ce type de forme a généralement pour effet d’étaler les écoulements dans le temps, mais peut néanmoins générer des volumes importants de ruissellement en milieu urbain.</a:t>
            </a:r>
          </a:p>
          <a:p>
            <a:r>
              <a:rPr lang="fr-FR" dirty="0"/>
              <a:t>Enfin, l’</a:t>
            </a:r>
            <a:r>
              <a:rPr lang="fr-FR" b="1" dirty="0"/>
              <a:t>indice global de pente</a:t>
            </a:r>
            <a:r>
              <a:rPr lang="fr-FR" dirty="0"/>
              <a:t>, exprimé en m/km, est faible pour les deux bassins, notamment </a:t>
            </a:r>
            <a:r>
              <a:rPr lang="fr-FR" b="1" dirty="0"/>
              <a:t>1,459 m/km pour </a:t>
            </a:r>
            <a:r>
              <a:rPr lang="fr-FR" b="1" dirty="0" err="1"/>
              <a:t>Qb</a:t>
            </a:r>
            <a:r>
              <a:rPr lang="fr-FR" dirty="0"/>
              <a:t> et </a:t>
            </a:r>
            <a:r>
              <a:rPr lang="fr-FR" b="1" dirty="0"/>
              <a:t>0,653 m/km pour Q’</a:t>
            </a:r>
            <a:r>
              <a:rPr lang="fr-FR" dirty="0"/>
              <a:t>, traduisant un </a:t>
            </a:r>
            <a:r>
              <a:rPr lang="fr-FR" b="1" dirty="0"/>
              <a:t>relief très peu marqué</a:t>
            </a:r>
            <a:r>
              <a:rPr lang="fr-FR" dirty="0"/>
              <a:t>.</a:t>
            </a:r>
          </a:p>
          <a:p>
            <a:r>
              <a:rPr lang="fr-FR" dirty="0"/>
              <a:t>Dans l’ensemble, ces résultats montrent que le bassin étudié se caractérise par un </a:t>
            </a:r>
            <a:r>
              <a:rPr lang="fr-FR" b="1" dirty="0"/>
              <a:t>relief très faible, une pente modérée et une forme allongée</a:t>
            </a:r>
            <a:r>
              <a:rPr lang="fr-FR" dirty="0"/>
              <a:t>, des conditions qui, combinées à l’imperméabilisation urbaine, contribuent à accentuer le risque d’inondation par ruissellement pluvial.</a:t>
            </a:r>
          </a:p>
          <a:p>
            <a:r>
              <a:rPr lang="fr-FR" dirty="0"/>
              <a:t>.</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15</a:t>
            </a:fld>
            <a:endParaRPr lang="fr-FR" dirty="0"/>
          </a:p>
        </p:txBody>
      </p:sp>
    </p:spTree>
    <p:extLst>
      <p:ext uri="{BB962C8B-B14F-4D97-AF65-F5344CB8AC3E}">
        <p14:creationId xmlns:p14="http://schemas.microsoft.com/office/powerpoint/2010/main" val="927200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Abordons à présent les résultats de l’analyse fréquentielle. Premièrement, les test d’hypothèses appliquées à la série révèlent qu’elle est stationnaire, homogène et indépendante, ce qui révèle sa stabilité</a:t>
            </a:r>
            <a:r>
              <a:rPr lang="fr-FR"/>
              <a:t>. Les </a:t>
            </a:r>
            <a:r>
              <a:rPr lang="fr-FR" dirty="0" err="1"/>
              <a:t>résultas</a:t>
            </a:r>
            <a:r>
              <a:rPr lang="fr-FR" dirty="0"/>
              <a:t> de la comparaison aux critères d’information montrent que la loi de </a:t>
            </a:r>
            <a:r>
              <a:rPr lang="fr-FR" dirty="0" err="1"/>
              <a:t>Gumbel</a:t>
            </a:r>
            <a:r>
              <a:rPr lang="fr-FR" dirty="0"/>
              <a:t> est celle qui présente les valeurs les plus faibles de ses paramètres. On conclut donc qu’elle est la meilleure loi d’ajustement </a:t>
            </a:r>
            <a:r>
              <a:rPr lang="fr-FR" dirty="0" err="1"/>
              <a:t>parmie</a:t>
            </a:r>
            <a:r>
              <a:rPr lang="fr-FR" dirty="0"/>
              <a:t> celles appliquée</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16</a:t>
            </a:fld>
            <a:endParaRPr lang="fr-FR" dirty="0"/>
          </a:p>
        </p:txBody>
      </p:sp>
    </p:spTree>
    <p:extLst>
      <p:ext uri="{BB962C8B-B14F-4D97-AF65-F5344CB8AC3E}">
        <p14:creationId xmlns:p14="http://schemas.microsoft.com/office/powerpoint/2010/main" val="1858916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kern="100" dirty="0">
                <a:effectLst/>
                <a:latin typeface="Calibri" panose="020F0502020204030204" pitchFamily="34" charset="0"/>
                <a:ea typeface="SimSun" panose="02010600030101010101" pitchFamily="2" charset="-122"/>
                <a:cs typeface="Times New Roman" panose="02020603050405020304" pitchFamily="18" charset="0"/>
              </a:rPr>
              <a:t>L’ajustement de la loi de </a:t>
            </a:r>
            <a:r>
              <a:rPr lang="fr-FR" sz="1800" kern="100" dirty="0" err="1">
                <a:effectLst/>
                <a:latin typeface="Calibri" panose="020F0502020204030204" pitchFamily="34" charset="0"/>
                <a:ea typeface="SimSun" panose="02010600030101010101" pitchFamily="2" charset="-122"/>
                <a:cs typeface="Times New Roman" panose="02020603050405020304" pitchFamily="18" charset="0"/>
              </a:rPr>
              <a:t>Gumbel</a:t>
            </a:r>
            <a:r>
              <a:rPr lang="fr-FR" sz="1800" kern="100" dirty="0">
                <a:effectLst/>
                <a:latin typeface="Calibri" panose="020F0502020204030204" pitchFamily="34" charset="0"/>
                <a:ea typeface="SimSun" panose="02010600030101010101" pitchFamily="2" charset="-122"/>
                <a:cs typeface="Times New Roman" panose="02020603050405020304" pitchFamily="18" charset="0"/>
              </a:rPr>
              <a:t> à la série des maxima</a:t>
            </a:r>
            <a:r>
              <a:rPr lang="fr-FR" sz="1800" strike="sngStrike" kern="1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s</a:t>
            </a:r>
            <a:r>
              <a:rPr lang="fr-FR" sz="1800" kern="100" dirty="0">
                <a:effectLst/>
                <a:latin typeface="Calibri" panose="020F0502020204030204" pitchFamily="34" charset="0"/>
                <a:ea typeface="SimSun" panose="02010600030101010101" pitchFamily="2" charset="-122"/>
                <a:cs typeface="Times New Roman" panose="02020603050405020304" pitchFamily="18" charset="0"/>
              </a:rPr>
              <a:t> des précipitations journalières de Cotonou révèle une augmentation régulière des quantiles de précipitation en fonction des périodes de retour, ce qui est conforme à la théorie des valeurs extrêmes. Aussi la pluie maximale qui a une chance sur 10 de se produire tout les 10 ans est de 150 mm </a:t>
            </a:r>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17</a:t>
            </a:fld>
            <a:endParaRPr lang="fr-FR" dirty="0"/>
          </a:p>
        </p:txBody>
      </p:sp>
    </p:spTree>
    <p:extLst>
      <p:ext uri="{BB962C8B-B14F-4D97-AF65-F5344CB8AC3E}">
        <p14:creationId xmlns:p14="http://schemas.microsoft.com/office/powerpoint/2010/main" val="705293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tableaux présentent respectivement les résultats de l’estimation du débit généré par la méthode rationnelle et la méthode du CIEH. </a:t>
            </a:r>
          </a:p>
          <a:p>
            <a:r>
              <a:rPr lang="fr-FR" dirty="0"/>
              <a:t>D’après ces deux tableaux, pour le bassin </a:t>
            </a:r>
            <a:r>
              <a:rPr lang="fr-FR" dirty="0" err="1"/>
              <a:t>Qb</a:t>
            </a:r>
            <a:r>
              <a:rPr lang="fr-FR" dirty="0"/>
              <a:t>, </a:t>
            </a:r>
            <a:r>
              <a:rPr lang="fr-FR" sz="1800" kern="100" dirty="0">
                <a:effectLst/>
                <a:latin typeface="Calibri" panose="020F0502020204030204" pitchFamily="34" charset="0"/>
                <a:ea typeface="SimSun" panose="02010600030101010101" pitchFamily="2" charset="-122"/>
                <a:cs typeface="Times New Roman" panose="02020603050405020304" pitchFamily="18" charset="0"/>
              </a:rPr>
              <a:t>la méthode rationnelle aboutit à un débit décennal de 0,784 m³/s, tandis que la méthode du CIEH donne une valeur légèrement supérieure de 0,938 m³/s. Ces valeurs proches l’une de l’autre traduisent la cohérence interne des paramètres utilisées. A l’inverse, le PAPC indique une valeur largement supérieure qui est de 5,7 m³/s. Cet écart pourrait s’expliquer par une différenciation de la méthode utilisée : le PAPC utilise les intensités issues des anciennes courbes IDF de Cotonou tandis que notre étude s’appuie sur des quantiles calculés directement à partir des données pluviométriques récentes, reflétant davantage les conditions hydrologiques actuelles.</a:t>
            </a:r>
          </a:p>
          <a:p>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SimSun" panose="02010600030101010101" pitchFamily="2" charset="-122"/>
              </a:rPr>
              <a:t>Pour le bassin Q’, les écarts entre méthodes sont également notables. La méthode rationnelle produit une valeur de 4,542 m³/s, sensiblement plus élevée que celle obtenue avec la méthode du CIEH (1,921 m³/s). Cette différence s’explique par le fait que la méthode rationnelle, basée sur une formulation simple et très sensible à l’intensité de pluie et au coefficient de ruissellement, tend à surestimer les débits dans les environnements à faible pente. À l’inverse, la méthode du CIEH intègre explicitement certaines caractéristiques morphologiques du bassin (pente faible, forme allongée), ce qui conduit à des débits plus réalistes.</a:t>
            </a:r>
          </a:p>
          <a:p>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18</a:t>
            </a:fld>
            <a:endParaRPr lang="fr-FR" dirty="0"/>
          </a:p>
        </p:txBody>
      </p:sp>
    </p:spTree>
    <p:extLst>
      <p:ext uri="{BB962C8B-B14F-4D97-AF65-F5344CB8AC3E}">
        <p14:creationId xmlns:p14="http://schemas.microsoft.com/office/powerpoint/2010/main" val="1119128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800"/>
              </a:spcAft>
              <a:buFont typeface="Wingdings" panose="05000000000000000000" pitchFamily="2" charset="2"/>
              <a:buChar char="Ø"/>
            </a:pPr>
            <a:r>
              <a:rPr lang="fr-FR" dirty="0"/>
              <a:t>Excellence Monsieur le </a:t>
            </a:r>
            <a:r>
              <a:rPr lang="fr-FR" dirty="0" err="1"/>
              <a:t>PrésidentA</a:t>
            </a:r>
            <a:r>
              <a:rPr lang="fr-FR" dirty="0"/>
              <a:t> l’issue de cette étude, nous pouvons </a:t>
            </a:r>
            <a:r>
              <a:rPr lang="fr-FR" dirty="0" err="1"/>
              <a:t>reteni</a:t>
            </a:r>
            <a:endParaRPr lang="fr-FR" dirty="0"/>
          </a:p>
          <a:p>
            <a:pPr algn="just">
              <a:lnSpc>
                <a:spcPct val="150000"/>
              </a:lnSpc>
              <a:spcAft>
                <a:spcPts val="800"/>
              </a:spcAft>
              <a:buFont typeface="Wingdings" panose="05000000000000000000" pitchFamily="2" charset="2"/>
              <a:buChar char="Ø"/>
            </a:pPr>
            <a:endParaRPr lang="fr-FR" sz="12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fr-FR" sz="1200" dirty="0">
                <a:latin typeface="Times New Roman" panose="02020603050405020304" pitchFamily="18" charset="0"/>
                <a:ea typeface="Calibri" panose="020F0502020204030204" pitchFamily="34" charset="0"/>
                <a:cs typeface="Times New Roman" panose="02020603050405020304" pitchFamily="18" charset="0"/>
              </a:rPr>
              <a:t>La délimitation du bassin a permis révéler un bassin contributif de superficie </a:t>
            </a:r>
            <a:r>
              <a:rPr lang="fr-FR" sz="1100" dirty="0">
                <a:solidFill>
                  <a:srgbClr val="000000"/>
                </a:solidFill>
                <a:effectLst/>
                <a:latin typeface="Times New Roman" panose="02020603050405020304" pitchFamily="18" charset="0"/>
                <a:ea typeface="Times New Roman" panose="02020603050405020304" pitchFamily="18" charset="0"/>
              </a:rPr>
              <a:t>3,792 km² </a:t>
            </a:r>
            <a:r>
              <a:rPr lang="fr-FR" sz="1200" dirty="0">
                <a:solidFill>
                  <a:srgbClr val="000000"/>
                </a:solidFill>
                <a:effectLst/>
                <a:latin typeface="Times New Roman" panose="02020603050405020304" pitchFamily="18" charset="0"/>
                <a:ea typeface="Times New Roman" panose="02020603050405020304" pitchFamily="18" charset="0"/>
              </a:rPr>
              <a:t>plus vaste que le bassin considérer dans le PAPC.</a:t>
            </a:r>
            <a:endParaRPr lang="fr-FR" sz="1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fr-FR" sz="1200" dirty="0">
                <a:latin typeface="Times New Roman" panose="02020603050405020304" pitchFamily="18" charset="0"/>
                <a:ea typeface="Calibri" panose="020F0502020204030204" pitchFamily="34" charset="0"/>
                <a:cs typeface="Times New Roman" panose="02020603050405020304" pitchFamily="18" charset="0"/>
              </a:rPr>
              <a:t>La pluie qui a statistiquement une chance sur dix de se produire chaque dix ans est de 150 </a:t>
            </a:r>
            <a:r>
              <a:rPr lang="fr-FR" sz="1200" dirty="0" err="1">
                <a:latin typeface="Times New Roman" panose="02020603050405020304" pitchFamily="18" charset="0"/>
                <a:ea typeface="Calibri" panose="020F0502020204030204" pitchFamily="34" charset="0"/>
                <a:cs typeface="Times New Roman" panose="02020603050405020304" pitchFamily="18" charset="0"/>
              </a:rPr>
              <a:t>mm.</a:t>
            </a:r>
            <a:r>
              <a:rPr lang="fr-FR" sz="1200" dirty="0">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spcAft>
                <a:spcPts val="800"/>
              </a:spcAft>
              <a:buFont typeface="Wingdings" panose="05000000000000000000" pitchFamily="2" charset="2"/>
              <a:buChar char="Ø"/>
            </a:pPr>
            <a:r>
              <a:rPr lang="fr-FR" sz="1200" dirty="0">
                <a:latin typeface="Times New Roman" panose="02020603050405020304" pitchFamily="18" charset="0"/>
                <a:ea typeface="Calibri" panose="020F0502020204030204" pitchFamily="34" charset="0"/>
                <a:cs typeface="Times New Roman" panose="02020603050405020304" pitchFamily="18" charset="0"/>
              </a:rPr>
              <a:t>Les estimations hydrologiques (débits de crue) qui ont été faites par la méthode de CIEH ont mis en exergue le fonctionnement et le comportement hydrologique du bassin </a:t>
            </a:r>
            <a:r>
              <a:rPr lang="fr-FR" sz="1200" dirty="0" err="1">
                <a:latin typeface="Times New Roman" panose="02020603050405020304" pitchFamily="18" charset="0"/>
                <a:ea typeface="Calibri" panose="020F0502020204030204" pitchFamily="34" charset="0"/>
                <a:cs typeface="Times New Roman" panose="02020603050405020304" pitchFamily="18" charset="0"/>
              </a:rPr>
              <a:t>Qb</a:t>
            </a:r>
            <a:r>
              <a:rPr lang="fr-FR" sz="1200"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buFont typeface="Wingdings" panose="05000000000000000000" pitchFamily="2" charset="2"/>
              <a:buChar char="Ø"/>
            </a:pPr>
            <a:r>
              <a:rPr lang="fr-FR" sz="1200" dirty="0">
                <a:latin typeface="Times New Roman" panose="02020603050405020304" pitchFamily="18" charset="0"/>
                <a:ea typeface="Calibri" panose="020F0502020204030204" pitchFamily="34" charset="0"/>
                <a:cs typeface="Times New Roman" panose="02020603050405020304" pitchFamily="18" charset="0"/>
              </a:rPr>
              <a:t>Ces estimations ont un impact significatif et jouent également un rôle crucial dans la prévention et l’atténuation des risques d’inondation, la conception des infrastructures de protection contre les inondations (digue, barrage, bassin de rétention d’eau) en fonction du niveau de risque.</a:t>
            </a:r>
            <a:endParaRPr lang="fr-FR" sz="12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fr-FR" dirty="0"/>
              <a:t>r que </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19</a:t>
            </a:fld>
            <a:endParaRPr lang="fr-FR" dirty="0"/>
          </a:p>
        </p:txBody>
      </p:sp>
    </p:spTree>
    <p:extLst>
      <p:ext uri="{BB962C8B-B14F-4D97-AF65-F5344CB8AC3E}">
        <p14:creationId xmlns:p14="http://schemas.microsoft.com/office/powerpoint/2010/main" val="1146412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800"/>
              </a:spcAft>
              <a:buFont typeface="Wingdings" panose="05000000000000000000" pitchFamily="2" charset="2"/>
              <a:buNone/>
            </a:pPr>
            <a:r>
              <a:rPr lang="fr-FR" dirty="0"/>
              <a:t>S’il nous ait permis d’approfondir cette étude, nous allons : </a:t>
            </a:r>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20</a:t>
            </a:fld>
            <a:endParaRPr lang="fr-FR" dirty="0"/>
          </a:p>
        </p:txBody>
      </p:sp>
    </p:spTree>
    <p:extLst>
      <p:ext uri="{BB962C8B-B14F-4D97-AF65-F5344CB8AC3E}">
        <p14:creationId xmlns:p14="http://schemas.microsoft.com/office/powerpoint/2010/main" val="3736941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fr-FR" dirty="0"/>
              <a:t>Honorables membres du Jury , Excellence M. le Pr du Jury : </a:t>
            </a:r>
          </a:p>
          <a:p>
            <a:pPr marL="0" marR="0" indent="0" algn="just" defTabSz="914400" rtl="0" eaLnBrk="1" fontAlgn="auto" latinLnBrk="0" hangingPunct="1">
              <a:lnSpc>
                <a:spcPct val="100000"/>
              </a:lnSpc>
              <a:spcBef>
                <a:spcPts val="0"/>
              </a:spcBef>
              <a:spcAft>
                <a:spcPts val="0"/>
              </a:spcAft>
              <a:buClrTx/>
              <a:buSzTx/>
              <a:buFontTx/>
              <a:buNone/>
              <a:tabLst/>
              <a:defRPr/>
            </a:pPr>
            <a:r>
              <a:rPr lang="fr-FR" sz="1200" b="0" dirty="0"/>
              <a:t>Nous voici au</a:t>
            </a:r>
            <a:r>
              <a:rPr lang="fr-FR" sz="1200" b="0" baseline="0" dirty="0"/>
              <a:t> terme de notre présentation vos questions, apports et suggestions sont les bienvenus pour améliorer ce travail scientifique. Merci de votre aimable attention</a:t>
            </a:r>
            <a:endParaRPr lang="fr-FR" dirty="0"/>
          </a:p>
        </p:txBody>
      </p:sp>
      <p:sp>
        <p:nvSpPr>
          <p:cNvPr id="4" name="Espace réservé du numéro de diapositive 3"/>
          <p:cNvSpPr>
            <a:spLocks noGrp="1"/>
          </p:cNvSpPr>
          <p:nvPr>
            <p:ph type="sldNum" sz="quarter" idx="5"/>
          </p:nvPr>
        </p:nvSpPr>
        <p:spPr/>
        <p:txBody>
          <a:bodyPr/>
          <a:lstStyle/>
          <a:p>
            <a:fld id="{0B65106E-0D85-4682-A296-B6C7F5A09409}" type="slidenum">
              <a:rPr lang="fr-FR" smtClean="0"/>
              <a:t>21</a:t>
            </a:fld>
            <a:endParaRPr lang="fr-FR" dirty="0"/>
          </a:p>
        </p:txBody>
      </p:sp>
    </p:spTree>
    <p:extLst>
      <p:ext uri="{BB962C8B-B14F-4D97-AF65-F5344CB8AC3E}">
        <p14:creationId xmlns:p14="http://schemas.microsoft.com/office/powerpoint/2010/main" val="2074318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F1B9A6-F0CB-4A03-B9E0-4B024EEAF22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1F75E43-931A-41F9-B452-3D9586FF76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A511644-D2E8-465F-9682-421D15C36506}"/>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D9292850-EED3-44CA-BCB4-2A5A26077B8E}"/>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AC0575F2-B58C-497E-A793-B922F56C4438}"/>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3693748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C820B7-17B8-4B5A-A6B4-54B8A2A4EDE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21140A7-BAF5-4802-93A5-B0380F17477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5092CC-8937-4C33-9C74-14E4B86F87E2}"/>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E7ABC20E-55E2-4A48-A130-7DBBFE1E6087}"/>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EEBB0CAF-C5A4-40BC-813B-69DB75151058}"/>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52028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00080A-D4B2-47FB-8BAE-561F78B08C9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8BF9531-FBF8-4526-B47E-9E85AE5AD4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20CCC75-77A8-4BB9-8907-A95679B8CE48}"/>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24A03AC3-F046-49EB-82F6-70C1B499937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B8E9BA57-7939-4C69-B3A7-4BCD733EC30B}"/>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370601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18432F-E077-420C-B219-F368FDB207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E2AC84-E9B1-4153-B00C-0E83E720615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EFB9728-F9FA-49BF-8ADA-B66599D117B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0F9DE61-26CF-44F6-A32B-1F20979F8A85}"/>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6" name="Espace réservé du pied de page 5">
            <a:extLst>
              <a:ext uri="{FF2B5EF4-FFF2-40B4-BE49-F238E27FC236}">
                <a16:creationId xmlns:a16="http://schemas.microsoft.com/office/drawing/2014/main" id="{86C0F6CB-6961-4451-A787-D273238F72FE}"/>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CE8B1C0D-EF15-4239-B33A-C92A633E4943}"/>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483734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E1A2A2-D74D-416C-AEC1-3AC19AF299D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92C87B3-CE93-48E3-BC9F-6796F2692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EB0BA93-5D9B-4D85-B8AF-3F14156B526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4FD66C0-1385-4418-9DE6-AF9C41932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59560E1-F5CA-4051-9BE3-DE5301A308B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1C563F9-FD73-43D4-AF98-ECAE699C4148}"/>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8" name="Espace réservé du pied de page 7">
            <a:extLst>
              <a:ext uri="{FF2B5EF4-FFF2-40B4-BE49-F238E27FC236}">
                <a16:creationId xmlns:a16="http://schemas.microsoft.com/office/drawing/2014/main" id="{43BC24C8-EB03-45AE-B455-219455EBDE80}"/>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28386F38-53F4-4981-8B14-0B98761F2BD8}"/>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267100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FC7CB-2254-4A15-8385-F44EFE9E01E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7AD0DA5-6539-4D17-B7F2-E952C7CDE2C5}"/>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4" name="Espace réservé du pied de page 3">
            <a:extLst>
              <a:ext uri="{FF2B5EF4-FFF2-40B4-BE49-F238E27FC236}">
                <a16:creationId xmlns:a16="http://schemas.microsoft.com/office/drawing/2014/main" id="{A9063B94-7B29-4FDA-A47A-2A68226E4EC9}"/>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AF6A357E-2C9B-4226-8923-C72EC568F944}"/>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2032960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53BE41C-E912-4364-A37E-5C8614772DA8}"/>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3" name="Espace réservé du pied de page 2">
            <a:extLst>
              <a:ext uri="{FF2B5EF4-FFF2-40B4-BE49-F238E27FC236}">
                <a16:creationId xmlns:a16="http://schemas.microsoft.com/office/drawing/2014/main" id="{67E790A2-F0C8-4113-8CD0-0F93DB915FBB}"/>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797C4D9-706B-433C-A131-6E17BE9A7997}"/>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2477260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DCAF24-7796-4D27-9E4B-BE4611964D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40DB034-8477-45C9-84BD-6F9FCE922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91DF315-BA54-4BC6-B9B2-16D601CB7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C12E266-5A89-4F68-9E62-1AA1733CB415}"/>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6" name="Espace réservé du pied de page 5">
            <a:extLst>
              <a:ext uri="{FF2B5EF4-FFF2-40B4-BE49-F238E27FC236}">
                <a16:creationId xmlns:a16="http://schemas.microsoft.com/office/drawing/2014/main" id="{22BCAA19-06CC-4F6C-895F-34538E66047C}"/>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1660B92A-3738-4E23-A3B7-A656C9E160DB}"/>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300252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A9483-2231-4967-BDED-396C532E116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849023-F210-4866-A248-C374F56C5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a:extLst>
              <a:ext uri="{FF2B5EF4-FFF2-40B4-BE49-F238E27FC236}">
                <a16:creationId xmlns:a16="http://schemas.microsoft.com/office/drawing/2014/main" id="{8EC7F644-8F33-4A3F-8AB0-C2015D4D8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944C32D-7875-4FD8-85A2-B0ED643BD768}"/>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6" name="Espace réservé du pied de page 5">
            <a:extLst>
              <a:ext uri="{FF2B5EF4-FFF2-40B4-BE49-F238E27FC236}">
                <a16:creationId xmlns:a16="http://schemas.microsoft.com/office/drawing/2014/main" id="{07EB7AA9-E81D-4697-9063-C5977E3D1B6D}"/>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7B4DB056-5815-4FF8-8A4E-646ABF1F5346}"/>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1374312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F4DBEE-35E5-4572-B2A8-5EED5C60A30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C242A9A-0058-4EE5-BCEB-7AD3551D20F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884A770-2A71-40D2-9553-7D080BCDA36E}"/>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5FBF014E-130B-404B-BCDD-88CBBC3E2D2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BFFBF6FF-B4A1-4112-AAE2-411290AE0BB8}"/>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2944405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69F53F6-F541-49EB-8D1F-55BBA9CFF55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391F50C-2DD5-46FD-8A23-BB981C0188B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44835F-1875-48F1-92FB-F22C0EC1E7E1}"/>
              </a:ext>
            </a:extLst>
          </p:cNvPr>
          <p:cNvSpPr>
            <a:spLocks noGrp="1"/>
          </p:cNvSpPr>
          <p:nvPr>
            <p:ph type="dt" sz="half" idx="10"/>
          </p:nvPr>
        </p:nvSpPr>
        <p:spPr/>
        <p:txBody>
          <a:body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6C30E8E6-6426-42BF-A06D-5BB8FAD8A346}"/>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4EE932AC-A02D-449D-B0D8-6BF28202B043}"/>
              </a:ext>
            </a:extLst>
          </p:cNvPr>
          <p:cNvSpPr>
            <a:spLocks noGrp="1"/>
          </p:cNvSpPr>
          <p:nvPr>
            <p:ph type="sldNum" sz="quarter" idx="12"/>
          </p:nvPr>
        </p:nvSpPr>
        <p:spPr/>
        <p:txBody>
          <a:bodyPr/>
          <a:lstStyle/>
          <a:p>
            <a:fld id="{67D77AB2-8F4F-42AE-8BD9-622D0C8D7C71}" type="slidenum">
              <a:rPr lang="fr-FR" smtClean="0"/>
              <a:t>‹N°›</a:t>
            </a:fld>
            <a:endParaRPr lang="fr-FR" dirty="0"/>
          </a:p>
        </p:txBody>
      </p:sp>
    </p:spTree>
    <p:extLst>
      <p:ext uri="{BB962C8B-B14F-4D97-AF65-F5344CB8AC3E}">
        <p14:creationId xmlns:p14="http://schemas.microsoft.com/office/powerpoint/2010/main" val="905493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BFC2D5-8375-42AA-8609-CE7CDE38419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6EB917B-210B-4F0A-BDDB-889C3EBFDB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E60F733-F54E-467A-8BCF-4F864BA8AF31}"/>
              </a:ext>
            </a:extLst>
          </p:cNvPr>
          <p:cNvSpPr>
            <a:spLocks noGrp="1"/>
          </p:cNvSpPr>
          <p:nvPr>
            <p:ph type="dt" sz="half" idx="10"/>
          </p:nvPr>
        </p:nvSpPr>
        <p:spPr/>
        <p:txBody>
          <a:bodyPr/>
          <a:lstStyle/>
          <a:p>
            <a:fld id="{D35B0836-6FB3-462B-BA7B-4659A1210CE1}"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2AA761C5-5DDE-4BC3-8FB4-64E419C71621}"/>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7FBDB097-3873-4806-BF9F-ACC752610DC8}"/>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782792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7122C6-DDF7-46FC-A1BC-59617E29073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A2A2047-CF56-48C6-802A-7CC301D440E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E093CB7-AD6B-4BCB-AEA6-6B8A77A715A1}"/>
              </a:ext>
            </a:extLst>
          </p:cNvPr>
          <p:cNvSpPr>
            <a:spLocks noGrp="1"/>
          </p:cNvSpPr>
          <p:nvPr>
            <p:ph type="dt" sz="half" idx="10"/>
          </p:nvPr>
        </p:nvSpPr>
        <p:spPr/>
        <p:txBody>
          <a:bodyPr/>
          <a:lstStyle/>
          <a:p>
            <a:fld id="{5D224F95-28A4-41F0-B4CF-1D05972F11D7}"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F9321108-358E-44EA-919F-6F1E8E699F78}"/>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447BFAF3-E832-49B0-8830-7CF65D58DECF}"/>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962429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4A95E1-550D-4EF0-9FB3-78A22DEF0C1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DBD0927-3FA2-4E83-9E9C-A5FDCBCD9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28ABE06-A9B3-4968-9D4F-4964BE1A4309}"/>
              </a:ext>
            </a:extLst>
          </p:cNvPr>
          <p:cNvSpPr>
            <a:spLocks noGrp="1"/>
          </p:cNvSpPr>
          <p:nvPr>
            <p:ph type="dt" sz="half" idx="10"/>
          </p:nvPr>
        </p:nvSpPr>
        <p:spPr/>
        <p:txBody>
          <a:bodyPr/>
          <a:lstStyle/>
          <a:p>
            <a:fld id="{F4A32817-AF46-4A30-BC12-16C5DB7BF716}"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9821A1B2-1DD0-4F00-8A3A-74BE7F39830D}"/>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38FD3F95-E390-4EB8-BD92-A9AEB6A994F4}"/>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3797278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6052F-0C7A-493B-BD44-13151AD8427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D92056-1F7B-407C-B478-0E13A181FF8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6914F27-313D-4F44-AAFF-DC48F4AA786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99F4BFD-C9DD-4E2F-ABC7-6186FE5012E0}"/>
              </a:ext>
            </a:extLst>
          </p:cNvPr>
          <p:cNvSpPr>
            <a:spLocks noGrp="1"/>
          </p:cNvSpPr>
          <p:nvPr>
            <p:ph type="dt" sz="half" idx="10"/>
          </p:nvPr>
        </p:nvSpPr>
        <p:spPr/>
        <p:txBody>
          <a:bodyPr/>
          <a:lstStyle/>
          <a:p>
            <a:fld id="{9E19C675-E62E-48E0-887F-F5062565B594}" type="datetime1">
              <a:rPr lang="fr-FR" smtClean="0"/>
              <a:t>24/12/2025</a:t>
            </a:fld>
            <a:endParaRPr lang="fr-FR" dirty="0"/>
          </a:p>
        </p:txBody>
      </p:sp>
      <p:sp>
        <p:nvSpPr>
          <p:cNvPr id="6" name="Espace réservé du pied de page 5">
            <a:extLst>
              <a:ext uri="{FF2B5EF4-FFF2-40B4-BE49-F238E27FC236}">
                <a16:creationId xmlns:a16="http://schemas.microsoft.com/office/drawing/2014/main" id="{086B6D5C-D802-4283-9B61-04BD962D5AFC}"/>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4D9CA87F-066B-4B6C-8A82-4195A964D4C2}"/>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4259784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E55CE-2846-4818-90B4-9B8F81759B3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B5BFBF5-7A8A-4295-97CD-4306C2B8D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2DA5D81-AEAC-4E30-ACBE-76E512FD83B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37CFFAE-B04C-4CF6-AA37-E5B6145AD0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292F2B3-9C93-4BF2-A03D-7E6E5E6D41D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A47DFA0-E9CE-4F3E-BF1C-00D14F2E0AA9}"/>
              </a:ext>
            </a:extLst>
          </p:cNvPr>
          <p:cNvSpPr>
            <a:spLocks noGrp="1"/>
          </p:cNvSpPr>
          <p:nvPr>
            <p:ph type="dt" sz="half" idx="10"/>
          </p:nvPr>
        </p:nvSpPr>
        <p:spPr/>
        <p:txBody>
          <a:bodyPr/>
          <a:lstStyle/>
          <a:p>
            <a:fld id="{CDC5D52F-AF61-4657-912F-2144C46C7CE0}" type="datetime1">
              <a:rPr lang="fr-FR" smtClean="0"/>
              <a:t>24/12/2025</a:t>
            </a:fld>
            <a:endParaRPr lang="fr-FR" dirty="0"/>
          </a:p>
        </p:txBody>
      </p:sp>
      <p:sp>
        <p:nvSpPr>
          <p:cNvPr id="8" name="Espace réservé du pied de page 7">
            <a:extLst>
              <a:ext uri="{FF2B5EF4-FFF2-40B4-BE49-F238E27FC236}">
                <a16:creationId xmlns:a16="http://schemas.microsoft.com/office/drawing/2014/main" id="{32F9FE80-432C-40C4-BE6B-8044120AE0DC}"/>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4715F09C-D906-4972-AF84-1C117021630E}"/>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4214524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DE6995-D93A-4D9B-AE64-40CFF293509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D51BD3C-8445-440F-AB09-F6F4CCD31716}"/>
              </a:ext>
            </a:extLst>
          </p:cNvPr>
          <p:cNvSpPr>
            <a:spLocks noGrp="1"/>
          </p:cNvSpPr>
          <p:nvPr>
            <p:ph type="dt" sz="half" idx="10"/>
          </p:nvPr>
        </p:nvSpPr>
        <p:spPr/>
        <p:txBody>
          <a:bodyPr/>
          <a:lstStyle/>
          <a:p>
            <a:fld id="{80BAD7B5-5528-441E-A793-CD84FF0A50ED}" type="datetime1">
              <a:rPr lang="fr-FR" smtClean="0"/>
              <a:t>24/12/2025</a:t>
            </a:fld>
            <a:endParaRPr lang="fr-FR" dirty="0"/>
          </a:p>
        </p:txBody>
      </p:sp>
      <p:sp>
        <p:nvSpPr>
          <p:cNvPr id="4" name="Espace réservé du pied de page 3">
            <a:extLst>
              <a:ext uri="{FF2B5EF4-FFF2-40B4-BE49-F238E27FC236}">
                <a16:creationId xmlns:a16="http://schemas.microsoft.com/office/drawing/2014/main" id="{B2547987-6470-4905-B1A6-BF5F6C1A6F9E}"/>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6ECD742E-1EDF-4BD4-B9B5-9062C762033B}"/>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40745872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264145E-FDC3-45B6-8FE6-A120F2F9C718}"/>
              </a:ext>
            </a:extLst>
          </p:cNvPr>
          <p:cNvSpPr>
            <a:spLocks noGrp="1"/>
          </p:cNvSpPr>
          <p:nvPr>
            <p:ph type="dt" sz="half" idx="10"/>
          </p:nvPr>
        </p:nvSpPr>
        <p:spPr/>
        <p:txBody>
          <a:bodyPr/>
          <a:lstStyle/>
          <a:p>
            <a:fld id="{CCD44B44-1E6E-49CB-A1F6-1613C73C074A}" type="datetime1">
              <a:rPr lang="fr-FR" smtClean="0"/>
              <a:t>24/12/2025</a:t>
            </a:fld>
            <a:endParaRPr lang="fr-FR" dirty="0"/>
          </a:p>
        </p:txBody>
      </p:sp>
      <p:sp>
        <p:nvSpPr>
          <p:cNvPr id="3" name="Espace réservé du pied de page 2">
            <a:extLst>
              <a:ext uri="{FF2B5EF4-FFF2-40B4-BE49-F238E27FC236}">
                <a16:creationId xmlns:a16="http://schemas.microsoft.com/office/drawing/2014/main" id="{E567918B-9E7E-4DA8-A3FB-8E7B582E939E}"/>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96D50F0-01DF-4734-B6AD-890F7B3C4C26}"/>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3921262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C62D6C-1451-4D8B-8D8F-69181D4A28A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5C46503-AF00-495E-9229-0888267F1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9464BB9-8D4F-4813-A57B-FFFD05BFE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5687F58-41F3-4023-BB5A-609E7C58CCD5}"/>
              </a:ext>
            </a:extLst>
          </p:cNvPr>
          <p:cNvSpPr>
            <a:spLocks noGrp="1"/>
          </p:cNvSpPr>
          <p:nvPr>
            <p:ph type="dt" sz="half" idx="10"/>
          </p:nvPr>
        </p:nvSpPr>
        <p:spPr/>
        <p:txBody>
          <a:bodyPr/>
          <a:lstStyle/>
          <a:p>
            <a:fld id="{0B2FBF91-869C-4C49-8085-D2D346C10F17}" type="datetime1">
              <a:rPr lang="fr-FR" smtClean="0"/>
              <a:t>24/12/2025</a:t>
            </a:fld>
            <a:endParaRPr lang="fr-FR" dirty="0"/>
          </a:p>
        </p:txBody>
      </p:sp>
      <p:sp>
        <p:nvSpPr>
          <p:cNvPr id="6" name="Espace réservé du pied de page 5">
            <a:extLst>
              <a:ext uri="{FF2B5EF4-FFF2-40B4-BE49-F238E27FC236}">
                <a16:creationId xmlns:a16="http://schemas.microsoft.com/office/drawing/2014/main" id="{7DFAA189-B81D-4F61-94DC-E3F4FA7AA955}"/>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AE42E78D-20B1-410C-881F-0C2B2167F44D}"/>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1226329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DF78EC-364B-4608-B5A3-CFE0FA8DC6B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88CCE0-729C-4037-A9FF-5A27C4867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p>
        </p:txBody>
      </p:sp>
      <p:sp>
        <p:nvSpPr>
          <p:cNvPr id="4" name="Espace réservé du texte 3">
            <a:extLst>
              <a:ext uri="{FF2B5EF4-FFF2-40B4-BE49-F238E27FC236}">
                <a16:creationId xmlns:a16="http://schemas.microsoft.com/office/drawing/2014/main" id="{87355768-F073-4A37-84E3-26AD8A5FB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1448F9E-216B-457D-9B17-44BD919629B9}"/>
              </a:ext>
            </a:extLst>
          </p:cNvPr>
          <p:cNvSpPr>
            <a:spLocks noGrp="1"/>
          </p:cNvSpPr>
          <p:nvPr>
            <p:ph type="dt" sz="half" idx="10"/>
          </p:nvPr>
        </p:nvSpPr>
        <p:spPr/>
        <p:txBody>
          <a:bodyPr/>
          <a:lstStyle/>
          <a:p>
            <a:fld id="{CBFEC907-61AE-49B4-8DAC-C3B22A75F3F5}" type="datetime1">
              <a:rPr lang="fr-FR" smtClean="0"/>
              <a:t>24/12/2025</a:t>
            </a:fld>
            <a:endParaRPr lang="fr-FR" dirty="0"/>
          </a:p>
        </p:txBody>
      </p:sp>
      <p:sp>
        <p:nvSpPr>
          <p:cNvPr id="6" name="Espace réservé du pied de page 5">
            <a:extLst>
              <a:ext uri="{FF2B5EF4-FFF2-40B4-BE49-F238E27FC236}">
                <a16:creationId xmlns:a16="http://schemas.microsoft.com/office/drawing/2014/main" id="{9957ADB7-D3DE-46E8-9355-F0AC84EB19B4}"/>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C7BDDD6A-460C-4C7E-98C2-BA58F09311D8}"/>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858080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0A32F9-FEE9-4179-8CBD-7AB88F20446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724BB40-EC0C-4B80-90E5-470482E2600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A8526B-4813-483A-8F7A-F4516B6032C6}"/>
              </a:ext>
            </a:extLst>
          </p:cNvPr>
          <p:cNvSpPr>
            <a:spLocks noGrp="1"/>
          </p:cNvSpPr>
          <p:nvPr>
            <p:ph type="dt" sz="half" idx="10"/>
          </p:nvPr>
        </p:nvSpPr>
        <p:spPr/>
        <p:txBody>
          <a:bodyPr/>
          <a:lstStyle/>
          <a:p>
            <a:fld id="{93032B84-830D-4687-AA4F-6BFD1F6136FC}"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137AA0B3-D83F-4787-957D-50A4643F8C9F}"/>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52500EA0-3F7F-403E-91DA-232F74B25364}"/>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37437190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4DDD814-F51D-41C2-80D9-00F8CB0510B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D2C2925-23CE-47F6-93D2-11A72A0F594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5A81B1-C370-4AE3-A790-62BEF325FCE5}"/>
              </a:ext>
            </a:extLst>
          </p:cNvPr>
          <p:cNvSpPr>
            <a:spLocks noGrp="1"/>
          </p:cNvSpPr>
          <p:nvPr>
            <p:ph type="dt" sz="half" idx="10"/>
          </p:nvPr>
        </p:nvSpPr>
        <p:spPr/>
        <p:txBody>
          <a:bodyPr/>
          <a:lstStyle/>
          <a:p>
            <a:fld id="{31BF92BC-4003-4D9A-BA28-CDCE0AC29A03}"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4115FDAA-9A8A-46D8-ADEC-AB007224EC2F}"/>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0B2BC18A-2A38-419D-A1A1-915AE1137DDB}"/>
              </a:ext>
            </a:extLst>
          </p:cNvPr>
          <p:cNvSpPr>
            <a:spLocks noGrp="1"/>
          </p:cNvSpPr>
          <p:nvPr>
            <p:ph type="sldNum" sz="quarter" idx="12"/>
          </p:nvPr>
        </p:nvSpPr>
        <p:spPr/>
        <p:txBody>
          <a:bodyPr/>
          <a:lstStyle/>
          <a:p>
            <a:fld id="{DABACED5-4545-4C55-9339-27E0833A921F}" type="slidenum">
              <a:rPr lang="fr-FR" smtClean="0"/>
              <a:t>‹N°›</a:t>
            </a:fld>
            <a:endParaRPr lang="fr-FR" dirty="0"/>
          </a:p>
        </p:txBody>
      </p:sp>
    </p:spTree>
    <p:extLst>
      <p:ext uri="{BB962C8B-B14F-4D97-AF65-F5344CB8AC3E}">
        <p14:creationId xmlns:p14="http://schemas.microsoft.com/office/powerpoint/2010/main" val="1896081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1_Disposition personnalisée">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bwMode="auto">
          <a:xfrm>
            <a:off x="304800" y="1"/>
            <a:ext cx="11582400" cy="1173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lvl="0"/>
            <a:r>
              <a:rPr lang="en-US" altLang="fr-FR" noProof="0" dirty="0" err="1"/>
              <a:t>Modifiez</a:t>
            </a:r>
            <a:r>
              <a:rPr lang="en-US" altLang="fr-FR" noProof="0" dirty="0"/>
              <a:t> le style du </a:t>
            </a:r>
            <a:r>
              <a:rPr lang="en-US" altLang="fr-FR" noProof="0" dirty="0" err="1"/>
              <a:t>titre</a:t>
            </a:r>
            <a:endParaRPr lang="en-US" altLang="fr-FR" noProof="0" dirty="0"/>
          </a:p>
        </p:txBody>
      </p:sp>
      <p:sp>
        <p:nvSpPr>
          <p:cNvPr id="5" name="Espace réservé du contenu 2"/>
          <p:cNvSpPr>
            <a:spLocks noGrp="1"/>
          </p:cNvSpPr>
          <p:nvPr>
            <p:ph sz="half" idx="1"/>
          </p:nvPr>
        </p:nvSpPr>
        <p:spPr>
          <a:xfrm>
            <a:off x="304800" y="1371600"/>
            <a:ext cx="11582400" cy="5225752"/>
          </a:xfrm>
        </p:spPr>
        <p:txBody>
          <a:bodyPr/>
          <a:lstStyle>
            <a:lvl1pPr>
              <a:defRPr sz="22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noProof="0" dirty="0" err="1"/>
              <a:t>Modifiez</a:t>
            </a:r>
            <a:r>
              <a:rPr lang="en-US" noProof="0" dirty="0"/>
              <a:t> les styles du </a:t>
            </a:r>
            <a:r>
              <a:rPr lang="en-US" noProof="0" dirty="0" err="1"/>
              <a:t>texte</a:t>
            </a:r>
            <a:r>
              <a:rPr lang="en-US" noProof="0" dirty="0"/>
              <a:t> du masque</a:t>
            </a:r>
          </a:p>
          <a:p>
            <a:pPr lvl="1"/>
            <a:r>
              <a:rPr lang="en-US" noProof="0" dirty="0" err="1"/>
              <a:t>Deuxième</a:t>
            </a:r>
            <a:r>
              <a:rPr lang="en-US" noProof="0" dirty="0"/>
              <a:t> </a:t>
            </a:r>
            <a:r>
              <a:rPr lang="en-US" noProof="0" dirty="0" err="1"/>
              <a:t>niveau</a:t>
            </a:r>
            <a:endParaRPr lang="en-US" noProof="0" dirty="0"/>
          </a:p>
          <a:p>
            <a:pPr lvl="2"/>
            <a:r>
              <a:rPr lang="en-US" noProof="0" dirty="0" err="1"/>
              <a:t>Troisième</a:t>
            </a:r>
            <a:r>
              <a:rPr lang="en-US" noProof="0" dirty="0"/>
              <a:t> </a:t>
            </a:r>
            <a:r>
              <a:rPr lang="en-US" noProof="0" dirty="0" err="1"/>
              <a:t>niveau</a:t>
            </a:r>
            <a:endParaRPr lang="en-US" noProof="0" dirty="0"/>
          </a:p>
          <a:p>
            <a:pPr lvl="3"/>
            <a:r>
              <a:rPr lang="en-US" noProof="0" dirty="0" err="1"/>
              <a:t>Quatrième</a:t>
            </a:r>
            <a:r>
              <a:rPr lang="en-US" noProof="0" dirty="0"/>
              <a:t> </a:t>
            </a:r>
            <a:r>
              <a:rPr lang="en-US" noProof="0" dirty="0" err="1"/>
              <a:t>niveau</a:t>
            </a:r>
            <a:endParaRPr lang="en-US" noProof="0" dirty="0"/>
          </a:p>
          <a:p>
            <a:pPr lvl="4"/>
            <a:r>
              <a:rPr lang="en-US" noProof="0" dirty="0" err="1"/>
              <a:t>Cinquième</a:t>
            </a:r>
            <a:r>
              <a:rPr lang="en-US" noProof="0" dirty="0"/>
              <a:t> </a:t>
            </a:r>
            <a:r>
              <a:rPr lang="en-US" noProof="0" dirty="0" err="1"/>
              <a:t>niveau</a:t>
            </a:r>
            <a:endParaRPr lang="en-US" noProof="0" dirty="0"/>
          </a:p>
        </p:txBody>
      </p:sp>
      <p:sp>
        <p:nvSpPr>
          <p:cNvPr id="4" name="Rectangle 6"/>
          <p:cNvSpPr>
            <a:spLocks noGrp="1" noChangeArrowheads="1"/>
          </p:cNvSpPr>
          <p:nvPr>
            <p:ph type="sldNum" sz="quarter" idx="10"/>
          </p:nvPr>
        </p:nvSpPr>
        <p:spPr>
          <a:xfrm>
            <a:off x="10824634" y="44451"/>
            <a:ext cx="1087967" cy="309563"/>
          </a:xfrm>
        </p:spPr>
        <p:txBody>
          <a:bodyPr/>
          <a:lstStyle>
            <a:lvl1pPr>
              <a:defRPr/>
            </a:lvl1pPr>
          </a:lstStyle>
          <a:p>
            <a:fld id="{C0AF0007-C4CC-4031-9D1F-5216DF6ECBA2}" type="slidenum">
              <a:rPr lang="en-US" smtClean="0"/>
              <a:t>‹N°›</a:t>
            </a:fld>
            <a:endParaRPr lang="en-US" dirty="0"/>
          </a:p>
        </p:txBody>
      </p:sp>
    </p:spTree>
    <p:extLst>
      <p:ext uri="{BB962C8B-B14F-4D97-AF65-F5344CB8AC3E}">
        <p14:creationId xmlns:p14="http://schemas.microsoft.com/office/powerpoint/2010/main" val="144759253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BFCBE71-2F8C-4524-BE38-5CDA26D0EA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4AC0B26-2751-4598-9456-7FAEB96915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E8902C-5F7A-4928-BE49-AFE7E02057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C11AA-F535-474F-B5B4-929894A131F6}" type="datetimeFigureOut">
              <a:rPr lang="fr-FR" smtClean="0"/>
              <a:t>24/12/2025</a:t>
            </a:fld>
            <a:endParaRPr lang="fr-FR" dirty="0"/>
          </a:p>
        </p:txBody>
      </p:sp>
      <p:sp>
        <p:nvSpPr>
          <p:cNvPr id="5" name="Espace réservé du pied de page 4">
            <a:extLst>
              <a:ext uri="{FF2B5EF4-FFF2-40B4-BE49-F238E27FC236}">
                <a16:creationId xmlns:a16="http://schemas.microsoft.com/office/drawing/2014/main" id="{469B6B8D-16CE-4E5A-AE13-FC6D05A028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4E6F79DD-015E-4BCF-BB57-0AE0611C2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77AB2-8F4F-42AE-8BD9-622D0C8D7C71}" type="slidenum">
              <a:rPr lang="fr-FR" smtClean="0"/>
              <a:t>‹N°›</a:t>
            </a:fld>
            <a:endParaRPr lang="fr-FR" dirty="0"/>
          </a:p>
        </p:txBody>
      </p:sp>
    </p:spTree>
    <p:extLst>
      <p:ext uri="{BB962C8B-B14F-4D97-AF65-F5344CB8AC3E}">
        <p14:creationId xmlns:p14="http://schemas.microsoft.com/office/powerpoint/2010/main" val="321920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91C7902-30D3-4008-B0D1-10AC1D602E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255DA8D-789E-4377-B983-CE43DFFE8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27503C8-A23C-45F9-AA01-194CC36377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875B5-F346-41BC-AAB4-F30DF20BD5AA}" type="datetime1">
              <a:rPr lang="fr-FR" smtClean="0"/>
              <a:t>24/12/2025</a:t>
            </a:fld>
            <a:endParaRPr lang="fr-FR" dirty="0"/>
          </a:p>
        </p:txBody>
      </p:sp>
      <p:sp>
        <p:nvSpPr>
          <p:cNvPr id="5" name="Espace réservé du pied de page 4">
            <a:extLst>
              <a:ext uri="{FF2B5EF4-FFF2-40B4-BE49-F238E27FC236}">
                <a16:creationId xmlns:a16="http://schemas.microsoft.com/office/drawing/2014/main" id="{6FCF678B-E376-4137-A01B-E7036D7AD0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57219F5D-3876-4381-ACAA-6270AA347C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ACED5-4545-4C55-9339-27E0833A921F}" type="slidenum">
              <a:rPr lang="fr-FR" smtClean="0"/>
              <a:t>‹N°›</a:t>
            </a:fld>
            <a:endParaRPr lang="fr-FR" dirty="0"/>
          </a:p>
        </p:txBody>
      </p:sp>
    </p:spTree>
    <p:extLst>
      <p:ext uri="{BB962C8B-B14F-4D97-AF65-F5344CB8AC3E}">
        <p14:creationId xmlns:p14="http://schemas.microsoft.com/office/powerpoint/2010/main" val="19095284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eg"/><Relationship Id="rId7"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2.jpeg"/><Relationship Id="rId5" Type="http://schemas.openxmlformats.org/officeDocument/2006/relationships/image" Target="../media/image11.pn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5547">
              <a:srgbClr val="B4C7E7"/>
            </a:gs>
            <a:gs pos="0">
              <a:schemeClr val="accent1">
                <a:lumMod val="5000"/>
                <a:lumOff val="95000"/>
              </a:schemeClr>
            </a:gs>
            <a:gs pos="74000">
              <a:schemeClr val="accent1">
                <a:lumMod val="45000"/>
                <a:lumOff val="55000"/>
              </a:schemeClr>
            </a:gs>
            <a:gs pos="89000">
              <a:schemeClr val="accent2">
                <a:lumMod val="20000"/>
                <a:lumOff val="80000"/>
              </a:schemeClr>
            </a:gs>
            <a:gs pos="37000">
              <a:schemeClr val="accent4">
                <a:lumMod val="20000"/>
                <a:lumOff val="80000"/>
              </a:schemeClr>
            </a:gs>
            <a:gs pos="100000">
              <a:schemeClr val="accent1">
                <a:lumMod val="30000"/>
                <a:lumOff val="70000"/>
              </a:schemeClr>
            </a:gs>
          </a:gsLst>
          <a:lin ang="2700000" scaled="1"/>
        </a:gra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EF76A7AD-B39C-45E8-828B-3BA0C1A3B0D8}"/>
              </a:ext>
            </a:extLst>
          </p:cNvPr>
          <p:cNvPicPr>
            <a:picLocks noChangeAspect="1"/>
          </p:cNvPicPr>
          <p:nvPr/>
        </p:nvPicPr>
        <p:blipFill rotWithShape="1">
          <a:blip r:embed="rId3">
            <a:extLst>
              <a:ext uri="{28A0092B-C50C-407E-A947-70E740481C1C}">
                <a14:useLocalDpi xmlns:a14="http://schemas.microsoft.com/office/drawing/2010/main" val="0"/>
              </a:ext>
            </a:extLst>
          </a:blip>
          <a:srcRect t="23454" r="8333" b="17751"/>
          <a:stretch/>
        </p:blipFill>
        <p:spPr>
          <a:xfrm>
            <a:off x="0" y="1740665"/>
            <a:ext cx="12192000" cy="5214331"/>
          </a:xfrm>
          <a:prstGeom prst="rect">
            <a:avLst/>
          </a:prstGeom>
        </p:spPr>
      </p:pic>
      <p:sp>
        <p:nvSpPr>
          <p:cNvPr id="20" name="Rectangle 19">
            <a:extLst>
              <a:ext uri="{FF2B5EF4-FFF2-40B4-BE49-F238E27FC236}">
                <a16:creationId xmlns:a16="http://schemas.microsoft.com/office/drawing/2014/main" id="{BCE2A6C3-CA59-4DDA-9947-679B151E779E}"/>
              </a:ext>
            </a:extLst>
          </p:cNvPr>
          <p:cNvSpPr/>
          <p:nvPr/>
        </p:nvSpPr>
        <p:spPr>
          <a:xfrm>
            <a:off x="0" y="-132203"/>
            <a:ext cx="12192000" cy="1968500"/>
          </a:xfrm>
          <a:prstGeom prst="rect">
            <a:avLst/>
          </a:prstGeom>
          <a:noFill/>
          <a:ln w="9525" cap="flat" cmpd="sng" algn="ctr">
            <a:noFill/>
            <a:prstDash val="solid"/>
            <a:round/>
            <a:headEnd type="none" w="med" len="med"/>
            <a:tailEnd type="none" w="med" len="med"/>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algn="ctr"/>
            <a:r>
              <a:rPr lang="fr-FR" sz="4000" b="1" dirty="0">
                <a:ln w="12700">
                  <a:solidFill>
                    <a:schemeClr val="tx1">
                      <a:lumMod val="95000"/>
                      <a:lumOff val="5000"/>
                    </a:schemeClr>
                  </a:solidFill>
                  <a:prstDash val="solid"/>
                </a:ln>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Bienvenue à notre soutenance de mémoire de licence en vue de l’obtention du diplôme de Licence Professionnelle en Hydrologie Quantitative</a:t>
            </a:r>
          </a:p>
        </p:txBody>
      </p:sp>
      <p:sp>
        <p:nvSpPr>
          <p:cNvPr id="21" name="ZoneTexte 20">
            <a:extLst>
              <a:ext uri="{FF2B5EF4-FFF2-40B4-BE49-F238E27FC236}">
                <a16:creationId xmlns:a16="http://schemas.microsoft.com/office/drawing/2014/main" id="{5DD17793-810A-4D25-A82C-99F750ECCB5C}"/>
              </a:ext>
            </a:extLst>
          </p:cNvPr>
          <p:cNvSpPr txBox="1"/>
          <p:nvPr/>
        </p:nvSpPr>
        <p:spPr>
          <a:xfrm>
            <a:off x="5029200" y="4864102"/>
            <a:ext cx="7162800" cy="584775"/>
          </a:xfrm>
          <a:prstGeom prst="rect">
            <a:avLst/>
          </a:prstGeom>
          <a:noFill/>
        </p:spPr>
        <p:txBody>
          <a:bodyPr wrap="square" rtlCol="0">
            <a:spAutoFit/>
          </a:bodyPr>
          <a:lstStyle/>
          <a:p>
            <a:r>
              <a:rPr lang="fr-FR" sz="3200" b="1" dirty="0">
                <a:solidFill>
                  <a:schemeClr val="tx1">
                    <a:lumMod val="95000"/>
                    <a:lumOff val="5000"/>
                  </a:schemeClr>
                </a:solidFill>
                <a:latin typeface="Times New Roman" panose="02020603050405020304" pitchFamily="18" charset="0"/>
                <a:cs typeface="Times New Roman" panose="02020603050405020304" pitchFamily="18" charset="0"/>
              </a:rPr>
              <a:t>Présenté par D. E. Espoir AHODONOU </a:t>
            </a:r>
          </a:p>
        </p:txBody>
      </p:sp>
      <p:sp>
        <p:nvSpPr>
          <p:cNvPr id="8" name="ZoneTexte 7">
            <a:extLst>
              <a:ext uri="{FF2B5EF4-FFF2-40B4-BE49-F238E27FC236}">
                <a16:creationId xmlns:a16="http://schemas.microsoft.com/office/drawing/2014/main" id="{08A78582-4B17-4C55-A32F-8A9402403302}"/>
              </a:ext>
            </a:extLst>
          </p:cNvPr>
          <p:cNvSpPr txBox="1"/>
          <p:nvPr/>
        </p:nvSpPr>
        <p:spPr>
          <a:xfrm>
            <a:off x="4845585" y="6377977"/>
            <a:ext cx="629614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15895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033D280D-8924-A6C9-9D7B-F3AB89A822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392" y="692697"/>
            <a:ext cx="1632181" cy="1355475"/>
          </a:xfrm>
          <a:prstGeom prst="rect">
            <a:avLst/>
          </a:prstGeom>
          <a:noFill/>
          <a:ln>
            <a:noFill/>
          </a:ln>
        </p:spPr>
      </p:pic>
      <p:pic>
        <p:nvPicPr>
          <p:cNvPr id="16" name="Image 15">
            <a:extLst>
              <a:ext uri="{FF2B5EF4-FFF2-40B4-BE49-F238E27FC236}">
                <a16:creationId xmlns:a16="http://schemas.microsoft.com/office/drawing/2014/main" id="{22405350-6B88-D81B-8EAB-DB403E94A7E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06425" y="770811"/>
            <a:ext cx="1536172" cy="1277360"/>
          </a:xfrm>
          <a:prstGeom prst="rect">
            <a:avLst/>
          </a:prstGeom>
          <a:noFill/>
          <a:ln>
            <a:noFill/>
          </a:ln>
        </p:spPr>
      </p:pic>
      <p:sp>
        <p:nvSpPr>
          <p:cNvPr id="2" name="Titre 1"/>
          <p:cNvSpPr>
            <a:spLocks noGrp="1"/>
          </p:cNvSpPr>
          <p:nvPr>
            <p:ph type="title"/>
          </p:nvPr>
        </p:nvSpPr>
        <p:spPr>
          <a:xfrm>
            <a:off x="2518118" y="318137"/>
            <a:ext cx="7288308" cy="2665620"/>
          </a:xfrm>
        </p:spPr>
        <p:txBody>
          <a:bodyPr>
            <a:noAutofit/>
          </a:bodyPr>
          <a:lstStyle/>
          <a:p>
            <a:pPr lvl="0" algn="ctr"/>
            <a: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UNIVERSITE  D’ABOMEY-CALAVI (UAC)</a:t>
            </a:r>
            <a:b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a:t>
            </a:r>
            <a:b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INSTITUT  NATIONAL  DE  L’EAU (INE)</a:t>
            </a:r>
            <a:b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a:t>
            </a:r>
            <a:br>
              <a:rPr lang="fr-FR" sz="2000"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DEPARTEMENT D’HYDROLOGIE ET DE GESTION DES RESSOURCES EN EAU  (HGRE)</a:t>
            </a:r>
            <a:b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br>
              <a:rPr lang="fr-FR" sz="2000" b="1" dirty="0">
                <a:solidFill>
                  <a:prstClr val="black"/>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br>
            <a:r>
              <a:rPr lang="fr-FR" sz="2000" b="1" i="1" dirty="0">
                <a:solidFill>
                  <a:schemeClr val="accent1">
                    <a:lumMod val="75000"/>
                  </a:schemeClr>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Arial" panose="020B0604020202020204" pitchFamily="34" charset="0"/>
              </a:rPr>
              <a:t>Licence Professionnel En Hydrologie</a:t>
            </a:r>
            <a:br>
              <a:rPr lang="fr-FR" sz="1400" b="1" dirty="0">
                <a:solidFill>
                  <a:prstClr val="black"/>
                </a:solidFill>
                <a:effectLst>
                  <a:outerShdw blurRad="38100" dist="38100" dir="2700000" algn="tl">
                    <a:srgbClr val="000000">
                      <a:alpha val="43137"/>
                    </a:srgbClr>
                  </a:outerShdw>
                </a:effectLst>
                <a:latin typeface="Arial" panose="020B0604020202020204" pitchFamily="34" charset="0"/>
                <a:ea typeface="Cambria" panose="02040503050406030204" pitchFamily="18" charset="0"/>
                <a:cs typeface="Arial" panose="020B0604020202020204" pitchFamily="34" charset="0"/>
              </a:rPr>
            </a:br>
            <a:endParaRPr lang="fr-FR" sz="2000" dirty="0">
              <a:latin typeface="Cambria Math" pitchFamily="18" charset="0"/>
              <a:ea typeface="Cambria Math" pitchFamily="18" charset="0"/>
            </a:endParaRPr>
          </a:p>
        </p:txBody>
      </p:sp>
      <p:cxnSp>
        <p:nvCxnSpPr>
          <p:cNvPr id="4" name="Connecteur droit 3">
            <a:extLst>
              <a:ext uri="{FF2B5EF4-FFF2-40B4-BE49-F238E27FC236}">
                <a16:creationId xmlns:a16="http://schemas.microsoft.com/office/drawing/2014/main" id="{127EAD7D-9974-34AE-0E84-3DE4B23515B7}"/>
              </a:ext>
            </a:extLst>
          </p:cNvPr>
          <p:cNvCxnSpPr>
            <a:cxnSpLocks/>
          </p:cNvCxnSpPr>
          <p:nvPr/>
        </p:nvCxnSpPr>
        <p:spPr>
          <a:xfrm>
            <a:off x="623392" y="369445"/>
            <a:ext cx="10849205" cy="0"/>
          </a:xfrm>
          <a:prstGeom prst="line">
            <a:avLst/>
          </a:prstGeom>
          <a:ln w="28575">
            <a:solidFill>
              <a:schemeClr val="tx1"/>
            </a:solidFill>
          </a:ln>
          <a:effectLst/>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0052D88-6D5C-DB3A-D6B6-7D359C8AA175}"/>
              </a:ext>
            </a:extLst>
          </p:cNvPr>
          <p:cNvCxnSpPr>
            <a:cxnSpLocks/>
          </p:cNvCxnSpPr>
          <p:nvPr/>
        </p:nvCxnSpPr>
        <p:spPr>
          <a:xfrm>
            <a:off x="582741" y="6694597"/>
            <a:ext cx="11186368" cy="0"/>
          </a:xfrm>
          <a:prstGeom prst="line">
            <a:avLst/>
          </a:prstGeom>
          <a:ln w="28575">
            <a:solidFill>
              <a:schemeClr val="tx1"/>
            </a:solidFill>
          </a:ln>
        </p:spPr>
        <p:style>
          <a:lnRef idx="2">
            <a:schemeClr val="dk1"/>
          </a:lnRef>
          <a:fillRef idx="0">
            <a:schemeClr val="dk1"/>
          </a:fillRef>
          <a:effectRef idx="1">
            <a:schemeClr val="dk1"/>
          </a:effectRef>
          <a:fontRef idx="minor">
            <a:schemeClr val="tx1"/>
          </a:fontRef>
        </p:style>
      </p:cxnSp>
      <p:sp>
        <p:nvSpPr>
          <p:cNvPr id="17" name="ZoneTexte 16">
            <a:extLst>
              <a:ext uri="{FF2B5EF4-FFF2-40B4-BE49-F238E27FC236}">
                <a16:creationId xmlns:a16="http://schemas.microsoft.com/office/drawing/2014/main" id="{172A9186-7510-46DF-8BDE-3F9BACBCB54B}"/>
              </a:ext>
            </a:extLst>
          </p:cNvPr>
          <p:cNvSpPr txBox="1"/>
          <p:nvPr/>
        </p:nvSpPr>
        <p:spPr>
          <a:xfrm>
            <a:off x="3617309" y="2541646"/>
            <a:ext cx="499571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C00000"/>
                </a:solidFill>
                <a:effectLst/>
                <a:uLnTx/>
                <a:uFillTx/>
                <a:latin typeface="Times New Roman" panose="02020603050405020304" pitchFamily="18" charset="0"/>
                <a:ea typeface="Cambria Math" panose="02040503050406030204" pitchFamily="18" charset="0"/>
                <a:cs typeface="Times New Roman" panose="02020603050405020304" pitchFamily="18" charset="0"/>
                <a:sym typeface="Arial"/>
              </a:rPr>
              <a:t>Option: Hydrologie quantitative</a:t>
            </a:r>
          </a:p>
        </p:txBody>
      </p:sp>
      <p:sp>
        <p:nvSpPr>
          <p:cNvPr id="19" name="Rectangle : coins arrondis 12">
            <a:extLst>
              <a:ext uri="{FF2B5EF4-FFF2-40B4-BE49-F238E27FC236}">
                <a16:creationId xmlns:a16="http://schemas.microsoft.com/office/drawing/2014/main" id="{7F8416B6-DF04-74A1-79A1-A0F7CC3A8A65}"/>
              </a:ext>
            </a:extLst>
          </p:cNvPr>
          <p:cNvSpPr/>
          <p:nvPr/>
        </p:nvSpPr>
        <p:spPr>
          <a:xfrm>
            <a:off x="473975" y="3426531"/>
            <a:ext cx="11282379" cy="1826296"/>
          </a:xfrm>
          <a:prstGeom prst="roundRect">
            <a:avLst/>
          </a:prstGeom>
          <a:blipFill>
            <a:blip r:embed="rId5"/>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600" b="1"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Times" panose="02020603050405020304" pitchFamily="18" charset="0"/>
                <a:ea typeface="+mn-ea"/>
                <a:cs typeface="Times" panose="02020603050405020304" pitchFamily="18" charset="0"/>
                <a:sym typeface="Arial"/>
              </a:rPr>
              <a:t>ETUDE HYDROLOGIQUE DU SOUS-BASSIN DRAINE PAR LE COLLECTEUR </a:t>
            </a:r>
            <a:r>
              <a:rPr kumimoji="0" lang="fr-FR" sz="3600" b="1" i="0" u="none" strike="noStrike" kern="0" cap="none" spc="0" normalizeH="0" baseline="0" noProof="0" dirty="0" err="1">
                <a:ln>
                  <a:noFill/>
                </a:ln>
                <a:solidFill>
                  <a:prstClr val="black"/>
                </a:solidFill>
                <a:effectLst>
                  <a:outerShdw blurRad="38100" dist="38100" dir="2700000" algn="tl">
                    <a:srgbClr val="000000">
                      <a:alpha val="43137"/>
                    </a:srgbClr>
                  </a:outerShdw>
                </a:effectLst>
                <a:uLnTx/>
                <a:uFillTx/>
                <a:latin typeface="Times" panose="02020603050405020304" pitchFamily="18" charset="0"/>
                <a:ea typeface="+mn-ea"/>
                <a:cs typeface="Times" panose="02020603050405020304" pitchFamily="18" charset="0"/>
                <a:sym typeface="Arial"/>
              </a:rPr>
              <a:t>Qb</a:t>
            </a:r>
            <a:endParaRPr kumimoji="0" lang="en-US" sz="36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latin typeface="Cambria Math" pitchFamily="18" charset="0"/>
              <a:ea typeface="Cambria Math" pitchFamily="18" charset="0"/>
              <a:cs typeface="Times New Roman" panose="02020603050405020304" pitchFamily="18" charset="0"/>
              <a:sym typeface="Arial"/>
            </a:endParaRPr>
          </a:p>
        </p:txBody>
      </p:sp>
      <p:sp>
        <p:nvSpPr>
          <p:cNvPr id="20" name="ZoneTexte 19">
            <a:extLst>
              <a:ext uri="{FF2B5EF4-FFF2-40B4-BE49-F238E27FC236}">
                <a16:creationId xmlns:a16="http://schemas.microsoft.com/office/drawing/2014/main" id="{6C4BB7B2-9F23-6044-2177-8D3815154D6C}"/>
              </a:ext>
            </a:extLst>
          </p:cNvPr>
          <p:cNvSpPr txBox="1"/>
          <p:nvPr/>
        </p:nvSpPr>
        <p:spPr>
          <a:xfrm>
            <a:off x="853955" y="5130311"/>
            <a:ext cx="3507475" cy="1421992"/>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 typeface="Arial"/>
              <a:buNone/>
              <a:tabLst/>
              <a:defRPr/>
            </a:pPr>
            <a:r>
              <a:rPr kumimoji="0" lang="fr-FR" sz="2000" b="1" i="0" u="sng"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Maitre de mémoire </a:t>
            </a:r>
            <a:r>
              <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a:t>
            </a:r>
          </a:p>
          <a:p>
            <a:pPr marL="0" marR="0" lvl="0" indent="0" algn="ctr" defTabSz="914400" rtl="0" eaLnBrk="1" fontAlgn="auto" latinLnBrk="0" hangingPunct="1">
              <a:lnSpc>
                <a:spcPct val="150000"/>
              </a:lnSpc>
              <a:spcBef>
                <a:spcPts val="0"/>
              </a:spcBef>
              <a:spcAft>
                <a:spcPts val="0"/>
              </a:spcAft>
              <a:buClrTx/>
              <a:buSzTx/>
              <a:buFont typeface="Arial"/>
              <a:buNone/>
              <a:tabLst/>
              <a:defRPr/>
            </a:pPr>
            <a:r>
              <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Dr. Jean HOUNKPE</a:t>
            </a:r>
            <a:endParaRPr kumimoji="0" lang="fr-FR" sz="18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endParaRPr>
          </a:p>
          <a:p>
            <a:pPr marL="0" marR="0" lvl="0" indent="0" algn="ctr" defTabSz="914400" rtl="0" eaLnBrk="1" fontAlgn="auto" latinLnBrk="0" hangingPunct="1">
              <a:lnSpc>
                <a:spcPct val="150000"/>
              </a:lnSpc>
              <a:spcBef>
                <a:spcPts val="0"/>
              </a:spcBef>
              <a:spcAft>
                <a:spcPts val="0"/>
              </a:spcAft>
              <a:buClrTx/>
              <a:buSzTx/>
              <a:buFont typeface="Arial"/>
              <a:buNone/>
              <a:tabLst/>
              <a:defRPr/>
            </a:pPr>
            <a:endPar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endParaRPr>
          </a:p>
        </p:txBody>
      </p:sp>
      <p:pic>
        <p:nvPicPr>
          <p:cNvPr id="21" name="Imag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16999" y="6003510"/>
            <a:ext cx="3890545" cy="596058"/>
          </a:xfrm>
          <a:prstGeom prst="rect">
            <a:avLst/>
          </a:prstGeom>
        </p:spPr>
      </p:pic>
      <p:sp>
        <p:nvSpPr>
          <p:cNvPr id="12" name="ZoneTexte 11">
            <a:extLst>
              <a:ext uri="{FF2B5EF4-FFF2-40B4-BE49-F238E27FC236}">
                <a16:creationId xmlns:a16="http://schemas.microsoft.com/office/drawing/2014/main" id="{6C4BB7B2-9F23-6044-2177-8D3815154D6C}"/>
              </a:ext>
            </a:extLst>
          </p:cNvPr>
          <p:cNvSpPr txBox="1"/>
          <p:nvPr/>
        </p:nvSpPr>
        <p:spPr>
          <a:xfrm>
            <a:off x="7830571" y="5155711"/>
            <a:ext cx="3700937" cy="960328"/>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2000" b="1" i="0" u="sng"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Maitre de Stage</a:t>
            </a:r>
            <a:r>
              <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 </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rPr>
              <a:t>M</a:t>
            </a:r>
            <a:r>
              <a:rPr lang="fr-FR" sz="2000" b="1" dirty="0">
                <a:solidFill>
                  <a:prstClr val="black"/>
                </a:solidFill>
                <a:latin typeface="Times New Roman" pitchFamily="18" charset="0"/>
                <a:ea typeface="Cambria Math" panose="02040503050406030204" pitchFamily="18" charset="0"/>
                <a:cs typeface="Times New Roman" pitchFamily="18" charset="0"/>
                <a:sym typeface="Arial"/>
              </a:rPr>
              <a:t>. Gilbert HOUNNOU</a:t>
            </a:r>
            <a:endParaRPr kumimoji="0" lang="fr-FR" sz="2000" b="1" i="0" u="none" strike="noStrike" kern="1200" cap="none" spc="0" normalizeH="0" baseline="0" noProof="0" dirty="0">
              <a:ln>
                <a:noFill/>
              </a:ln>
              <a:solidFill>
                <a:prstClr val="black"/>
              </a:solidFill>
              <a:effectLst/>
              <a:uLnTx/>
              <a:uFillTx/>
              <a:latin typeface="Times New Roman" pitchFamily="18" charset="0"/>
              <a:ea typeface="Cambria Math" panose="02040503050406030204" pitchFamily="18" charset="0"/>
              <a:cs typeface="Times New Roman" pitchFamily="18" charset="0"/>
              <a:sym typeface="Arial"/>
            </a:endParaRPr>
          </a:p>
        </p:txBody>
      </p:sp>
      <p:sp>
        <p:nvSpPr>
          <p:cNvPr id="3" name="ZoneTexte 2"/>
          <p:cNvSpPr txBox="1"/>
          <p:nvPr/>
        </p:nvSpPr>
        <p:spPr>
          <a:xfrm>
            <a:off x="4361430" y="2893719"/>
            <a:ext cx="350747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2400" b="1" i="0" u="sng" strike="noStrike" kern="0" cap="none" spc="0" normalizeH="0" baseline="0" noProof="0" dirty="0">
                <a:ln>
                  <a:noFill/>
                </a:ln>
                <a:solidFill>
                  <a:prstClr val="black"/>
                </a:solidFill>
                <a:effectLst/>
                <a:uLnTx/>
                <a:uFillTx/>
                <a:latin typeface="Times New Roman" pitchFamily="18" charset="0"/>
                <a:cs typeface="Times New Roman" pitchFamily="18" charset="0"/>
                <a:sym typeface="Arial"/>
              </a:rPr>
              <a:t>THEME</a:t>
            </a:r>
            <a:r>
              <a:rPr kumimoji="0" lang="fr-FR" sz="2400" b="1" i="0" u="none" strike="noStrike" kern="0" cap="none" spc="0" normalizeH="0" baseline="0" noProof="0" dirty="0">
                <a:ln>
                  <a:noFill/>
                </a:ln>
                <a:solidFill>
                  <a:prstClr val="black"/>
                </a:solidFill>
                <a:effectLst/>
                <a:uLnTx/>
                <a:uFillTx/>
                <a:latin typeface="Times New Roman" pitchFamily="18" charset="0"/>
                <a:cs typeface="Times New Roman" pitchFamily="18" charset="0"/>
                <a:sym typeface="Arial"/>
              </a:rPr>
              <a:t>:</a:t>
            </a:r>
          </a:p>
        </p:txBody>
      </p:sp>
      <p:sp>
        <p:nvSpPr>
          <p:cNvPr id="18" name="ZoneTexte 17">
            <a:extLst>
              <a:ext uri="{FF2B5EF4-FFF2-40B4-BE49-F238E27FC236}">
                <a16:creationId xmlns:a16="http://schemas.microsoft.com/office/drawing/2014/main" id="{F5BA45F2-6660-47F4-8F39-C9A4918DD127}"/>
              </a:ext>
            </a:extLst>
          </p:cNvPr>
          <p:cNvSpPr txBox="1"/>
          <p:nvPr/>
        </p:nvSpPr>
        <p:spPr>
          <a:xfrm>
            <a:off x="5058626" y="6346451"/>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54319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7456045-673A-40E0-A83B-83220643D3DB}"/>
              </a:ext>
            </a:extLst>
          </p:cNvPr>
          <p:cNvSpPr>
            <a:spLocks noGrp="1"/>
          </p:cNvSpPr>
          <p:nvPr>
            <p:ph type="sldNum" sz="quarter" idx="12"/>
          </p:nvPr>
        </p:nvSpPr>
        <p:spPr/>
        <p:txBody>
          <a:bodyPr/>
          <a:lstStyle/>
          <a:p>
            <a:fld id="{DABACED5-4545-4C55-9339-27E0833A921F}" type="slidenum">
              <a:rPr lang="fr-FR" smtClean="0"/>
              <a:t>3</a:t>
            </a:fld>
            <a:endParaRPr lang="fr-FR" dirty="0"/>
          </a:p>
        </p:txBody>
      </p:sp>
      <p:sp>
        <p:nvSpPr>
          <p:cNvPr id="7" name="Rectangle 6">
            <a:extLst>
              <a:ext uri="{FF2B5EF4-FFF2-40B4-BE49-F238E27FC236}">
                <a16:creationId xmlns:a16="http://schemas.microsoft.com/office/drawing/2014/main" id="{4F971882-5F4E-4245-AC8F-3FBBFAEC9B98}"/>
              </a:ext>
            </a:extLst>
          </p:cNvPr>
          <p:cNvSpPr/>
          <p:nvPr/>
        </p:nvSpPr>
        <p:spPr>
          <a:xfrm>
            <a:off x="0" y="23717"/>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PLAN DE PRESENTATION</a:t>
            </a:r>
          </a:p>
        </p:txBody>
      </p:sp>
      <p:pic>
        <p:nvPicPr>
          <p:cNvPr id="9" name="Image 8">
            <a:extLst>
              <a:ext uri="{FF2B5EF4-FFF2-40B4-BE49-F238E27FC236}">
                <a16:creationId xmlns:a16="http://schemas.microsoft.com/office/drawing/2014/main" id="{0CC2D073-8BF5-469B-A5A7-53BDF16BABCF}"/>
              </a:ext>
            </a:extLst>
          </p:cNvPr>
          <p:cNvPicPr>
            <a:picLocks noChangeAspect="1"/>
          </p:cNvPicPr>
          <p:nvPr/>
        </p:nvPicPr>
        <p:blipFill rotWithShape="1">
          <a:blip r:embed="rId4">
            <a:extLst>
              <a:ext uri="{28A0092B-C50C-407E-A947-70E740481C1C}">
                <a14:useLocalDpi xmlns:a14="http://schemas.microsoft.com/office/drawing/2010/main" val="0"/>
              </a:ext>
            </a:extLst>
          </a:blip>
          <a:srcRect l="15760" t="9692" r="13484" b="13415"/>
          <a:stretch/>
        </p:blipFill>
        <p:spPr>
          <a:xfrm>
            <a:off x="990600" y="1244600"/>
            <a:ext cx="3403283" cy="4965700"/>
          </a:xfrm>
          <a:prstGeom prst="rect">
            <a:avLst/>
          </a:prstGeom>
          <a:effectLst>
            <a:outerShdw blurRad="76200" dir="13500000" sy="23000" kx="1200000" algn="br" rotWithShape="0">
              <a:prstClr val="black">
                <a:alpha val="20000"/>
              </a:prstClr>
            </a:outerShdw>
          </a:effectLst>
        </p:spPr>
      </p:pic>
      <p:sp>
        <p:nvSpPr>
          <p:cNvPr id="11" name="Ellipse 10">
            <a:extLst>
              <a:ext uri="{FF2B5EF4-FFF2-40B4-BE49-F238E27FC236}">
                <a16:creationId xmlns:a16="http://schemas.microsoft.com/office/drawing/2014/main" id="{5158125B-2DCD-40E7-858E-87A69C054FBC}"/>
              </a:ext>
            </a:extLst>
          </p:cNvPr>
          <p:cNvSpPr/>
          <p:nvPr/>
        </p:nvSpPr>
        <p:spPr>
          <a:xfrm>
            <a:off x="4567771" y="1288055"/>
            <a:ext cx="540000" cy="540000"/>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AD6C1B31-80EB-499B-9980-1C16F4112FA0}"/>
              </a:ext>
            </a:extLst>
          </p:cNvPr>
          <p:cNvSpPr/>
          <p:nvPr/>
        </p:nvSpPr>
        <p:spPr>
          <a:xfrm>
            <a:off x="4657771" y="1353973"/>
            <a:ext cx="360000" cy="360000"/>
          </a:xfrm>
          <a:prstGeom prst="ellipse">
            <a:avLst/>
          </a:prstGeom>
          <a:solidFill>
            <a:srgbClr val="C00000"/>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Ellipse 13">
            <a:extLst>
              <a:ext uri="{FF2B5EF4-FFF2-40B4-BE49-F238E27FC236}">
                <a16:creationId xmlns:a16="http://schemas.microsoft.com/office/drawing/2014/main" id="{47EE45C1-3355-470D-93E2-9F4388F7C3A6}"/>
              </a:ext>
            </a:extLst>
          </p:cNvPr>
          <p:cNvSpPr/>
          <p:nvPr/>
        </p:nvSpPr>
        <p:spPr>
          <a:xfrm>
            <a:off x="5176187" y="2145070"/>
            <a:ext cx="540000" cy="540372"/>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63D9CF75-2C3C-41D0-A3FD-9721867B5E3E}"/>
              </a:ext>
            </a:extLst>
          </p:cNvPr>
          <p:cNvSpPr/>
          <p:nvPr/>
        </p:nvSpPr>
        <p:spPr>
          <a:xfrm>
            <a:off x="5263300" y="2235132"/>
            <a:ext cx="360000" cy="360248"/>
          </a:xfrm>
          <a:prstGeom prst="ellipse">
            <a:avLst/>
          </a:prstGeom>
          <a:solidFill>
            <a:srgbClr val="C00000"/>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Ellipse 15">
            <a:extLst>
              <a:ext uri="{FF2B5EF4-FFF2-40B4-BE49-F238E27FC236}">
                <a16:creationId xmlns:a16="http://schemas.microsoft.com/office/drawing/2014/main" id="{F7E1992C-C335-4D76-A4E7-B94B8062899A}"/>
              </a:ext>
            </a:extLst>
          </p:cNvPr>
          <p:cNvSpPr/>
          <p:nvPr/>
        </p:nvSpPr>
        <p:spPr>
          <a:xfrm>
            <a:off x="5791539" y="3100336"/>
            <a:ext cx="540000" cy="540372"/>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E52F1614-697B-43AB-A787-7B1A4A32CFAF}"/>
              </a:ext>
            </a:extLst>
          </p:cNvPr>
          <p:cNvSpPr/>
          <p:nvPr/>
        </p:nvSpPr>
        <p:spPr>
          <a:xfrm>
            <a:off x="5881539" y="3184738"/>
            <a:ext cx="360000" cy="360248"/>
          </a:xfrm>
          <a:prstGeom prst="ellipse">
            <a:avLst/>
          </a:prstGeom>
          <a:solidFill>
            <a:srgbClr val="92D050"/>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Ellipse 17">
            <a:extLst>
              <a:ext uri="{FF2B5EF4-FFF2-40B4-BE49-F238E27FC236}">
                <a16:creationId xmlns:a16="http://schemas.microsoft.com/office/drawing/2014/main" id="{9F7FD6C4-5D0A-4FAE-9DA6-F3AD0A46AA53}"/>
              </a:ext>
            </a:extLst>
          </p:cNvPr>
          <p:cNvSpPr/>
          <p:nvPr/>
        </p:nvSpPr>
        <p:spPr>
          <a:xfrm>
            <a:off x="5851916" y="4062076"/>
            <a:ext cx="540000" cy="540372"/>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4248C35D-B26F-436E-B650-264E662015A2}"/>
              </a:ext>
            </a:extLst>
          </p:cNvPr>
          <p:cNvSpPr/>
          <p:nvPr/>
        </p:nvSpPr>
        <p:spPr>
          <a:xfrm>
            <a:off x="5944542" y="4132274"/>
            <a:ext cx="360000" cy="360248"/>
          </a:xfrm>
          <a:prstGeom prst="ellipse">
            <a:avLst/>
          </a:prstGeom>
          <a:solidFill>
            <a:schemeClr val="accent4">
              <a:lumMod val="60000"/>
              <a:lumOff val="40000"/>
            </a:schemeClr>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Ellipse 19">
            <a:extLst>
              <a:ext uri="{FF2B5EF4-FFF2-40B4-BE49-F238E27FC236}">
                <a16:creationId xmlns:a16="http://schemas.microsoft.com/office/drawing/2014/main" id="{AE5928AB-0AD4-4821-B5CA-B3167F3EE8D3}"/>
              </a:ext>
            </a:extLst>
          </p:cNvPr>
          <p:cNvSpPr/>
          <p:nvPr/>
        </p:nvSpPr>
        <p:spPr>
          <a:xfrm>
            <a:off x="5173300" y="4940099"/>
            <a:ext cx="540000" cy="540372"/>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5A2C70C3-C685-4B9E-9042-2C73237A78C0}"/>
              </a:ext>
            </a:extLst>
          </p:cNvPr>
          <p:cNvSpPr/>
          <p:nvPr/>
        </p:nvSpPr>
        <p:spPr>
          <a:xfrm>
            <a:off x="5278591" y="5030161"/>
            <a:ext cx="360000" cy="360248"/>
          </a:xfrm>
          <a:prstGeom prst="ellipse">
            <a:avLst/>
          </a:prstGeom>
          <a:solidFill>
            <a:srgbClr val="0070C0"/>
          </a:solidFill>
          <a:ln>
            <a:solidFill>
              <a:schemeClr val="accent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Ellipse 21">
            <a:extLst>
              <a:ext uri="{FF2B5EF4-FFF2-40B4-BE49-F238E27FC236}">
                <a16:creationId xmlns:a16="http://schemas.microsoft.com/office/drawing/2014/main" id="{F836A184-0332-4D0E-ABF4-0BC42F324623}"/>
              </a:ext>
            </a:extLst>
          </p:cNvPr>
          <p:cNvSpPr/>
          <p:nvPr/>
        </p:nvSpPr>
        <p:spPr>
          <a:xfrm>
            <a:off x="4558591" y="5846411"/>
            <a:ext cx="540000" cy="540372"/>
          </a:xfrm>
          <a:prstGeom prst="ellipse">
            <a:avLst/>
          </a:prstGeom>
          <a:solidFill>
            <a:schemeClr val="bg1"/>
          </a:solidFill>
          <a:ln>
            <a:solidFill>
              <a:schemeClr val="bg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F100444B-DC84-4C17-9492-DBAF8908AE70}"/>
              </a:ext>
            </a:extLst>
          </p:cNvPr>
          <p:cNvSpPr/>
          <p:nvPr/>
        </p:nvSpPr>
        <p:spPr>
          <a:xfrm>
            <a:off x="4657771" y="5936473"/>
            <a:ext cx="360000" cy="360248"/>
          </a:xfrm>
          <a:prstGeom prst="ellipse">
            <a:avLst/>
          </a:prstGeom>
          <a:solidFill>
            <a:schemeClr val="accent5">
              <a:lumMod val="75000"/>
            </a:schemeClr>
          </a:solidFill>
          <a:ln>
            <a:solidFill>
              <a:schemeClr val="accent1"/>
            </a:solidFill>
          </a:ln>
          <a:effectLst>
            <a:outerShdw blurRad="63500" sx="102000" sy="102000" algn="ctr"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Rectangle 24">
            <a:extLst>
              <a:ext uri="{FF2B5EF4-FFF2-40B4-BE49-F238E27FC236}">
                <a16:creationId xmlns:a16="http://schemas.microsoft.com/office/drawing/2014/main" id="{B64565FA-6031-4B3B-A62A-0C21EF1EA3CB}"/>
              </a:ext>
            </a:extLst>
          </p:cNvPr>
          <p:cNvSpPr/>
          <p:nvPr/>
        </p:nvSpPr>
        <p:spPr>
          <a:xfrm>
            <a:off x="5294807" y="1310857"/>
            <a:ext cx="5551033" cy="466772"/>
          </a:xfrm>
          <a:prstGeom prst="rect">
            <a:avLst/>
          </a:prstGeom>
          <a:solidFill>
            <a:schemeClr val="bg1"/>
          </a:solidFill>
          <a:ln>
            <a:solidFill>
              <a:schemeClr val="accent5">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latin typeface="Times New Roman" panose="02020603050405020304" pitchFamily="18" charset="0"/>
                <a:cs typeface="Times New Roman" panose="02020603050405020304" pitchFamily="18" charset="0"/>
              </a:rPr>
              <a:t>INTRODUCTION</a:t>
            </a:r>
          </a:p>
        </p:txBody>
      </p:sp>
      <p:sp>
        <p:nvSpPr>
          <p:cNvPr id="26" name="Rectangle 25">
            <a:extLst>
              <a:ext uri="{FF2B5EF4-FFF2-40B4-BE49-F238E27FC236}">
                <a16:creationId xmlns:a16="http://schemas.microsoft.com/office/drawing/2014/main" id="{F7F4F9A1-3EDD-4569-8B6D-3E1F12F30B6C}"/>
              </a:ext>
            </a:extLst>
          </p:cNvPr>
          <p:cNvSpPr/>
          <p:nvPr/>
        </p:nvSpPr>
        <p:spPr>
          <a:xfrm>
            <a:off x="5899732" y="2240037"/>
            <a:ext cx="6057042" cy="466772"/>
          </a:xfrm>
          <a:prstGeom prst="rect">
            <a:avLst/>
          </a:prstGeom>
          <a:solidFill>
            <a:schemeClr val="bg1"/>
          </a:solidFill>
          <a:ln>
            <a:solidFill>
              <a:schemeClr val="accent5"/>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latin typeface="Times New Roman" panose="02020603050405020304" pitchFamily="18" charset="0"/>
                <a:cs typeface="Times New Roman" panose="02020603050405020304" pitchFamily="18" charset="0"/>
              </a:rPr>
              <a:t>PRESENTATION DE LA ZONE D’ETUDE</a:t>
            </a:r>
          </a:p>
        </p:txBody>
      </p:sp>
      <p:sp>
        <p:nvSpPr>
          <p:cNvPr id="27" name="Rectangle 26">
            <a:extLst>
              <a:ext uri="{FF2B5EF4-FFF2-40B4-BE49-F238E27FC236}">
                <a16:creationId xmlns:a16="http://schemas.microsoft.com/office/drawing/2014/main" id="{0E5EEFDE-FD53-470D-A8C2-499BCAC5FB9E}"/>
              </a:ext>
            </a:extLst>
          </p:cNvPr>
          <p:cNvSpPr/>
          <p:nvPr/>
        </p:nvSpPr>
        <p:spPr>
          <a:xfrm>
            <a:off x="6521255" y="3119170"/>
            <a:ext cx="5551034" cy="466772"/>
          </a:xfrm>
          <a:prstGeom prst="rect">
            <a:avLst/>
          </a:prstGeom>
          <a:solidFill>
            <a:schemeClr val="bg1"/>
          </a:solidFill>
          <a:ln>
            <a:solidFill>
              <a:schemeClr val="accent5"/>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latin typeface="Times New Roman" panose="02020603050405020304" pitchFamily="18" charset="0"/>
                <a:cs typeface="Times New Roman" panose="02020603050405020304" pitchFamily="18" charset="0"/>
              </a:rPr>
              <a:t>DONNEES</a:t>
            </a:r>
            <a:endParaRPr lang="fr-BJ" sz="2400" b="1"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0306EB09-6986-40A7-9A91-7ED5FDC6FA4F}"/>
              </a:ext>
            </a:extLst>
          </p:cNvPr>
          <p:cNvSpPr/>
          <p:nvPr/>
        </p:nvSpPr>
        <p:spPr>
          <a:xfrm>
            <a:off x="6568701" y="4125359"/>
            <a:ext cx="5503588" cy="466772"/>
          </a:xfrm>
          <a:prstGeom prst="rect">
            <a:avLst/>
          </a:prstGeom>
          <a:solidFill>
            <a:schemeClr val="bg1"/>
          </a:solidFill>
          <a:ln>
            <a:solidFill>
              <a:schemeClr val="accent5"/>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latin typeface="Times New Roman" panose="02020603050405020304" pitchFamily="18" charset="0"/>
                <a:cs typeface="Times New Roman" panose="02020603050405020304" pitchFamily="18" charset="0"/>
              </a:rPr>
              <a:t>MATERIEL ET METHODE</a:t>
            </a:r>
            <a:endParaRPr lang="fr-BJ" sz="2400" b="1" dirty="0">
              <a:solidFill>
                <a:schemeClr val="tx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6151569E-4BD4-4A3E-890A-C2A4C5B06162}"/>
              </a:ext>
            </a:extLst>
          </p:cNvPr>
          <p:cNvSpPr/>
          <p:nvPr/>
        </p:nvSpPr>
        <p:spPr>
          <a:xfrm>
            <a:off x="5899731" y="4960398"/>
            <a:ext cx="6057041" cy="466772"/>
          </a:xfrm>
          <a:prstGeom prst="rect">
            <a:avLst/>
          </a:prstGeom>
          <a:solidFill>
            <a:schemeClr val="bg1"/>
          </a:solidFill>
          <a:ln>
            <a:solidFill>
              <a:schemeClr val="accent5">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latin typeface="Times New Roman" panose="02020603050405020304" pitchFamily="18" charset="0"/>
                <a:cs typeface="Times New Roman" panose="02020603050405020304" pitchFamily="18" charset="0"/>
              </a:rPr>
              <a:t>RESULTATS ET DISCUSSION</a:t>
            </a:r>
            <a:endParaRPr lang="fr-BJ" sz="2400" b="1" dirty="0">
              <a:solidFill>
                <a:schemeClr val="tx1"/>
              </a:solidFill>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821B702E-7060-4CED-A1A5-D58FB71B957F}"/>
              </a:ext>
            </a:extLst>
          </p:cNvPr>
          <p:cNvSpPr/>
          <p:nvPr/>
        </p:nvSpPr>
        <p:spPr>
          <a:xfrm>
            <a:off x="5294808" y="5898448"/>
            <a:ext cx="5551034" cy="466772"/>
          </a:xfrm>
          <a:prstGeom prst="rect">
            <a:avLst/>
          </a:prstGeom>
          <a:solidFill>
            <a:schemeClr val="bg1"/>
          </a:solidFill>
          <a:ln>
            <a:solidFill>
              <a:schemeClr val="accent5">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latin typeface="Times New Roman" panose="02020603050405020304" pitchFamily="18" charset="0"/>
                <a:cs typeface="Times New Roman" panose="02020603050405020304" pitchFamily="18" charset="0"/>
              </a:rPr>
              <a:t>CONCLUSION ET PERSPECTIVES</a:t>
            </a:r>
            <a:endParaRPr lang="fr-BJ" sz="2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34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B3F43C-F365-443B-A503-B5DFB2D3035F}"/>
              </a:ext>
            </a:extLst>
          </p:cNvPr>
          <p:cNvSpPr/>
          <p:nvPr/>
        </p:nvSpPr>
        <p:spPr>
          <a:xfrm>
            <a:off x="0" y="23717"/>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INTRODUCTION (1/4 ) </a:t>
            </a:r>
          </a:p>
        </p:txBody>
      </p:sp>
      <p:pic>
        <p:nvPicPr>
          <p:cNvPr id="6" name="Image 5">
            <a:extLst>
              <a:ext uri="{FF2B5EF4-FFF2-40B4-BE49-F238E27FC236}">
                <a16:creationId xmlns:a16="http://schemas.microsoft.com/office/drawing/2014/main" id="{C99DCF26-6360-4255-A347-22125F4D7B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82" y="1615066"/>
            <a:ext cx="2850509" cy="1901796"/>
          </a:xfrm>
          <a:prstGeom prst="rect">
            <a:avLst/>
          </a:prstGeom>
        </p:spPr>
      </p:pic>
      <p:sp>
        <p:nvSpPr>
          <p:cNvPr id="8" name="Rectangle 7">
            <a:extLst>
              <a:ext uri="{FF2B5EF4-FFF2-40B4-BE49-F238E27FC236}">
                <a16:creationId xmlns:a16="http://schemas.microsoft.com/office/drawing/2014/main" id="{5935336B-EB06-4002-910B-E46CA36F1441}"/>
              </a:ext>
            </a:extLst>
          </p:cNvPr>
          <p:cNvSpPr/>
          <p:nvPr/>
        </p:nvSpPr>
        <p:spPr>
          <a:xfrm>
            <a:off x="3321424" y="1682652"/>
            <a:ext cx="591670" cy="34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7290865-6651-4296-A1C4-FC1DFA13C9CA}"/>
              </a:ext>
            </a:extLst>
          </p:cNvPr>
          <p:cNvSpPr/>
          <p:nvPr/>
        </p:nvSpPr>
        <p:spPr>
          <a:xfrm>
            <a:off x="3913094" y="1099505"/>
            <a:ext cx="3677636" cy="1203020"/>
          </a:xfrm>
          <a:prstGeom prst="rect">
            <a:avLst/>
          </a:prstGeom>
          <a:no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Urbanisation incontrôlée en Afrique de l’Ouest (47 % en 2020 selon OCDE, 2021)</a:t>
            </a:r>
          </a:p>
        </p:txBody>
      </p:sp>
      <p:sp>
        <p:nvSpPr>
          <p:cNvPr id="11" name="Rectangle 10">
            <a:extLst>
              <a:ext uri="{FF2B5EF4-FFF2-40B4-BE49-F238E27FC236}">
                <a16:creationId xmlns:a16="http://schemas.microsoft.com/office/drawing/2014/main" id="{116CF18B-B912-4F6C-AAE5-AE294BA8DAD7}"/>
              </a:ext>
            </a:extLst>
          </p:cNvPr>
          <p:cNvSpPr/>
          <p:nvPr/>
        </p:nvSpPr>
        <p:spPr>
          <a:xfrm>
            <a:off x="7590730" y="1682651"/>
            <a:ext cx="490952" cy="34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692CFD35-22EA-48E0-A095-66ACEC55DBFC}"/>
              </a:ext>
            </a:extLst>
          </p:cNvPr>
          <p:cNvSpPr/>
          <p:nvPr/>
        </p:nvSpPr>
        <p:spPr>
          <a:xfrm>
            <a:off x="8081682" y="1144756"/>
            <a:ext cx="3576918" cy="1157769"/>
          </a:xfrm>
          <a:prstGeom prst="rect">
            <a:avLst/>
          </a:prstGeom>
          <a:no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Augmentation de l’imperméabilisation des sols</a:t>
            </a:r>
            <a:endParaRPr lang="fr-FR" sz="2400" dirty="0">
              <a:latin typeface="Times New Roman" panose="02020603050405020304" pitchFamily="18" charset="0"/>
              <a:cs typeface="Times New Roman" panose="02020603050405020304" pitchFamily="18" charset="0"/>
            </a:endParaRPr>
          </a:p>
        </p:txBody>
      </p:sp>
      <p:sp>
        <p:nvSpPr>
          <p:cNvPr id="13" name="Flèche : bas 12">
            <a:extLst>
              <a:ext uri="{FF2B5EF4-FFF2-40B4-BE49-F238E27FC236}">
                <a16:creationId xmlns:a16="http://schemas.microsoft.com/office/drawing/2014/main" id="{6568FD48-E2CB-4720-A90D-0C17634522DA}"/>
              </a:ext>
            </a:extLst>
          </p:cNvPr>
          <p:cNvSpPr/>
          <p:nvPr/>
        </p:nvSpPr>
        <p:spPr>
          <a:xfrm>
            <a:off x="7638648" y="2031402"/>
            <a:ext cx="390234" cy="6719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A654E904-5B3B-4E50-899A-D76F8AED6FD1}"/>
              </a:ext>
            </a:extLst>
          </p:cNvPr>
          <p:cNvSpPr/>
          <p:nvPr/>
        </p:nvSpPr>
        <p:spPr>
          <a:xfrm>
            <a:off x="5997388" y="2703312"/>
            <a:ext cx="3576918" cy="1451375"/>
          </a:xfrm>
          <a:prstGeom prst="rect">
            <a:avLst/>
          </a:prstGeom>
          <a:no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Augmentation du ruissellement pluvial et risque accrue aux inondations</a:t>
            </a:r>
            <a:endParaRPr lang="fr-FR" sz="2400"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AD1EF1EF-5255-429E-96F6-BCD0ADDE7F6D}"/>
              </a:ext>
            </a:extLst>
          </p:cNvPr>
          <p:cNvSpPr/>
          <p:nvPr/>
        </p:nvSpPr>
        <p:spPr>
          <a:xfrm>
            <a:off x="3038766" y="922877"/>
            <a:ext cx="282658" cy="59114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9B8F512E-8E03-4AE1-BF6A-8ED1E6E1A648}"/>
              </a:ext>
            </a:extLst>
          </p:cNvPr>
          <p:cNvSpPr/>
          <p:nvPr/>
        </p:nvSpPr>
        <p:spPr>
          <a:xfrm>
            <a:off x="3326177" y="5364492"/>
            <a:ext cx="591670" cy="34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57A92BEC-6491-4C11-B690-5BCB030ED4E2}"/>
              </a:ext>
            </a:extLst>
          </p:cNvPr>
          <p:cNvSpPr/>
          <p:nvPr/>
        </p:nvSpPr>
        <p:spPr>
          <a:xfrm>
            <a:off x="3922600" y="4813179"/>
            <a:ext cx="3668130" cy="1598638"/>
          </a:xfrm>
          <a:prstGeom prst="rect">
            <a:avLst/>
          </a:prstGeom>
          <a:no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Cotonou concernée avec un climat tropicale, 1328mm de pluie moyenne par an sur la période de 1993 à 2023</a:t>
            </a:r>
          </a:p>
        </p:txBody>
      </p:sp>
      <p:sp>
        <p:nvSpPr>
          <p:cNvPr id="20" name="Flèche : bas 19">
            <a:extLst>
              <a:ext uri="{FF2B5EF4-FFF2-40B4-BE49-F238E27FC236}">
                <a16:creationId xmlns:a16="http://schemas.microsoft.com/office/drawing/2014/main" id="{82E57A4B-0DC9-4E72-AD3E-5B536376363E}"/>
              </a:ext>
            </a:extLst>
          </p:cNvPr>
          <p:cNvSpPr/>
          <p:nvPr/>
        </p:nvSpPr>
        <p:spPr>
          <a:xfrm>
            <a:off x="5423691" y="2302525"/>
            <a:ext cx="183463" cy="25106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lèche : bas 20">
            <a:extLst>
              <a:ext uri="{FF2B5EF4-FFF2-40B4-BE49-F238E27FC236}">
                <a16:creationId xmlns:a16="http://schemas.microsoft.com/office/drawing/2014/main" id="{E0C5424C-6E0B-4CB4-97ED-0DB5B20D1760}"/>
              </a:ext>
            </a:extLst>
          </p:cNvPr>
          <p:cNvSpPr/>
          <p:nvPr/>
        </p:nvSpPr>
        <p:spPr>
          <a:xfrm>
            <a:off x="1304314" y="3518556"/>
            <a:ext cx="390234" cy="7716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3" name="Image 22">
            <a:extLst>
              <a:ext uri="{FF2B5EF4-FFF2-40B4-BE49-F238E27FC236}">
                <a16:creationId xmlns:a16="http://schemas.microsoft.com/office/drawing/2014/main" id="{E4436A14-0B8E-4B42-9D83-2314C3167C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5" y="4290224"/>
            <a:ext cx="2863336" cy="1905420"/>
          </a:xfrm>
          <a:prstGeom prst="rect">
            <a:avLst/>
          </a:prstGeom>
        </p:spPr>
      </p:pic>
      <p:sp>
        <p:nvSpPr>
          <p:cNvPr id="18" name="ZoneTexte 17">
            <a:extLst>
              <a:ext uri="{FF2B5EF4-FFF2-40B4-BE49-F238E27FC236}">
                <a16:creationId xmlns:a16="http://schemas.microsoft.com/office/drawing/2014/main" id="{E3724842-6F19-4B70-A495-ACEA0EE2747A}"/>
              </a:ext>
            </a:extLst>
          </p:cNvPr>
          <p:cNvSpPr txBox="1"/>
          <p:nvPr/>
        </p:nvSpPr>
        <p:spPr>
          <a:xfrm>
            <a:off x="5058626" y="6346451"/>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2104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inVertical)">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arn(inVertical)">
                                      <p:cBhvr>
                                        <p:cTn id="35" dur="500"/>
                                        <p:tgtEl>
                                          <p:spTgt spid="19"/>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barn(inVertical)">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DEB2B3E8-5BE4-4877-8AAE-63B502E9D747}"/>
              </a:ext>
            </a:extLst>
          </p:cNvPr>
          <p:cNvSpPr txBox="1"/>
          <p:nvPr/>
        </p:nvSpPr>
        <p:spPr>
          <a:xfrm>
            <a:off x="44020" y="1014926"/>
            <a:ext cx="2522910" cy="1200329"/>
          </a:xfrm>
          <a:prstGeom prst="rect">
            <a:avLst/>
          </a:prstGeom>
          <a:noFill/>
          <a:ln w="28575">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Absence de contrôle efficace de l’urbanisation </a:t>
            </a:r>
          </a:p>
        </p:txBody>
      </p:sp>
      <p:sp>
        <p:nvSpPr>
          <p:cNvPr id="7" name="Rectangle 6">
            <a:extLst>
              <a:ext uri="{FF2B5EF4-FFF2-40B4-BE49-F238E27FC236}">
                <a16:creationId xmlns:a16="http://schemas.microsoft.com/office/drawing/2014/main" id="{81910774-2757-413E-903B-638A733CC4CB}"/>
              </a:ext>
            </a:extLst>
          </p:cNvPr>
          <p:cNvSpPr/>
          <p:nvPr/>
        </p:nvSpPr>
        <p:spPr>
          <a:xfrm>
            <a:off x="-11018" y="249"/>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INTRODUCTION (3/4) </a:t>
            </a:r>
          </a:p>
        </p:txBody>
      </p:sp>
      <p:sp>
        <p:nvSpPr>
          <p:cNvPr id="8" name="ZoneTexte 7">
            <a:extLst>
              <a:ext uri="{FF2B5EF4-FFF2-40B4-BE49-F238E27FC236}">
                <a16:creationId xmlns:a16="http://schemas.microsoft.com/office/drawing/2014/main" id="{3DC8A45F-4C37-48D5-9834-619AC1ED6DC6}"/>
              </a:ext>
            </a:extLst>
          </p:cNvPr>
          <p:cNvSpPr txBox="1"/>
          <p:nvPr/>
        </p:nvSpPr>
        <p:spPr>
          <a:xfrm>
            <a:off x="2645802" y="1243927"/>
            <a:ext cx="506870" cy="769441"/>
          </a:xfrm>
          <a:prstGeom prst="rect">
            <a:avLst/>
          </a:prstGeom>
          <a:noFill/>
        </p:spPr>
        <p:txBody>
          <a:bodyPr wrap="none" rtlCol="0">
            <a:spAutoFit/>
          </a:bodyPr>
          <a:lstStyle/>
          <a:p>
            <a:r>
              <a:rPr lang="fr-FR" sz="4400" b="1" dirty="0">
                <a:latin typeface="Times New Roman" panose="02020603050405020304" pitchFamily="18" charset="0"/>
                <a:cs typeface="Times New Roman" panose="02020603050405020304" pitchFamily="18" charset="0"/>
              </a:rPr>
              <a:t>+</a:t>
            </a:r>
          </a:p>
        </p:txBody>
      </p:sp>
      <p:sp>
        <p:nvSpPr>
          <p:cNvPr id="9" name="ZoneTexte 8">
            <a:extLst>
              <a:ext uri="{FF2B5EF4-FFF2-40B4-BE49-F238E27FC236}">
                <a16:creationId xmlns:a16="http://schemas.microsoft.com/office/drawing/2014/main" id="{20182523-8D98-4285-AC5A-A6C88BDF6104}"/>
              </a:ext>
            </a:extLst>
          </p:cNvPr>
          <p:cNvSpPr txBox="1"/>
          <p:nvPr/>
        </p:nvSpPr>
        <p:spPr>
          <a:xfrm>
            <a:off x="3283120" y="1014926"/>
            <a:ext cx="2625710" cy="1200329"/>
          </a:xfrm>
          <a:prstGeom prst="rect">
            <a:avLst/>
          </a:prstGeom>
          <a:noFill/>
          <a:ln w="28575">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Effets du changement climatique </a:t>
            </a:r>
          </a:p>
        </p:txBody>
      </p:sp>
      <p:sp>
        <p:nvSpPr>
          <p:cNvPr id="10" name="Flèche : droite 9">
            <a:extLst>
              <a:ext uri="{FF2B5EF4-FFF2-40B4-BE49-F238E27FC236}">
                <a16:creationId xmlns:a16="http://schemas.microsoft.com/office/drawing/2014/main" id="{9C1D2347-1654-4DA0-BDB8-0E1FA9CA37C0}"/>
              </a:ext>
            </a:extLst>
          </p:cNvPr>
          <p:cNvSpPr/>
          <p:nvPr/>
        </p:nvSpPr>
        <p:spPr>
          <a:xfrm>
            <a:off x="5908830" y="1527300"/>
            <a:ext cx="1450436" cy="2464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7509865E-894D-495E-AE42-3DEEAC3043DD}"/>
              </a:ext>
            </a:extLst>
          </p:cNvPr>
          <p:cNvSpPr txBox="1"/>
          <p:nvPr/>
        </p:nvSpPr>
        <p:spPr>
          <a:xfrm>
            <a:off x="7359266" y="1014926"/>
            <a:ext cx="4766679" cy="1200329"/>
          </a:xfrm>
          <a:prstGeom prst="rect">
            <a:avLst/>
          </a:prstGeom>
          <a:noFill/>
          <a:ln w="28575">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Augmentation des phénomènes d’inondations dans les prochaines années </a:t>
            </a:r>
          </a:p>
        </p:txBody>
      </p:sp>
      <p:sp>
        <p:nvSpPr>
          <p:cNvPr id="12" name="ZoneTexte 11">
            <a:extLst>
              <a:ext uri="{FF2B5EF4-FFF2-40B4-BE49-F238E27FC236}">
                <a16:creationId xmlns:a16="http://schemas.microsoft.com/office/drawing/2014/main" id="{3A725182-C8A6-4E9C-AF23-8DAE870166C4}"/>
              </a:ext>
            </a:extLst>
          </p:cNvPr>
          <p:cNvSpPr txBox="1"/>
          <p:nvPr/>
        </p:nvSpPr>
        <p:spPr>
          <a:xfrm>
            <a:off x="44019" y="2747857"/>
            <a:ext cx="2522909" cy="1938992"/>
          </a:xfrm>
          <a:prstGeom prst="rect">
            <a:avLst/>
          </a:prstGeom>
          <a:noFill/>
          <a:ln w="28575">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Projections climatiques pour l’Afrique de l’Ouest </a:t>
            </a:r>
            <a:r>
              <a:rPr lang="fr-FR" sz="2400" dirty="0" err="1">
                <a:latin typeface="Times New Roman" panose="02020603050405020304" pitchFamily="18" charset="0"/>
                <a:cs typeface="Times New Roman" panose="02020603050405020304" pitchFamily="18" charset="0"/>
              </a:rPr>
              <a:t>Roudier</a:t>
            </a:r>
            <a:r>
              <a:rPr lang="fr-FR" sz="2400" dirty="0">
                <a:latin typeface="Times New Roman" panose="02020603050405020304" pitchFamily="18" charset="0"/>
                <a:cs typeface="Times New Roman" panose="02020603050405020304" pitchFamily="18" charset="0"/>
              </a:rPr>
              <a:t> et al. (2024)</a:t>
            </a:r>
          </a:p>
        </p:txBody>
      </p:sp>
      <p:sp>
        <p:nvSpPr>
          <p:cNvPr id="13" name="Flèche : droite 12">
            <a:extLst>
              <a:ext uri="{FF2B5EF4-FFF2-40B4-BE49-F238E27FC236}">
                <a16:creationId xmlns:a16="http://schemas.microsoft.com/office/drawing/2014/main" id="{C39B7B56-2E76-4906-8B2A-21D5843C0203}"/>
              </a:ext>
            </a:extLst>
          </p:cNvPr>
          <p:cNvSpPr/>
          <p:nvPr/>
        </p:nvSpPr>
        <p:spPr>
          <a:xfrm>
            <a:off x="2566930" y="3544100"/>
            <a:ext cx="506870" cy="1889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F514E574-583B-42BF-A788-EC74619EFE28}"/>
              </a:ext>
            </a:extLst>
          </p:cNvPr>
          <p:cNvSpPr txBox="1"/>
          <p:nvPr/>
        </p:nvSpPr>
        <p:spPr>
          <a:xfrm>
            <a:off x="3096041" y="2727629"/>
            <a:ext cx="2812787" cy="1938992"/>
          </a:xfrm>
          <a:prstGeom prst="rect">
            <a:avLst/>
          </a:prstGeom>
          <a:noFill/>
          <a:ln w="28575">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fr-FR" sz="2400" dirty="0">
                <a:latin typeface="Times New Roman" panose="02020603050405020304" pitchFamily="18" charset="0"/>
                <a:cs typeface="Times New Roman" panose="02020603050405020304" pitchFamily="18" charset="0"/>
              </a:rPr>
              <a:t>Augmentation de la variabilité climatique avec </a:t>
            </a:r>
            <a:r>
              <a:rPr lang="fr-FR" sz="2400" dirty="0">
                <a:solidFill>
                  <a:srgbClr val="C00000"/>
                </a:solidFill>
                <a:latin typeface="Times New Roman" panose="02020603050405020304" pitchFamily="18" charset="0"/>
                <a:cs typeface="Times New Roman" panose="02020603050405020304" pitchFamily="18" charset="0"/>
              </a:rPr>
              <a:t>intensification des évènements extrêmes </a:t>
            </a:r>
          </a:p>
        </p:txBody>
      </p:sp>
      <p:sp>
        <p:nvSpPr>
          <p:cNvPr id="16" name="Flèche : angle droit 15">
            <a:extLst>
              <a:ext uri="{FF2B5EF4-FFF2-40B4-BE49-F238E27FC236}">
                <a16:creationId xmlns:a16="http://schemas.microsoft.com/office/drawing/2014/main" id="{5FE405E6-44B9-447F-B826-613E6115D5F6}"/>
              </a:ext>
            </a:extLst>
          </p:cNvPr>
          <p:cNvSpPr/>
          <p:nvPr/>
        </p:nvSpPr>
        <p:spPr>
          <a:xfrm>
            <a:off x="5908830" y="1729187"/>
            <a:ext cx="1042813" cy="1938992"/>
          </a:xfrm>
          <a:prstGeom prst="bentUpArrow">
            <a:avLst>
              <a:gd name="adj1" fmla="val 11688"/>
              <a:gd name="adj2" fmla="val 25000"/>
              <a:gd name="adj3" fmla="val 415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Légende : flèche vers le bas 17">
            <a:extLst>
              <a:ext uri="{FF2B5EF4-FFF2-40B4-BE49-F238E27FC236}">
                <a16:creationId xmlns:a16="http://schemas.microsoft.com/office/drawing/2014/main" id="{8A974573-31A3-4D28-BAB9-ECB0EF2B4B4B}"/>
              </a:ext>
            </a:extLst>
          </p:cNvPr>
          <p:cNvSpPr/>
          <p:nvPr/>
        </p:nvSpPr>
        <p:spPr>
          <a:xfrm>
            <a:off x="0" y="4847422"/>
            <a:ext cx="12192000" cy="483278"/>
          </a:xfrm>
          <a:prstGeom prst="downArrowCallout">
            <a:avLst>
              <a:gd name="adj1" fmla="val 20181"/>
              <a:gd name="adj2" fmla="val 21385"/>
              <a:gd name="adj3" fmla="val 37530"/>
              <a:gd name="adj4" fmla="val 276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
            <a:extLst>
              <a:ext uri="{FF2B5EF4-FFF2-40B4-BE49-F238E27FC236}">
                <a16:creationId xmlns:a16="http://schemas.microsoft.com/office/drawing/2014/main" id="{36BA2F37-537C-48FB-91C4-D4C44DE48BB8}"/>
              </a:ext>
            </a:extLst>
          </p:cNvPr>
          <p:cNvSpPr>
            <a:spLocks noChangeArrowheads="1"/>
          </p:cNvSpPr>
          <p:nvPr/>
        </p:nvSpPr>
        <p:spPr bwMode="auto">
          <a:xfrm>
            <a:off x="728764" y="5306607"/>
            <a:ext cx="107344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zh-CN"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Il devient donc impératif de mener des études afin de mieux prévenir les inondations et</a:t>
            </a:r>
            <a:r>
              <a:rPr kumimoji="0" lang="fr-FR" altLang="zh-CN" sz="2400" b="0" i="0" u="none" strike="noStrike" cap="none" normalizeH="0" baseline="0" dirty="0">
                <a:ln>
                  <a:noFill/>
                </a:ln>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 </a:t>
            </a:r>
            <a:r>
              <a:rPr kumimoji="0" lang="fr-FR" altLang="zh-CN"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d’aider les décideurs pour l’installation des infrastructures de drainag</a:t>
            </a:r>
            <a:r>
              <a:rPr kumimoji="0" lang="fr-FR" altLang="zh-CN" sz="2400" b="0" i="0" u="none" strike="noStrike" cap="none" normalizeH="0" baseline="0" dirty="0">
                <a:ln>
                  <a:noFill/>
                </a:ln>
                <a:effectLst/>
                <a:latin typeface="Times New Roman" panose="02020603050405020304" pitchFamily="18" charset="0"/>
                <a:ea typeface="SimSun" panose="02010600030101010101" pitchFamily="2" charset="-122"/>
                <a:cs typeface="Times New Roman" panose="02020603050405020304" pitchFamily="18" charset="0"/>
              </a:rPr>
              <a:t>es dans les villes comme Cotonou</a:t>
            </a:r>
            <a:r>
              <a:rPr kumimoji="0" lang="fr-FR" altLang="zh-CN" sz="1200" b="0" i="0" u="none" strike="noStrike" cap="none" normalizeH="0" baseline="0" dirty="0">
                <a:ln>
                  <a:noFill/>
                </a:ln>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a:t>
            </a:r>
            <a:endParaRPr kumimoji="0" lang="fr-FR" altLang="zh-CN" sz="1800" b="0" i="0" u="none" strike="noStrike" cap="none" normalizeH="0" baseline="0" dirty="0">
              <a:ln>
                <a:noFill/>
              </a:ln>
              <a:solidFill>
                <a:schemeClr val="tx1"/>
              </a:solidFill>
              <a:effectLst/>
              <a:latin typeface="Arial" panose="020B0604020202020204" pitchFamily="34" charset="0"/>
            </a:endParaRPr>
          </a:p>
        </p:txBody>
      </p:sp>
      <p:sp>
        <p:nvSpPr>
          <p:cNvPr id="15" name="ZoneTexte 14">
            <a:extLst>
              <a:ext uri="{FF2B5EF4-FFF2-40B4-BE49-F238E27FC236}">
                <a16:creationId xmlns:a16="http://schemas.microsoft.com/office/drawing/2014/main" id="{991E76F8-780E-4A80-BA4E-F7A3A443643D}"/>
              </a:ext>
            </a:extLst>
          </p:cNvPr>
          <p:cNvSpPr txBox="1"/>
          <p:nvPr/>
        </p:nvSpPr>
        <p:spPr>
          <a:xfrm>
            <a:off x="5058626" y="6346451"/>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3124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7279E1-3364-4C71-A772-43B54B8A5B1E}"/>
              </a:ext>
            </a:extLst>
          </p:cNvPr>
          <p:cNvSpPr/>
          <p:nvPr/>
        </p:nvSpPr>
        <p:spPr>
          <a:xfrm>
            <a:off x="-11018" y="249"/>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INTRODUCTION (4/4) </a:t>
            </a:r>
          </a:p>
        </p:txBody>
      </p:sp>
      <p:sp>
        <p:nvSpPr>
          <p:cNvPr id="7" name="ZoneTexte 6">
            <a:extLst>
              <a:ext uri="{FF2B5EF4-FFF2-40B4-BE49-F238E27FC236}">
                <a16:creationId xmlns:a16="http://schemas.microsoft.com/office/drawing/2014/main" id="{8993E614-75DF-4541-A24B-ABAFBD79103B}"/>
              </a:ext>
            </a:extLst>
          </p:cNvPr>
          <p:cNvSpPr txBox="1"/>
          <p:nvPr/>
        </p:nvSpPr>
        <p:spPr>
          <a:xfrm>
            <a:off x="0" y="899409"/>
            <a:ext cx="12180982" cy="461665"/>
          </a:xfrm>
          <a:prstGeom prst="rect">
            <a:avLst/>
          </a:prstGeom>
          <a:noFill/>
        </p:spPr>
        <p:txBody>
          <a:bodyPr wrap="square">
            <a:spAutoFit/>
          </a:bodyPr>
          <a:lstStyle/>
          <a:p>
            <a:pPr marL="342900" indent="-342900" algn="ctr">
              <a:buFont typeface="Wingdings" panose="05000000000000000000" pitchFamily="2" charset="2"/>
              <a:buChar char="v"/>
            </a:pPr>
            <a:r>
              <a:rPr lang="fr-FR" sz="2400" b="1" dirty="0">
                <a:latin typeface="Times New Roman" panose="02020603050405020304" pitchFamily="18" charset="0"/>
                <a:ea typeface="Cambria Math" panose="02040503050406030204" pitchFamily="18" charset="0"/>
                <a:cs typeface="Times New Roman" panose="02020603050405020304" pitchFamily="18" charset="0"/>
              </a:rPr>
              <a:t>Objectif général</a:t>
            </a:r>
            <a:endParaRPr lang="en-US" sz="2400" dirty="0">
              <a:latin typeface="Times New Roman" panose="02020603050405020304" pitchFamily="18" charset="0"/>
              <a:cs typeface="Times New Roman" panose="02020603050405020304" pitchFamily="18" charset="0"/>
            </a:endParaRPr>
          </a:p>
        </p:txBody>
      </p:sp>
      <p:sp>
        <p:nvSpPr>
          <p:cNvPr id="10" name="Rectangle : coins arrondis 9">
            <a:extLst>
              <a:ext uri="{FF2B5EF4-FFF2-40B4-BE49-F238E27FC236}">
                <a16:creationId xmlns:a16="http://schemas.microsoft.com/office/drawing/2014/main" id="{FF2E5005-7ACA-4DB4-9115-B5997DA40D93}"/>
              </a:ext>
            </a:extLst>
          </p:cNvPr>
          <p:cNvSpPr/>
          <p:nvPr/>
        </p:nvSpPr>
        <p:spPr>
          <a:xfrm>
            <a:off x="890528" y="1361074"/>
            <a:ext cx="10611081" cy="1194839"/>
          </a:xfrm>
          <a:prstGeom prst="roundRect">
            <a:avLst/>
          </a:prstGeom>
          <a:noFill/>
          <a:ln w="28575">
            <a:solidFill>
              <a:schemeClr val="accent1">
                <a:lumMod val="7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Évaluer le comportement hydrologique du bassin versant drainé par le collecteur </a:t>
            </a:r>
            <a:r>
              <a:rPr lang="fr-FR" sz="2400" b="1" kern="100" dirty="0" err="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Qb</a:t>
            </a:r>
            <a:r>
              <a:rPr lang="fr-FR" sz="2400" b="1" kern="1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afin </a:t>
            </a:r>
            <a:r>
              <a:rPr lang="fr-FR" sz="2400" b="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de mieux gérer les risques d’inondations dans la ville </a:t>
            </a:r>
            <a:r>
              <a:rPr lang="fr-FR" sz="2400" b="1"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de Cotonou</a:t>
            </a:r>
            <a:endParaRPr lang="fr-FR" sz="2400" b="1" dirty="0">
              <a:solidFill>
                <a:schemeClr val="tx1"/>
              </a:solidFill>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F910272C-9C49-45E8-9B04-AD54E05C4D9F}"/>
              </a:ext>
            </a:extLst>
          </p:cNvPr>
          <p:cNvSpPr txBox="1"/>
          <p:nvPr/>
        </p:nvSpPr>
        <p:spPr>
          <a:xfrm>
            <a:off x="0" y="2652177"/>
            <a:ext cx="12180982" cy="461665"/>
          </a:xfrm>
          <a:prstGeom prst="rect">
            <a:avLst/>
          </a:prstGeom>
          <a:noFill/>
        </p:spPr>
        <p:txBody>
          <a:bodyPr wrap="square">
            <a:spAutoFit/>
          </a:bodyPr>
          <a:lstStyle/>
          <a:p>
            <a:pPr marL="342900" lvl="4" indent="-342900" algn="ctr">
              <a:buFont typeface="Wingdings" panose="05000000000000000000" pitchFamily="2" charset="2"/>
              <a:buChar char="v"/>
            </a:pPr>
            <a:r>
              <a:rPr lang="fr-FR" sz="2400" b="1" dirty="0">
                <a:latin typeface="Times New Roman" panose="02020603050405020304" pitchFamily="18" charset="0"/>
                <a:ea typeface="Cambria Math" panose="02040503050406030204" pitchFamily="18" charset="0"/>
                <a:cs typeface="Times New Roman" panose="02020603050405020304" pitchFamily="18" charset="0"/>
              </a:rPr>
              <a:t>Objectifs spécifiques </a:t>
            </a:r>
            <a:endParaRPr lang="en-US" sz="2400" dirty="0">
              <a:latin typeface="Times New Roman" panose="02020603050405020304" pitchFamily="18" charset="0"/>
              <a:cs typeface="Times New Roman" panose="02020603050405020304" pitchFamily="18" charset="0"/>
            </a:endParaRPr>
          </a:p>
        </p:txBody>
      </p:sp>
      <p:sp>
        <p:nvSpPr>
          <p:cNvPr id="14" name="Ellipse 13">
            <a:extLst>
              <a:ext uri="{FF2B5EF4-FFF2-40B4-BE49-F238E27FC236}">
                <a16:creationId xmlns:a16="http://schemas.microsoft.com/office/drawing/2014/main" id="{96E66A77-2B1A-4930-BE5A-6041DFEE81B6}"/>
              </a:ext>
            </a:extLst>
          </p:cNvPr>
          <p:cNvSpPr/>
          <p:nvPr/>
        </p:nvSpPr>
        <p:spPr>
          <a:xfrm>
            <a:off x="727114" y="3210106"/>
            <a:ext cx="881349" cy="3278829"/>
          </a:xfrm>
          <a:prstGeom prst="ellipse">
            <a:avLst/>
          </a:prstGeom>
          <a:solidFill>
            <a:schemeClr val="accent5">
              <a:lumMod val="20000"/>
              <a:lumOff val="80000"/>
            </a:schemeClr>
          </a:solidFill>
          <a:ln w="28575">
            <a:solidFill>
              <a:schemeClr val="accent1">
                <a:lumMod val="75000"/>
              </a:schemeClr>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Hexagone 18">
            <a:extLst>
              <a:ext uri="{FF2B5EF4-FFF2-40B4-BE49-F238E27FC236}">
                <a16:creationId xmlns:a16="http://schemas.microsoft.com/office/drawing/2014/main" id="{6A37C1FC-D1D3-45E5-9457-591CAE32FB9C}"/>
              </a:ext>
            </a:extLst>
          </p:cNvPr>
          <p:cNvSpPr/>
          <p:nvPr/>
        </p:nvSpPr>
        <p:spPr>
          <a:xfrm>
            <a:off x="969485" y="3204137"/>
            <a:ext cx="881349" cy="774560"/>
          </a:xfrm>
          <a:prstGeom prst="hexagon">
            <a:avLst/>
          </a:prstGeom>
          <a:solidFill>
            <a:schemeClr val="accent5">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tx1"/>
                </a:solidFill>
                <a:latin typeface="Times New Roman" panose="02020603050405020304" pitchFamily="18" charset="0"/>
                <a:cs typeface="Times New Roman" panose="02020603050405020304" pitchFamily="18" charset="0"/>
              </a:rPr>
              <a:t>1</a:t>
            </a:r>
          </a:p>
        </p:txBody>
      </p:sp>
      <p:sp>
        <p:nvSpPr>
          <p:cNvPr id="20" name="Hexagone 19">
            <a:extLst>
              <a:ext uri="{FF2B5EF4-FFF2-40B4-BE49-F238E27FC236}">
                <a16:creationId xmlns:a16="http://schemas.microsoft.com/office/drawing/2014/main" id="{1CF1CC1C-691C-4D8F-8CF6-6BD4C4E003CB}"/>
              </a:ext>
            </a:extLst>
          </p:cNvPr>
          <p:cNvSpPr/>
          <p:nvPr/>
        </p:nvSpPr>
        <p:spPr>
          <a:xfrm>
            <a:off x="1410159" y="4456271"/>
            <a:ext cx="881349" cy="774560"/>
          </a:xfrm>
          <a:prstGeom prst="hexagon">
            <a:avLst/>
          </a:prstGeom>
          <a:solidFill>
            <a:schemeClr val="accent5">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latin typeface="Times New Roman" panose="02020603050405020304" pitchFamily="18" charset="0"/>
                <a:cs typeface="Times New Roman" panose="02020603050405020304" pitchFamily="18" charset="0"/>
              </a:rPr>
              <a:t>2</a:t>
            </a:r>
          </a:p>
        </p:txBody>
      </p:sp>
      <p:sp>
        <p:nvSpPr>
          <p:cNvPr id="21" name="Hexagone 20">
            <a:extLst>
              <a:ext uri="{FF2B5EF4-FFF2-40B4-BE49-F238E27FC236}">
                <a16:creationId xmlns:a16="http://schemas.microsoft.com/office/drawing/2014/main" id="{F619C441-FB95-4457-860B-B72C248D745C}"/>
              </a:ext>
            </a:extLst>
          </p:cNvPr>
          <p:cNvSpPr/>
          <p:nvPr/>
        </p:nvSpPr>
        <p:spPr>
          <a:xfrm>
            <a:off x="958468" y="5714375"/>
            <a:ext cx="881349" cy="774560"/>
          </a:xfrm>
          <a:prstGeom prst="hexagon">
            <a:avLst/>
          </a:prstGeom>
          <a:solidFill>
            <a:schemeClr val="accent5">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latin typeface="Times New Roman" panose="02020603050405020304" pitchFamily="18" charset="0"/>
                <a:cs typeface="Times New Roman" panose="02020603050405020304" pitchFamily="18" charset="0"/>
              </a:rPr>
              <a:t>3</a:t>
            </a:r>
          </a:p>
        </p:txBody>
      </p:sp>
      <p:sp>
        <p:nvSpPr>
          <p:cNvPr id="22" name="Rectangle : coins arrondis 21">
            <a:extLst>
              <a:ext uri="{FF2B5EF4-FFF2-40B4-BE49-F238E27FC236}">
                <a16:creationId xmlns:a16="http://schemas.microsoft.com/office/drawing/2014/main" id="{9855E451-FECC-4E5A-BB7F-B94887BE9BAE}"/>
              </a:ext>
            </a:extLst>
          </p:cNvPr>
          <p:cNvSpPr/>
          <p:nvPr/>
        </p:nvSpPr>
        <p:spPr>
          <a:xfrm>
            <a:off x="1850834" y="3204137"/>
            <a:ext cx="8460954" cy="7745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Caractériser le bassin versant drainé par le collecteur </a:t>
            </a:r>
            <a:r>
              <a:rPr lang="fr-FR" sz="2400" dirty="0" err="1">
                <a:solidFill>
                  <a:schemeClr val="tx1"/>
                </a:solidFill>
                <a:latin typeface="Times New Roman" panose="02020603050405020304" pitchFamily="18" charset="0"/>
                <a:cs typeface="Times New Roman" panose="02020603050405020304" pitchFamily="18" charset="0"/>
              </a:rPr>
              <a:t>Qb</a:t>
            </a:r>
            <a:endParaRPr lang="fr-FR" sz="2400" dirty="0">
              <a:solidFill>
                <a:schemeClr val="tx1"/>
              </a:solidFill>
              <a:latin typeface="Times New Roman" panose="02020603050405020304" pitchFamily="18" charset="0"/>
              <a:cs typeface="Times New Roman" panose="02020603050405020304" pitchFamily="18" charset="0"/>
            </a:endParaRPr>
          </a:p>
        </p:txBody>
      </p:sp>
      <p:sp>
        <p:nvSpPr>
          <p:cNvPr id="26" name="Rectangle : coins arrondis 25">
            <a:extLst>
              <a:ext uri="{FF2B5EF4-FFF2-40B4-BE49-F238E27FC236}">
                <a16:creationId xmlns:a16="http://schemas.microsoft.com/office/drawing/2014/main" id="{70ACD22C-D930-4E42-862A-5A308F1B206B}"/>
              </a:ext>
            </a:extLst>
          </p:cNvPr>
          <p:cNvSpPr/>
          <p:nvPr/>
        </p:nvSpPr>
        <p:spPr>
          <a:xfrm>
            <a:off x="2291508" y="4456271"/>
            <a:ext cx="8460954" cy="7745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Analyser les fréquences des précipitations extrêmes dans le ville de Cotonou </a:t>
            </a:r>
          </a:p>
        </p:txBody>
      </p:sp>
      <p:sp>
        <p:nvSpPr>
          <p:cNvPr id="27" name="Rectangle : coins arrondis 26">
            <a:extLst>
              <a:ext uri="{FF2B5EF4-FFF2-40B4-BE49-F238E27FC236}">
                <a16:creationId xmlns:a16="http://schemas.microsoft.com/office/drawing/2014/main" id="{8D52AC94-7CC3-4327-AE6E-BA4E4BA18A68}"/>
              </a:ext>
            </a:extLst>
          </p:cNvPr>
          <p:cNvSpPr/>
          <p:nvPr/>
        </p:nvSpPr>
        <p:spPr>
          <a:xfrm>
            <a:off x="1839816" y="5708406"/>
            <a:ext cx="8460954" cy="77456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Times New Roman" panose="02020603050405020304" pitchFamily="18" charset="0"/>
                <a:cs typeface="Times New Roman" panose="02020603050405020304" pitchFamily="18" charset="0"/>
              </a:rPr>
              <a:t>Estimer le débit généré par le bassin versant en fonction des différentes périodes de retours </a:t>
            </a:r>
          </a:p>
        </p:txBody>
      </p:sp>
      <p:sp>
        <p:nvSpPr>
          <p:cNvPr id="13" name="ZoneTexte 12">
            <a:extLst>
              <a:ext uri="{FF2B5EF4-FFF2-40B4-BE49-F238E27FC236}">
                <a16:creationId xmlns:a16="http://schemas.microsoft.com/office/drawing/2014/main" id="{FA36FD0F-0065-46C5-88FE-58DFA3685435}"/>
              </a:ext>
            </a:extLst>
          </p:cNvPr>
          <p:cNvSpPr txBox="1"/>
          <p:nvPr/>
        </p:nvSpPr>
        <p:spPr>
          <a:xfrm>
            <a:off x="5058626" y="6346451"/>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9580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ppt_x"/>
                                          </p:val>
                                        </p:tav>
                                        <p:tav tm="100000">
                                          <p:val>
                                            <p:strVal val="#ppt_x"/>
                                          </p:val>
                                        </p:tav>
                                      </p:tavLst>
                                    </p:anim>
                                    <p:anim calcmode="lin" valueType="num">
                                      <p:cBhvr additive="base">
                                        <p:cTn id="1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ppt_x"/>
                                          </p:val>
                                        </p:tav>
                                        <p:tav tm="100000">
                                          <p:val>
                                            <p:strVal val="#ppt_x"/>
                                          </p:val>
                                        </p:tav>
                                      </p:tavLst>
                                    </p:anim>
                                    <p:anim calcmode="lin" valueType="num">
                                      <p:cBhvr additive="base">
                                        <p:cTn id="1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ppt_x"/>
                                          </p:val>
                                        </p:tav>
                                        <p:tav tm="100000">
                                          <p:val>
                                            <p:strVal val="#ppt_x"/>
                                          </p:val>
                                        </p:tav>
                                      </p:tavLst>
                                    </p:anim>
                                    <p:anim calcmode="lin" valueType="num">
                                      <p:cBhvr additive="base">
                                        <p:cTn id="2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D9290D1-3D13-4F40-AF69-7F508A5B8D80}"/>
              </a:ext>
            </a:extLst>
          </p:cNvPr>
          <p:cNvSpPr/>
          <p:nvPr/>
        </p:nvSpPr>
        <p:spPr>
          <a:xfrm>
            <a:off x="-11018" y="249"/>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PRESENTATION DE LA ZONE D’ETUDE (1/1)</a:t>
            </a:r>
          </a:p>
        </p:txBody>
      </p:sp>
      <p:pic>
        <p:nvPicPr>
          <p:cNvPr id="6" name="Image 5">
            <a:extLst>
              <a:ext uri="{FF2B5EF4-FFF2-40B4-BE49-F238E27FC236}">
                <a16:creationId xmlns:a16="http://schemas.microsoft.com/office/drawing/2014/main" id="{CC7EC4FB-3828-4120-A2A2-EB2C39C436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21796"/>
            <a:ext cx="7590623" cy="5367764"/>
          </a:xfrm>
          <a:prstGeom prst="rect">
            <a:avLst/>
          </a:prstGeom>
          <a:scene3d>
            <a:camera prst="orthographicFront"/>
            <a:lightRig rig="threePt" dir="t"/>
          </a:scene3d>
          <a:sp3d>
            <a:bevelT prst="slope"/>
          </a:sp3d>
        </p:spPr>
      </p:pic>
      <p:sp>
        <p:nvSpPr>
          <p:cNvPr id="7" name="ZoneTexte 6">
            <a:extLst>
              <a:ext uri="{FF2B5EF4-FFF2-40B4-BE49-F238E27FC236}">
                <a16:creationId xmlns:a16="http://schemas.microsoft.com/office/drawing/2014/main" id="{7495E44A-9D70-485C-B5C1-A6A73FEE09A7}"/>
              </a:ext>
            </a:extLst>
          </p:cNvPr>
          <p:cNvSpPr txBox="1"/>
          <p:nvPr/>
        </p:nvSpPr>
        <p:spPr>
          <a:xfrm>
            <a:off x="99151" y="6267174"/>
            <a:ext cx="7381301" cy="369332"/>
          </a:xfrm>
          <a:prstGeom prst="rect">
            <a:avLst/>
          </a:prstGeom>
          <a:noFill/>
        </p:spPr>
        <p:txBody>
          <a:bodyPr wrap="square" rtlCol="0">
            <a:spAutoFit/>
          </a:bodyPr>
          <a:lstStyle/>
          <a:p>
            <a:pPr algn="ctr"/>
            <a:r>
              <a:rPr lang="fr-FR" b="1" dirty="0">
                <a:latin typeface="Times New Roman" panose="02020603050405020304" pitchFamily="18" charset="0"/>
                <a:cs typeface="Times New Roman" panose="02020603050405020304" pitchFamily="18" charset="0"/>
              </a:rPr>
              <a:t>Figure 1 : </a:t>
            </a:r>
            <a:r>
              <a:rPr lang="fr-FR" dirty="0">
                <a:latin typeface="Times New Roman" panose="02020603050405020304" pitchFamily="18" charset="0"/>
                <a:cs typeface="Times New Roman" panose="02020603050405020304" pitchFamily="18" charset="0"/>
              </a:rPr>
              <a:t>Situation géographique de la ville de Cotonou</a:t>
            </a:r>
          </a:p>
        </p:txBody>
      </p:sp>
      <p:sp>
        <p:nvSpPr>
          <p:cNvPr id="8" name="ZoneTexte 7">
            <a:extLst>
              <a:ext uri="{FF2B5EF4-FFF2-40B4-BE49-F238E27FC236}">
                <a16:creationId xmlns:a16="http://schemas.microsoft.com/office/drawing/2014/main" id="{765C47BC-694F-44B8-8A87-BD8F99A1E2E4}"/>
              </a:ext>
            </a:extLst>
          </p:cNvPr>
          <p:cNvSpPr txBox="1"/>
          <p:nvPr/>
        </p:nvSpPr>
        <p:spPr>
          <a:xfrm>
            <a:off x="7643825" y="1906832"/>
            <a:ext cx="4449024" cy="1292340"/>
          </a:xfrm>
          <a:prstGeom prst="flowChartAlternateProcess">
            <a:avLst/>
          </a:prstGeom>
          <a:solidFill>
            <a:schemeClr val="bg1"/>
          </a:solidFill>
          <a:ln w="381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algn="ctr">
              <a:lnSpc>
                <a:spcPct val="120000"/>
              </a:lnSpc>
              <a:buNone/>
            </a:pPr>
            <a:r>
              <a:rPr lang="fr-FR" sz="2000" b="1" u="sng" dirty="0">
                <a:latin typeface="Times New Roman" panose="02020603050405020304" pitchFamily="18" charset="0"/>
                <a:ea typeface="Cambria Math" panose="02040503050406030204" pitchFamily="18" charset="0"/>
                <a:cs typeface="Times New Roman" panose="02020603050405020304" pitchFamily="18" charset="0"/>
              </a:rPr>
              <a:t>Localisation</a:t>
            </a:r>
            <a:r>
              <a:rPr lang="fr-FR" sz="2000" dirty="0">
                <a:latin typeface="Times New Roman" panose="02020603050405020304" pitchFamily="18" charset="0"/>
                <a:ea typeface="Cambria Math" panose="02040503050406030204" pitchFamily="18" charset="0"/>
                <a:cs typeface="Times New Roman" panose="02020603050405020304" pitchFamily="18" charset="0"/>
              </a:rPr>
              <a:t> : </a:t>
            </a:r>
          </a:p>
          <a:p>
            <a:pPr algn="ctr">
              <a:lnSpc>
                <a:spcPct val="120000"/>
              </a:lnSpc>
              <a:buNone/>
            </a:pPr>
            <a:r>
              <a:rPr lang="fr-FR" sz="2000" dirty="0">
                <a:latin typeface="Times New Roman" panose="02020603050405020304" pitchFamily="18" charset="0"/>
                <a:cs typeface="Times New Roman" panose="02020603050405020304" pitchFamily="18" charset="0"/>
              </a:rPr>
              <a:t>Entre </a:t>
            </a:r>
            <a:r>
              <a:rPr lang="fr-FR" sz="2000" kern="100" dirty="0">
                <a:effectLst/>
                <a:latin typeface="Times New Roman" panose="02020603050405020304" pitchFamily="18" charset="0"/>
                <a:ea typeface="TimesNewRomanPS-BoldMT"/>
                <a:cs typeface="Times New Roman" panose="02020603050405020304" pitchFamily="18" charset="0"/>
              </a:rPr>
              <a:t>6°19’ et 6°26 </a:t>
            </a:r>
            <a:r>
              <a:rPr lang="fr-FR" sz="2000" dirty="0">
                <a:latin typeface="Times New Roman" panose="02020603050405020304" pitchFamily="18" charset="0"/>
                <a:cs typeface="Times New Roman" panose="02020603050405020304" pitchFamily="18" charset="0"/>
              </a:rPr>
              <a:t>de latitude </a:t>
            </a:r>
            <a:r>
              <a:rPr lang="fr-FR"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Nord</a:t>
            </a:r>
          </a:p>
          <a:p>
            <a:pPr algn="ctr">
              <a:lnSpc>
                <a:spcPct val="120000"/>
              </a:lnSpc>
              <a:buClrTx/>
            </a:pPr>
            <a:r>
              <a:rPr lang="fr-FR" sz="2000" dirty="0">
                <a:latin typeface="Times New Roman" panose="02020603050405020304" pitchFamily="18" charset="0"/>
                <a:cs typeface="Times New Roman" panose="02020603050405020304" pitchFamily="18" charset="0"/>
              </a:rPr>
              <a:t>Entre </a:t>
            </a:r>
            <a:r>
              <a:rPr lang="fr-FR" sz="2000" kern="100" dirty="0">
                <a:effectLst/>
                <a:latin typeface="Times New Roman" panose="02020603050405020304" pitchFamily="18" charset="0"/>
                <a:ea typeface="TimesNewRomanPS-BoldMT"/>
                <a:cs typeface="Times New Roman" panose="02020603050405020304" pitchFamily="18" charset="0"/>
              </a:rPr>
              <a:t>2°20’ et 2°29’ </a:t>
            </a:r>
            <a:r>
              <a:rPr lang="fr-FR" sz="2000" dirty="0">
                <a:latin typeface="Times New Roman" panose="02020603050405020304" pitchFamily="18" charset="0"/>
                <a:cs typeface="Times New Roman" panose="02020603050405020304" pitchFamily="18" charset="0"/>
              </a:rPr>
              <a:t>de longitude </a:t>
            </a:r>
            <a:r>
              <a:rPr lang="fr-FR"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Est</a:t>
            </a:r>
            <a:endParaRPr lang="fr-FR" sz="20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839660D-1E86-44F2-8186-D2E0F0822EFA}"/>
              </a:ext>
            </a:extLst>
          </p:cNvPr>
          <p:cNvSpPr/>
          <p:nvPr/>
        </p:nvSpPr>
        <p:spPr>
          <a:xfrm>
            <a:off x="7882521" y="3351734"/>
            <a:ext cx="4021247" cy="614189"/>
          </a:xfrm>
          <a:prstGeom prst="rect">
            <a:avLst/>
          </a:prstGeom>
          <a:solidFill>
            <a:schemeClr val="bg1"/>
          </a:solidFill>
          <a:ln w="34925">
            <a:solidFill>
              <a:schemeClr val="accent1">
                <a:lumMod val="75000"/>
              </a:schemeClr>
            </a:solidFill>
          </a:ln>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dirty="0">
                <a:solidFill>
                  <a:schemeClr val="tx1"/>
                </a:solidFill>
                <a:latin typeface="Arial" pitchFamily="34" charset="0"/>
                <a:ea typeface="Cambria Math" pitchFamily="18" charset="0"/>
                <a:cs typeface="Arial" pitchFamily="34" charset="0"/>
              </a:rPr>
              <a:t> </a:t>
            </a:r>
            <a:r>
              <a:rPr lang="fr-FR" sz="2000" b="1" dirty="0">
                <a:solidFill>
                  <a:schemeClr val="tx1"/>
                </a:solidFill>
                <a:latin typeface="Times New Roman" panose="02020603050405020304" pitchFamily="18" charset="0"/>
                <a:ea typeface="Cambria Math" pitchFamily="18" charset="0"/>
                <a:cs typeface="Times New Roman" panose="02020603050405020304" pitchFamily="18" charset="0"/>
              </a:rPr>
              <a:t>Superficie</a:t>
            </a:r>
            <a:r>
              <a:rPr lang="fr-FR" sz="2400" b="1" dirty="0">
                <a:solidFill>
                  <a:schemeClr val="tx1"/>
                </a:solidFill>
                <a:latin typeface="Times New Roman" panose="02020603050405020304" pitchFamily="18" charset="0"/>
                <a:ea typeface="Cambria Math" pitchFamily="18" charset="0"/>
                <a:cs typeface="Times New Roman" panose="02020603050405020304" pitchFamily="18" charset="0"/>
              </a:rPr>
              <a:t> </a:t>
            </a:r>
            <a:r>
              <a:rPr lang="fr-FR" sz="2000" dirty="0">
                <a:solidFill>
                  <a:schemeClr val="tx1"/>
                </a:solidFill>
                <a:latin typeface="Times New Roman" panose="02020603050405020304" pitchFamily="18" charset="0"/>
                <a:ea typeface="Cambria Math" pitchFamily="18" charset="0"/>
                <a:cs typeface="Times New Roman" panose="02020603050405020304" pitchFamily="18" charset="0"/>
              </a:rPr>
              <a:t>: </a:t>
            </a:r>
          </a:p>
          <a:p>
            <a:pPr algn="ctr"/>
            <a:r>
              <a:rPr lang="fr-FR" sz="2000" dirty="0">
                <a:solidFill>
                  <a:srgbClr val="C00000"/>
                </a:solidFill>
                <a:latin typeface="Times New Roman" panose="02020603050405020304" pitchFamily="18" charset="0"/>
                <a:ea typeface="Cambria Math" pitchFamily="18" charset="0"/>
                <a:cs typeface="Times New Roman" panose="02020603050405020304" pitchFamily="18" charset="0"/>
              </a:rPr>
              <a:t>79</a:t>
            </a:r>
            <a:r>
              <a:rPr lang="fr-FR" sz="2000" dirty="0">
                <a:solidFill>
                  <a:srgbClr val="C00000"/>
                </a:solidFill>
                <a:latin typeface="Times New Roman" panose="02020603050405020304" pitchFamily="18" charset="0"/>
                <a:cs typeface="Times New Roman" panose="02020603050405020304" pitchFamily="18" charset="0"/>
              </a:rPr>
              <a:t> Km²</a:t>
            </a:r>
            <a:endParaRPr lang="fr-FR" sz="2000" dirty="0">
              <a:solidFill>
                <a:srgbClr val="C00000"/>
              </a:solidFill>
              <a:latin typeface="Times New Roman" panose="02020603050405020304" pitchFamily="18" charset="0"/>
              <a:ea typeface="Cambria Math" pitchFamily="18" charset="0"/>
              <a:cs typeface="Times New Roman" panose="02020603050405020304" pitchFamily="18" charset="0"/>
            </a:endParaRPr>
          </a:p>
        </p:txBody>
      </p:sp>
      <p:sp>
        <p:nvSpPr>
          <p:cNvPr id="11" name="ZoneTexte 10">
            <a:extLst>
              <a:ext uri="{FF2B5EF4-FFF2-40B4-BE49-F238E27FC236}">
                <a16:creationId xmlns:a16="http://schemas.microsoft.com/office/drawing/2014/main" id="{7606B7B6-DC02-4554-9D12-CE65D1B674E5}"/>
              </a:ext>
            </a:extLst>
          </p:cNvPr>
          <p:cNvSpPr txBox="1"/>
          <p:nvPr/>
        </p:nvSpPr>
        <p:spPr>
          <a:xfrm>
            <a:off x="7649330" y="4118485"/>
            <a:ext cx="4443519" cy="2246769"/>
          </a:xfrm>
          <a:prstGeom prst="rect">
            <a:avLst/>
          </a:prstGeom>
          <a:solidFill>
            <a:schemeClr val="bg1"/>
          </a:solidFill>
          <a:ln w="381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pPr marL="342900" indent="-342900">
              <a:buFontTx/>
              <a:buChar char="-"/>
            </a:pPr>
            <a:r>
              <a:rPr lang="fr-FR" sz="2000" dirty="0">
                <a:latin typeface="Times New Roman" pitchFamily="18" charset="0"/>
                <a:cs typeface="Times New Roman" pitchFamily="18" charset="0"/>
              </a:rPr>
              <a:t>13 arrondissements</a:t>
            </a:r>
          </a:p>
          <a:p>
            <a:pPr marL="342900" indent="-342900">
              <a:buFontTx/>
              <a:buChar char="-"/>
            </a:pPr>
            <a:r>
              <a:rPr lang="fr-FR" sz="2000" dirty="0">
                <a:latin typeface="Times New Roman" pitchFamily="18" charset="0"/>
                <a:cs typeface="Times New Roman" pitchFamily="18" charset="0"/>
              </a:rPr>
              <a:t>Climat tropical humide avec pluviométrie moyenne de1328mm par an sur la période de 1993 à 2023</a:t>
            </a:r>
          </a:p>
          <a:p>
            <a:pPr marL="342900" indent="-342900">
              <a:buFontTx/>
              <a:buChar char="-"/>
            </a:pPr>
            <a:r>
              <a:rPr lang="fr-FR" sz="2000" dirty="0">
                <a:latin typeface="Times New Roman" pitchFamily="18" charset="0"/>
                <a:cs typeface="Times New Roman" pitchFamily="18" charset="0"/>
              </a:rPr>
              <a:t>Lac </a:t>
            </a:r>
            <a:r>
              <a:rPr lang="fr-FR" sz="2000" dirty="0" err="1">
                <a:latin typeface="Times New Roman" pitchFamily="18" charset="0"/>
                <a:cs typeface="Times New Roman" pitchFamily="18" charset="0"/>
              </a:rPr>
              <a:t>Nokoué</a:t>
            </a:r>
            <a:r>
              <a:rPr lang="fr-FR" sz="2000" dirty="0">
                <a:latin typeface="Times New Roman" pitchFamily="18" charset="0"/>
                <a:cs typeface="Times New Roman" pitchFamily="18" charset="0"/>
              </a:rPr>
              <a:t> au Nord et Océan Atlantique au Sud</a:t>
            </a:r>
          </a:p>
          <a:p>
            <a:pPr marL="342900" indent="-342900">
              <a:buFontTx/>
              <a:buChar char="-"/>
            </a:pPr>
            <a:r>
              <a:rPr lang="fr-FR" sz="2000" dirty="0">
                <a:latin typeface="Times New Roman" pitchFamily="18" charset="0"/>
                <a:cs typeface="Times New Roman" pitchFamily="18" charset="0"/>
              </a:rPr>
              <a:t>Relief plat</a:t>
            </a:r>
          </a:p>
        </p:txBody>
      </p:sp>
      <p:sp>
        <p:nvSpPr>
          <p:cNvPr id="12" name="ZoneTexte 11">
            <a:extLst>
              <a:ext uri="{FF2B5EF4-FFF2-40B4-BE49-F238E27FC236}">
                <a16:creationId xmlns:a16="http://schemas.microsoft.com/office/drawing/2014/main" id="{68765694-C0D1-432E-8D0E-770C13ECCFA4}"/>
              </a:ext>
            </a:extLst>
          </p:cNvPr>
          <p:cNvSpPr txBox="1"/>
          <p:nvPr/>
        </p:nvSpPr>
        <p:spPr>
          <a:xfrm>
            <a:off x="7689772" y="1049174"/>
            <a:ext cx="4406747" cy="735560"/>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Le bassin </a:t>
            </a:r>
            <a:r>
              <a:rPr lang="fr-FR" sz="2000" b="1" dirty="0" err="1">
                <a:latin typeface="Times New Roman" panose="02020603050405020304" pitchFamily="18" charset="0"/>
                <a:cs typeface="Times New Roman" panose="02020603050405020304" pitchFamily="18" charset="0"/>
              </a:rPr>
              <a:t>Qb</a:t>
            </a:r>
            <a:r>
              <a:rPr lang="fr-FR" sz="2000" b="1" dirty="0">
                <a:latin typeface="Times New Roman" panose="02020603050405020304" pitchFamily="18" charset="0"/>
                <a:cs typeface="Times New Roman" panose="02020603050405020304" pitchFamily="18" charset="0"/>
              </a:rPr>
              <a:t> se situe dans le 6 </a:t>
            </a:r>
            <a:r>
              <a:rPr lang="fr-FR" sz="2000" b="1" dirty="0" err="1">
                <a:latin typeface="Times New Roman" panose="02020603050405020304" pitchFamily="18" charset="0"/>
                <a:cs typeface="Times New Roman" panose="02020603050405020304" pitchFamily="18" charset="0"/>
              </a:rPr>
              <a:t>ème</a:t>
            </a:r>
            <a:r>
              <a:rPr lang="fr-FR" sz="2000" b="1" dirty="0">
                <a:latin typeface="Times New Roman" panose="02020603050405020304" pitchFamily="18" charset="0"/>
                <a:cs typeface="Times New Roman" panose="02020603050405020304" pitchFamily="18" charset="0"/>
              </a:rPr>
              <a:t> arrondissement de la ville de Cotonou</a:t>
            </a:r>
          </a:p>
        </p:txBody>
      </p:sp>
      <p:sp>
        <p:nvSpPr>
          <p:cNvPr id="10" name="ZoneTexte 9">
            <a:extLst>
              <a:ext uri="{FF2B5EF4-FFF2-40B4-BE49-F238E27FC236}">
                <a16:creationId xmlns:a16="http://schemas.microsoft.com/office/drawing/2014/main" id="{59B68628-C6DC-4CC7-83B3-EE7CB9341B23}"/>
              </a:ext>
            </a:extLst>
          </p:cNvPr>
          <p:cNvSpPr txBox="1"/>
          <p:nvPr/>
        </p:nvSpPr>
        <p:spPr>
          <a:xfrm>
            <a:off x="5058626" y="6451840"/>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5215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F3FCE1-FC24-41B6-BCEF-06F321533A6A}"/>
              </a:ext>
            </a:extLst>
          </p:cNvPr>
          <p:cNvSpPr/>
          <p:nvPr/>
        </p:nvSpPr>
        <p:spPr>
          <a:xfrm>
            <a:off x="-11018" y="249"/>
            <a:ext cx="12192000" cy="899160"/>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latin typeface="Times New Roman" pitchFamily="18" charset="0"/>
                <a:cs typeface="Times New Roman" pitchFamily="18" charset="0"/>
              </a:rPr>
              <a:t>DONNEES(1/1)</a:t>
            </a:r>
          </a:p>
        </p:txBody>
      </p:sp>
      <p:sp>
        <p:nvSpPr>
          <p:cNvPr id="6" name="Rectangle : coins arrondis 5">
            <a:extLst>
              <a:ext uri="{FF2B5EF4-FFF2-40B4-BE49-F238E27FC236}">
                <a16:creationId xmlns:a16="http://schemas.microsoft.com/office/drawing/2014/main" id="{8990C71A-66F5-4448-AA3E-904D834BF82D}"/>
              </a:ext>
            </a:extLst>
          </p:cNvPr>
          <p:cNvSpPr/>
          <p:nvPr/>
        </p:nvSpPr>
        <p:spPr>
          <a:xfrm>
            <a:off x="6096000" y="1020166"/>
            <a:ext cx="5504761" cy="1233889"/>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sz="20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Précipitations journalières de la station synoptique de l’Aéroport de Cotonou sur la période 1993 à 2023.</a:t>
            </a:r>
            <a:endParaRPr lang="fr-FR" sz="1600" dirty="0">
              <a:solidFill>
                <a:schemeClr val="tx1"/>
              </a:solidFill>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6A9B4E99-1FBA-4864-88B7-D1B068525136}"/>
              </a:ext>
            </a:extLst>
          </p:cNvPr>
          <p:cNvSpPr/>
          <p:nvPr/>
        </p:nvSpPr>
        <p:spPr>
          <a:xfrm>
            <a:off x="6084982" y="2696421"/>
            <a:ext cx="5515779" cy="866562"/>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tx1"/>
                </a:solidFill>
                <a:latin typeface="Times New Roman" panose="02020603050405020304" pitchFamily="18" charset="0"/>
                <a:cs typeface="Times New Roman" panose="02020603050405020304" pitchFamily="18" charset="0"/>
              </a:rPr>
              <a:t>Températures maximales et minimales journalières </a:t>
            </a:r>
            <a:r>
              <a:rPr lang="fr-FR" sz="20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de Cotonou sur la période de1993 à 2023.</a:t>
            </a:r>
            <a:endParaRPr lang="fr-FR" sz="2000" dirty="0">
              <a:solidFill>
                <a:schemeClr val="tx1"/>
              </a:solidFill>
              <a:latin typeface="Times New Roman" panose="02020603050405020304" pitchFamily="18" charset="0"/>
              <a:cs typeface="Times New Roman" panose="02020603050405020304" pitchFamily="18" charset="0"/>
            </a:endParaRPr>
          </a:p>
          <a:p>
            <a:pPr algn="ctr"/>
            <a:r>
              <a:rPr lang="fr-FR" sz="1600" dirty="0">
                <a:solidFill>
                  <a:schemeClr val="tx1"/>
                </a:solidFill>
                <a:latin typeface="Times New Roman" panose="02020603050405020304" pitchFamily="18" charset="0"/>
                <a:cs typeface="Times New Roman" panose="02020603050405020304" pitchFamily="18" charset="0"/>
              </a:rPr>
              <a:t> </a:t>
            </a:r>
          </a:p>
        </p:txBody>
      </p:sp>
      <p:sp>
        <p:nvSpPr>
          <p:cNvPr id="8" name="Ellipse 7">
            <a:extLst>
              <a:ext uri="{FF2B5EF4-FFF2-40B4-BE49-F238E27FC236}">
                <a16:creationId xmlns:a16="http://schemas.microsoft.com/office/drawing/2014/main" id="{D0BE300B-3C55-4300-B845-933803126502}"/>
              </a:ext>
            </a:extLst>
          </p:cNvPr>
          <p:cNvSpPr/>
          <p:nvPr/>
        </p:nvSpPr>
        <p:spPr>
          <a:xfrm>
            <a:off x="327565" y="1850262"/>
            <a:ext cx="4032174" cy="1233889"/>
          </a:xfrm>
          <a:prstGeom prst="ellipse">
            <a:avLst/>
          </a:prstGeom>
          <a:noFill/>
          <a:ln w="38100"/>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tx1"/>
                </a:solidFill>
                <a:latin typeface="Times New Roman" panose="02020603050405020304" pitchFamily="18" charset="0"/>
                <a:cs typeface="Times New Roman" panose="02020603050405020304" pitchFamily="18" charset="0"/>
              </a:rPr>
              <a:t>Données climatiques </a:t>
            </a:r>
          </a:p>
        </p:txBody>
      </p:sp>
      <p:sp>
        <p:nvSpPr>
          <p:cNvPr id="9" name="Rectangle : coins arrondis 8">
            <a:extLst>
              <a:ext uri="{FF2B5EF4-FFF2-40B4-BE49-F238E27FC236}">
                <a16:creationId xmlns:a16="http://schemas.microsoft.com/office/drawing/2014/main" id="{37CD47BA-14FD-4A6B-81C8-5B0EA3F95F81}"/>
              </a:ext>
            </a:extLst>
          </p:cNvPr>
          <p:cNvSpPr/>
          <p:nvPr/>
        </p:nvSpPr>
        <p:spPr>
          <a:xfrm>
            <a:off x="6063868" y="3680762"/>
            <a:ext cx="5692049" cy="2743379"/>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Tx/>
              <a:buChar char="-"/>
            </a:pPr>
            <a:r>
              <a:rPr lang="fr-FR" sz="2000" kern="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données au format shapefile sont issue du fond topographique IGN</a:t>
            </a:r>
            <a:endParaRPr lang="fr-FR" dirty="0">
              <a:solidFill>
                <a:schemeClr val="tx1"/>
              </a:solidFill>
              <a:latin typeface="Times New Roman" panose="02020603050405020304" pitchFamily="18" charset="0"/>
              <a:cs typeface="Times New Roman" panose="02020603050405020304" pitchFamily="18" charset="0"/>
            </a:endParaRPr>
          </a:p>
          <a:p>
            <a:pPr marL="285750" indent="-285750">
              <a:lnSpc>
                <a:spcPct val="150000"/>
              </a:lnSpc>
              <a:buFontTx/>
              <a:buChar char="-"/>
            </a:pPr>
            <a:r>
              <a:rPr lang="fr-FR" dirty="0">
                <a:solidFill>
                  <a:schemeClr val="tx1"/>
                </a:solidFill>
                <a:latin typeface="Times New Roman" panose="02020603050405020304" pitchFamily="18" charset="0"/>
                <a:cs typeface="Times New Roman" panose="02020603050405020304" pitchFamily="18" charset="0"/>
              </a:rPr>
              <a:t>Le Modèle Numérique de Terrain </a:t>
            </a:r>
            <a:r>
              <a:rPr lang="fr-FR" dirty="0" err="1">
                <a:solidFill>
                  <a:schemeClr val="tx1"/>
                </a:solidFill>
                <a:latin typeface="Times New Roman" panose="02020603050405020304" pitchFamily="18" charset="0"/>
                <a:cs typeface="Times New Roman" panose="02020603050405020304" pitchFamily="18" charset="0"/>
              </a:rPr>
              <a:t>Copernicus</a:t>
            </a:r>
            <a:r>
              <a:rPr lang="fr-FR" dirty="0">
                <a:solidFill>
                  <a:schemeClr val="tx1"/>
                </a:solidFill>
                <a:latin typeface="Times New Roman" panose="02020603050405020304" pitchFamily="18" charset="0"/>
                <a:cs typeface="Times New Roman" panose="02020603050405020304" pitchFamily="18" charset="0"/>
              </a:rPr>
              <a:t> DEM de résolution 30 m</a:t>
            </a:r>
          </a:p>
          <a:p>
            <a:pPr marL="285750" indent="-285750">
              <a:lnSpc>
                <a:spcPct val="150000"/>
              </a:lnSpc>
              <a:buFontTx/>
              <a:buChar char="-"/>
            </a:pPr>
            <a:r>
              <a:rPr lang="fr-FR" dirty="0">
                <a:solidFill>
                  <a:schemeClr val="tx1"/>
                </a:solidFill>
                <a:latin typeface="Times New Roman" panose="02020603050405020304" pitchFamily="18" charset="0"/>
                <a:cs typeface="Times New Roman" panose="02020603050405020304" pitchFamily="18" charset="0"/>
              </a:rPr>
              <a:t>Carte d’occupation du sol </a:t>
            </a:r>
            <a:r>
              <a:rPr lang="fr-FR" sz="200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ESA </a:t>
            </a:r>
            <a:r>
              <a:rPr lang="fr-FR" sz="2000" kern="100" dirty="0" err="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WorldCover</a:t>
            </a:r>
            <a:r>
              <a:rPr lang="fr-FR" sz="200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2021 de résolution 10 m </a:t>
            </a:r>
            <a:r>
              <a:rPr lang="fr-FR" dirty="0">
                <a:solidFill>
                  <a:schemeClr val="tx1"/>
                </a:solidFill>
                <a:latin typeface="Times New Roman" panose="02020603050405020304" pitchFamily="18" charset="0"/>
                <a:cs typeface="Times New Roman" panose="02020603050405020304" pitchFamily="18" charset="0"/>
              </a:rPr>
              <a:t>de la ville de Cotonou</a:t>
            </a:r>
          </a:p>
          <a:p>
            <a:pPr>
              <a:lnSpc>
                <a:spcPct val="150000"/>
              </a:lnSpc>
            </a:pPr>
            <a:endParaRPr lang="fr-FR" sz="1600" dirty="0">
              <a:solidFill>
                <a:schemeClr val="tx1"/>
              </a:solidFill>
              <a:latin typeface="Times New Roman" panose="02020603050405020304" pitchFamily="18" charset="0"/>
              <a:cs typeface="Times New Roman" panose="02020603050405020304" pitchFamily="18" charset="0"/>
            </a:endParaRPr>
          </a:p>
        </p:txBody>
      </p:sp>
      <p:sp>
        <p:nvSpPr>
          <p:cNvPr id="10" name="Ellipse 9">
            <a:extLst>
              <a:ext uri="{FF2B5EF4-FFF2-40B4-BE49-F238E27FC236}">
                <a16:creationId xmlns:a16="http://schemas.microsoft.com/office/drawing/2014/main" id="{DB92B18E-3E49-4A15-A705-D624223ABA85}"/>
              </a:ext>
            </a:extLst>
          </p:cNvPr>
          <p:cNvSpPr/>
          <p:nvPr/>
        </p:nvSpPr>
        <p:spPr>
          <a:xfrm>
            <a:off x="284602" y="4515951"/>
            <a:ext cx="4032174" cy="1233889"/>
          </a:xfrm>
          <a:prstGeom prst="ellipse">
            <a:avLst/>
          </a:prstGeom>
          <a:noFill/>
          <a:ln w="38100"/>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tx1"/>
                </a:solidFill>
                <a:latin typeface="Times New Roman" panose="02020603050405020304" pitchFamily="18" charset="0"/>
                <a:cs typeface="Times New Roman" panose="02020603050405020304" pitchFamily="18" charset="0"/>
              </a:rPr>
              <a:t>Données cartographiques </a:t>
            </a:r>
          </a:p>
        </p:txBody>
      </p:sp>
      <p:sp>
        <p:nvSpPr>
          <p:cNvPr id="12" name="Flèche : double flèche horizontale 11">
            <a:extLst>
              <a:ext uri="{FF2B5EF4-FFF2-40B4-BE49-F238E27FC236}">
                <a16:creationId xmlns:a16="http://schemas.microsoft.com/office/drawing/2014/main" id="{2B165BC1-952B-4160-87C0-669D6206BE9C}"/>
              </a:ext>
            </a:extLst>
          </p:cNvPr>
          <p:cNvSpPr/>
          <p:nvPr/>
        </p:nvSpPr>
        <p:spPr>
          <a:xfrm rot="16200000">
            <a:off x="8783337" y="2418062"/>
            <a:ext cx="436724" cy="130180"/>
          </a:xfrm>
          <a:prstGeom prst="leftRightArrow">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2826E9E4-B3E9-4245-9FAC-E2FC73D755EA}"/>
              </a:ext>
            </a:extLst>
          </p:cNvPr>
          <p:cNvSpPr/>
          <p:nvPr/>
        </p:nvSpPr>
        <p:spPr>
          <a:xfrm>
            <a:off x="4359739" y="2444348"/>
            <a:ext cx="4641960" cy="45719"/>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A46C6AC-43D3-4572-8242-ECF38B9462CC}"/>
              </a:ext>
            </a:extLst>
          </p:cNvPr>
          <p:cNvSpPr/>
          <p:nvPr/>
        </p:nvSpPr>
        <p:spPr>
          <a:xfrm flipV="1">
            <a:off x="4316776" y="5110037"/>
            <a:ext cx="1779224" cy="45719"/>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C31F1F8-2DBF-42D4-8644-DBBF70875A38}"/>
              </a:ext>
            </a:extLst>
          </p:cNvPr>
          <p:cNvSpPr txBox="1"/>
          <p:nvPr/>
        </p:nvSpPr>
        <p:spPr>
          <a:xfrm>
            <a:off x="3128790" y="6469860"/>
            <a:ext cx="6852492" cy="461665"/>
          </a:xfrm>
          <a:prstGeom prst="rect">
            <a:avLst/>
          </a:prstGeom>
          <a:noFill/>
        </p:spPr>
        <p:txBody>
          <a:bodyPr wrap="square" rtlCol="0">
            <a:spAutoFit/>
          </a:bodyPr>
          <a:lstStyle/>
          <a:p>
            <a:r>
              <a:rPr lang="fr-FR" sz="2400" b="1" dirty="0">
                <a:latin typeface="Times New Roman" panose="02020603050405020304" pitchFamily="18" charset="0"/>
                <a:cs typeface="Times New Roman" panose="02020603050405020304" pitchFamily="18" charset="0"/>
              </a:rPr>
              <a:t>Figure 2 </a:t>
            </a:r>
            <a:r>
              <a:rPr lang="fr-FR" sz="2400" dirty="0">
                <a:latin typeface="Times New Roman" panose="02020603050405020304" pitchFamily="18" charset="0"/>
                <a:cs typeface="Times New Roman" panose="02020603050405020304" pitchFamily="18" charset="0"/>
              </a:rPr>
              <a:t>: Présentation des données utilisées </a:t>
            </a:r>
          </a:p>
        </p:txBody>
      </p:sp>
      <p:sp>
        <p:nvSpPr>
          <p:cNvPr id="15" name="ZoneTexte 14">
            <a:extLst>
              <a:ext uri="{FF2B5EF4-FFF2-40B4-BE49-F238E27FC236}">
                <a16:creationId xmlns:a16="http://schemas.microsoft.com/office/drawing/2014/main" id="{E4E2F5DC-5789-427C-A060-4A6B16BAC45F}"/>
              </a:ext>
            </a:extLst>
          </p:cNvPr>
          <p:cNvSpPr txBox="1"/>
          <p:nvPr/>
        </p:nvSpPr>
        <p:spPr>
          <a:xfrm>
            <a:off x="5069643" y="6444183"/>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6469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MATERIEL ET METHODES(1/4)</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pic>
        <p:nvPicPr>
          <p:cNvPr id="3" name="Image 2">
            <a:extLst>
              <a:ext uri="{FF2B5EF4-FFF2-40B4-BE49-F238E27FC236}">
                <a16:creationId xmlns:a16="http://schemas.microsoft.com/office/drawing/2014/main" id="{40E592BB-E2B9-0480-A520-F43FFEB3113B}"/>
              </a:ext>
            </a:extLst>
          </p:cNvPr>
          <p:cNvPicPr>
            <a:picLocks noChangeAspect="1"/>
          </p:cNvPicPr>
          <p:nvPr/>
        </p:nvPicPr>
        <p:blipFill>
          <a:blip r:embed="rId4"/>
          <a:stretch>
            <a:fillRect/>
          </a:stretch>
        </p:blipFill>
        <p:spPr>
          <a:xfrm>
            <a:off x="4612252" y="1049428"/>
            <a:ext cx="3066554" cy="1786283"/>
          </a:xfrm>
          <a:prstGeom prst="rect">
            <a:avLst/>
          </a:prstGeom>
        </p:spPr>
      </p:pic>
      <p:pic>
        <p:nvPicPr>
          <p:cNvPr id="6" name="Image 5">
            <a:extLst>
              <a:ext uri="{FF2B5EF4-FFF2-40B4-BE49-F238E27FC236}">
                <a16:creationId xmlns:a16="http://schemas.microsoft.com/office/drawing/2014/main" id="{DB9401E8-1F65-7727-2214-0B31CCC6252A}"/>
              </a:ext>
            </a:extLst>
          </p:cNvPr>
          <p:cNvPicPr>
            <a:picLocks noChangeAspect="1"/>
          </p:cNvPicPr>
          <p:nvPr/>
        </p:nvPicPr>
        <p:blipFill>
          <a:blip r:embed="rId5"/>
          <a:stretch>
            <a:fillRect/>
          </a:stretch>
        </p:blipFill>
        <p:spPr>
          <a:xfrm>
            <a:off x="5165882" y="1267876"/>
            <a:ext cx="1959293" cy="1441319"/>
          </a:xfrm>
          <a:prstGeom prst="rect">
            <a:avLst/>
          </a:prstGeom>
        </p:spPr>
      </p:pic>
      <p:sp>
        <p:nvSpPr>
          <p:cNvPr id="10" name="Rectangle 9">
            <a:extLst>
              <a:ext uri="{FF2B5EF4-FFF2-40B4-BE49-F238E27FC236}">
                <a16:creationId xmlns:a16="http://schemas.microsoft.com/office/drawing/2014/main" id="{DB504582-D552-DA94-17DC-9DFD01108C51}"/>
              </a:ext>
            </a:extLst>
          </p:cNvPr>
          <p:cNvSpPr/>
          <p:nvPr/>
        </p:nvSpPr>
        <p:spPr>
          <a:xfrm>
            <a:off x="339287" y="4236716"/>
            <a:ext cx="11481362" cy="17129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prstClr val="black"/>
              </a:solidFill>
              <a:effectLst/>
              <a:uLnTx/>
              <a:uFillTx/>
              <a:latin typeface="Calibri"/>
              <a:ea typeface="+mn-ea"/>
              <a:cs typeface="+mn-cs"/>
              <a:sym typeface="Arial"/>
            </a:endParaRPr>
          </a:p>
        </p:txBody>
      </p:sp>
      <p:pic>
        <p:nvPicPr>
          <p:cNvPr id="11" name="Picture 6" descr="Guías para WORD (OFFICE 2016-BÁSICO)">
            <a:extLst>
              <a:ext uri="{FF2B5EF4-FFF2-40B4-BE49-F238E27FC236}">
                <a16:creationId xmlns:a16="http://schemas.microsoft.com/office/drawing/2014/main" id="{EABAFFB6-20FB-D65A-AE2B-BB67A784C9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890" y="4396346"/>
            <a:ext cx="1450496" cy="148415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Résultat d’images pour excel logo">
            <a:extLst>
              <a:ext uri="{FF2B5EF4-FFF2-40B4-BE49-F238E27FC236}">
                <a16:creationId xmlns:a16="http://schemas.microsoft.com/office/drawing/2014/main" id="{439EE3D4-BFA9-402E-EAA1-20CEA24A4E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4519" y="4363232"/>
            <a:ext cx="1293557" cy="141975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FC9920D3-FD4F-491A-B204-4FB081297A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23996" y="4568534"/>
            <a:ext cx="2127795" cy="1128726"/>
          </a:xfrm>
          <a:prstGeom prst="rect">
            <a:avLst/>
          </a:prstGeom>
        </p:spPr>
      </p:pic>
      <p:pic>
        <p:nvPicPr>
          <p:cNvPr id="9" name="Image 8">
            <a:extLst>
              <a:ext uri="{FF2B5EF4-FFF2-40B4-BE49-F238E27FC236}">
                <a16:creationId xmlns:a16="http://schemas.microsoft.com/office/drawing/2014/main" id="{BB9B905D-E4E3-48D8-B96A-E6CF84185F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83770" y="3937001"/>
            <a:ext cx="2099466" cy="2290794"/>
          </a:xfrm>
          <a:prstGeom prst="rect">
            <a:avLst/>
          </a:prstGeom>
        </p:spPr>
      </p:pic>
      <p:pic>
        <p:nvPicPr>
          <p:cNvPr id="25" name="Picture 14" descr="Résultat d’images pour logo hyfran plus">
            <a:extLst>
              <a:ext uri="{FF2B5EF4-FFF2-40B4-BE49-F238E27FC236}">
                <a16:creationId xmlns:a16="http://schemas.microsoft.com/office/drawing/2014/main" id="{EE9E3A2A-EFBA-4C4A-812C-2F1B78754D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59530" y="4402349"/>
            <a:ext cx="1381653" cy="1381653"/>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Connecteur droit avec flèche 26">
            <a:extLst>
              <a:ext uri="{FF2B5EF4-FFF2-40B4-BE49-F238E27FC236}">
                <a16:creationId xmlns:a16="http://schemas.microsoft.com/office/drawing/2014/main" id="{CA34433D-C635-4214-9163-6F29827414FC}"/>
              </a:ext>
            </a:extLst>
          </p:cNvPr>
          <p:cNvCxnSpPr>
            <a:stCxn id="3" idx="2"/>
          </p:cNvCxnSpPr>
          <p:nvPr/>
        </p:nvCxnSpPr>
        <p:spPr>
          <a:xfrm flipH="1">
            <a:off x="1562100" y="2835711"/>
            <a:ext cx="4583429" cy="1401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Connecteur droit avec flèche 28">
            <a:extLst>
              <a:ext uri="{FF2B5EF4-FFF2-40B4-BE49-F238E27FC236}">
                <a16:creationId xmlns:a16="http://schemas.microsoft.com/office/drawing/2014/main" id="{AD9769B0-21E4-423A-856A-D8E0BBE21DD8}"/>
              </a:ext>
            </a:extLst>
          </p:cNvPr>
          <p:cNvCxnSpPr>
            <a:stCxn id="3" idx="2"/>
          </p:cNvCxnSpPr>
          <p:nvPr/>
        </p:nvCxnSpPr>
        <p:spPr>
          <a:xfrm flipH="1">
            <a:off x="3619500" y="2835711"/>
            <a:ext cx="2526029" cy="1401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Connecteur droit avec flèche 30">
            <a:extLst>
              <a:ext uri="{FF2B5EF4-FFF2-40B4-BE49-F238E27FC236}">
                <a16:creationId xmlns:a16="http://schemas.microsoft.com/office/drawing/2014/main" id="{D78D4A5F-BADD-41D9-99BC-A279B256D1DF}"/>
              </a:ext>
            </a:extLst>
          </p:cNvPr>
          <p:cNvCxnSpPr>
            <a:stCxn id="3" idx="2"/>
          </p:cNvCxnSpPr>
          <p:nvPr/>
        </p:nvCxnSpPr>
        <p:spPr>
          <a:xfrm flipH="1">
            <a:off x="5854766" y="2835711"/>
            <a:ext cx="290763" cy="1401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Connecteur droit avec flèche 32">
            <a:extLst>
              <a:ext uri="{FF2B5EF4-FFF2-40B4-BE49-F238E27FC236}">
                <a16:creationId xmlns:a16="http://schemas.microsoft.com/office/drawing/2014/main" id="{F592115F-854C-4220-8D16-734F7D0C6220}"/>
              </a:ext>
            </a:extLst>
          </p:cNvPr>
          <p:cNvCxnSpPr>
            <a:stCxn id="3" idx="2"/>
          </p:cNvCxnSpPr>
          <p:nvPr/>
        </p:nvCxnSpPr>
        <p:spPr>
          <a:xfrm>
            <a:off x="6145529" y="2835711"/>
            <a:ext cx="2287974" cy="1401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Connecteur droit avec flèche 34">
            <a:extLst>
              <a:ext uri="{FF2B5EF4-FFF2-40B4-BE49-F238E27FC236}">
                <a16:creationId xmlns:a16="http://schemas.microsoft.com/office/drawing/2014/main" id="{71F74190-E6CD-4A1D-AAC3-60164694A6D0}"/>
              </a:ext>
            </a:extLst>
          </p:cNvPr>
          <p:cNvCxnSpPr>
            <a:cxnSpLocks/>
            <a:stCxn id="3" idx="2"/>
          </p:cNvCxnSpPr>
          <p:nvPr/>
        </p:nvCxnSpPr>
        <p:spPr>
          <a:xfrm>
            <a:off x="6145529" y="2835711"/>
            <a:ext cx="4583429" cy="1401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ZoneTexte 16">
            <a:extLst>
              <a:ext uri="{FF2B5EF4-FFF2-40B4-BE49-F238E27FC236}">
                <a16:creationId xmlns:a16="http://schemas.microsoft.com/office/drawing/2014/main" id="{A4F50A23-6097-43D4-A113-52022CF47675}"/>
              </a:ext>
            </a:extLst>
          </p:cNvPr>
          <p:cNvSpPr txBox="1"/>
          <p:nvPr/>
        </p:nvSpPr>
        <p:spPr>
          <a:xfrm>
            <a:off x="2814519" y="6161785"/>
            <a:ext cx="6968580"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Figure 3 </a:t>
            </a:r>
            <a:r>
              <a:rPr lang="fr-FR" sz="2400" dirty="0">
                <a:latin typeface="Times New Roman" panose="02020603050405020304" pitchFamily="18" charset="0"/>
                <a:cs typeface="Times New Roman" panose="02020603050405020304" pitchFamily="18" charset="0"/>
              </a:rPr>
              <a:t>: Présentation des différents logiciels utilisés</a:t>
            </a:r>
          </a:p>
        </p:txBody>
      </p:sp>
      <p:sp>
        <p:nvSpPr>
          <p:cNvPr id="18" name="ZoneTexte 17">
            <a:extLst>
              <a:ext uri="{FF2B5EF4-FFF2-40B4-BE49-F238E27FC236}">
                <a16:creationId xmlns:a16="http://schemas.microsoft.com/office/drawing/2014/main" id="{EBB66738-592B-4867-860D-394FCE7F2CE4}"/>
              </a:ext>
            </a:extLst>
          </p:cNvPr>
          <p:cNvSpPr txBox="1"/>
          <p:nvPr/>
        </p:nvSpPr>
        <p:spPr>
          <a:xfrm>
            <a:off x="5058626" y="6346451"/>
            <a:ext cx="6097836"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ACED5-4545-4C55-9339-27E0833A921F}"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1439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24C8E90C-933F-46BE-BE4E-A04876D9E44B}"/>
              </a:ext>
            </a:extLst>
          </p:cNvPr>
          <p:cNvSpPr>
            <a:spLocks noGrp="1"/>
          </p:cNvSpPr>
          <p:nvPr>
            <p:ph type="sldNum" sz="quarter" idx="12"/>
          </p:nvPr>
        </p:nvSpPr>
        <p:spPr/>
        <p:txBody>
          <a:bodyPr/>
          <a:lstStyle/>
          <a:p>
            <a:fld id="{DABACED5-4545-4C55-9339-27E0833A921F}" type="slidenum">
              <a:rPr lang="fr-FR" smtClean="0"/>
              <a:t>10</a:t>
            </a:fld>
            <a:endParaRPr lang="fr-FR" dirty="0"/>
          </a:p>
        </p:txBody>
      </p:sp>
      <p:sp>
        <p:nvSpPr>
          <p:cNvPr id="3" name="Rectangle 2">
            <a:extLst>
              <a:ext uri="{FF2B5EF4-FFF2-40B4-BE49-F238E27FC236}">
                <a16:creationId xmlns:a16="http://schemas.microsoft.com/office/drawing/2014/main" id="{90A18AB0-DB54-4185-A6BB-2EBA530ABB61}"/>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MATERIEL ET METHODES(</a:t>
            </a:r>
            <a:r>
              <a:rPr lang="fr-FR" sz="3200" b="1" kern="0" dirty="0">
                <a:solidFill>
                  <a:schemeClr val="tx1"/>
                </a:solidFill>
                <a:latin typeface="Times New Roman" pitchFamily="18" charset="0"/>
                <a:ea typeface="Cambria Math" pitchFamily="18" charset="0"/>
                <a:cs typeface="Times New Roman" pitchFamily="18" charset="0"/>
                <a:sym typeface="Arial"/>
              </a:rPr>
              <a:t>2</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/4)</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4" name="ZoneTexte 3">
            <a:extLst>
              <a:ext uri="{FF2B5EF4-FFF2-40B4-BE49-F238E27FC236}">
                <a16:creationId xmlns:a16="http://schemas.microsoft.com/office/drawing/2014/main" id="{E36012C8-BAF4-43DB-A9EE-99BBBA32E7FE}"/>
              </a:ext>
            </a:extLst>
          </p:cNvPr>
          <p:cNvSpPr txBox="1"/>
          <p:nvPr/>
        </p:nvSpPr>
        <p:spPr>
          <a:xfrm>
            <a:off x="1666167" y="648563"/>
            <a:ext cx="8857561" cy="461665"/>
          </a:xfrm>
          <a:prstGeom prst="rect">
            <a:avLst/>
          </a:prstGeom>
          <a:noFill/>
        </p:spPr>
        <p:txBody>
          <a:bodyPr wrap="square" rtlCol="0">
            <a:spAutoFit/>
          </a:bodyPr>
          <a:lstStyle/>
          <a:p>
            <a:pPr marL="342900" indent="-34290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Délimitation du bassin versant </a:t>
            </a:r>
            <a:r>
              <a:rPr lang="fr-FR" sz="2400" b="1" dirty="0" err="1">
                <a:latin typeface="Times New Roman" panose="02020603050405020304" pitchFamily="18" charset="0"/>
                <a:cs typeface="Times New Roman" panose="02020603050405020304" pitchFamily="18" charset="0"/>
              </a:rPr>
              <a:t>Qb</a:t>
            </a:r>
            <a:endParaRPr lang="fr-FR" sz="2400" b="1" dirty="0">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E76F5805-936E-454D-A32A-E97F189F99D2}"/>
              </a:ext>
            </a:extLst>
          </p:cNvPr>
          <p:cNvPicPr>
            <a:picLocks noChangeAspect="1"/>
          </p:cNvPicPr>
          <p:nvPr/>
        </p:nvPicPr>
        <p:blipFill rotWithShape="1">
          <a:blip r:embed="rId4">
            <a:extLst>
              <a:ext uri="{28A0092B-C50C-407E-A947-70E740481C1C}">
                <a14:useLocalDpi xmlns:a14="http://schemas.microsoft.com/office/drawing/2010/main" val="0"/>
              </a:ext>
            </a:extLst>
          </a:blip>
          <a:srcRect l="-1" t="-880" r="4985"/>
          <a:stretch/>
        </p:blipFill>
        <p:spPr>
          <a:xfrm>
            <a:off x="40392" y="1103792"/>
            <a:ext cx="3618033" cy="2029092"/>
          </a:xfrm>
          <a:prstGeom prst="rect">
            <a:avLst/>
          </a:prstGeom>
          <a:effectLst>
            <a:outerShdw blurRad="63500" sx="102000" sy="102000" algn="ctr" rotWithShape="0">
              <a:prstClr val="black">
                <a:alpha val="40000"/>
              </a:prstClr>
            </a:outerShdw>
          </a:effectLst>
        </p:spPr>
      </p:pic>
      <p:pic>
        <p:nvPicPr>
          <p:cNvPr id="9" name="Image 8">
            <a:extLst>
              <a:ext uri="{FF2B5EF4-FFF2-40B4-BE49-F238E27FC236}">
                <a16:creationId xmlns:a16="http://schemas.microsoft.com/office/drawing/2014/main" id="{5813A2A0-A47E-4D7C-B106-5FECF6585B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5726" y="3517426"/>
            <a:ext cx="4014295" cy="2120286"/>
          </a:xfrm>
          <a:prstGeom prst="rect">
            <a:avLst/>
          </a:prstGeom>
          <a:effectLst>
            <a:outerShdw blurRad="63500" sx="102000" sy="102000" algn="ctr" rotWithShape="0">
              <a:prstClr val="black">
                <a:alpha val="40000"/>
              </a:prstClr>
            </a:outerShdw>
          </a:effectLst>
        </p:spPr>
      </p:pic>
      <p:pic>
        <p:nvPicPr>
          <p:cNvPr id="12" name="Image 11">
            <a:extLst>
              <a:ext uri="{FF2B5EF4-FFF2-40B4-BE49-F238E27FC236}">
                <a16:creationId xmlns:a16="http://schemas.microsoft.com/office/drawing/2014/main" id="{34518CC1-7A1E-471F-9774-4514EB4B0CA9}"/>
              </a:ext>
            </a:extLst>
          </p:cNvPr>
          <p:cNvPicPr>
            <a:picLocks noChangeAspect="1"/>
          </p:cNvPicPr>
          <p:nvPr/>
        </p:nvPicPr>
        <p:blipFill rotWithShape="1">
          <a:blip r:embed="rId6">
            <a:extLst>
              <a:ext uri="{28A0092B-C50C-407E-A947-70E740481C1C}">
                <a14:useLocalDpi xmlns:a14="http://schemas.microsoft.com/office/drawing/2010/main" val="0"/>
              </a:ext>
            </a:extLst>
          </a:blip>
          <a:srcRect l="814" t="3119" r="3945" b="-3119"/>
          <a:stretch/>
        </p:blipFill>
        <p:spPr>
          <a:xfrm>
            <a:off x="8622180" y="1218398"/>
            <a:ext cx="3440925" cy="1912914"/>
          </a:xfrm>
          <a:prstGeom prst="rect">
            <a:avLst/>
          </a:prstGeom>
          <a:effectLst>
            <a:outerShdw blurRad="63500" sx="102000" sy="102000" algn="ctr" rotWithShape="0">
              <a:prstClr val="black">
                <a:alpha val="40000"/>
              </a:prstClr>
            </a:outerShdw>
          </a:effectLst>
        </p:spPr>
      </p:pic>
      <p:sp>
        <p:nvSpPr>
          <p:cNvPr id="14" name="Rectangle 13">
            <a:extLst>
              <a:ext uri="{FF2B5EF4-FFF2-40B4-BE49-F238E27FC236}">
                <a16:creationId xmlns:a16="http://schemas.microsoft.com/office/drawing/2014/main" id="{75B20B81-A729-4D71-8118-F9CD4DB5F6BF}"/>
              </a:ext>
            </a:extLst>
          </p:cNvPr>
          <p:cNvSpPr/>
          <p:nvPr/>
        </p:nvSpPr>
        <p:spPr>
          <a:xfrm>
            <a:off x="3477836" y="3132884"/>
            <a:ext cx="45719" cy="1418422"/>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droite 14">
            <a:extLst>
              <a:ext uri="{FF2B5EF4-FFF2-40B4-BE49-F238E27FC236}">
                <a16:creationId xmlns:a16="http://schemas.microsoft.com/office/drawing/2014/main" id="{701B5DEC-6211-42F2-BA43-E74BD5A9E858}"/>
              </a:ext>
            </a:extLst>
          </p:cNvPr>
          <p:cNvSpPr/>
          <p:nvPr/>
        </p:nvSpPr>
        <p:spPr>
          <a:xfrm>
            <a:off x="3532937" y="4478417"/>
            <a:ext cx="635491" cy="991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F925CA76-1CA8-4EB1-83B1-7DFDC3F7086D}"/>
              </a:ext>
            </a:extLst>
          </p:cNvPr>
          <p:cNvSpPr/>
          <p:nvPr/>
        </p:nvSpPr>
        <p:spPr>
          <a:xfrm>
            <a:off x="8200588" y="4527993"/>
            <a:ext cx="70276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lèche : haut 17">
            <a:extLst>
              <a:ext uri="{FF2B5EF4-FFF2-40B4-BE49-F238E27FC236}">
                <a16:creationId xmlns:a16="http://schemas.microsoft.com/office/drawing/2014/main" id="{F0C578E5-B9FC-493D-8F93-7ABA2623501E}"/>
              </a:ext>
            </a:extLst>
          </p:cNvPr>
          <p:cNvSpPr/>
          <p:nvPr/>
        </p:nvSpPr>
        <p:spPr>
          <a:xfrm>
            <a:off x="8819484" y="3109571"/>
            <a:ext cx="99866" cy="14184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035B979D-9F97-4266-A5B9-804C33E17D5A}"/>
              </a:ext>
            </a:extLst>
          </p:cNvPr>
          <p:cNvSpPr txBox="1"/>
          <p:nvPr/>
        </p:nvSpPr>
        <p:spPr>
          <a:xfrm>
            <a:off x="133122" y="3229649"/>
            <a:ext cx="3370447" cy="1754326"/>
          </a:xfrm>
          <a:prstGeom prst="rect">
            <a:avLst/>
          </a:prstGeom>
          <a:noFill/>
        </p:spPr>
        <p:txBody>
          <a:bodyPr wrap="square" rtlCol="0">
            <a:spAutoFit/>
          </a:bodyPr>
          <a:lstStyle/>
          <a:p>
            <a:pPr marL="285750" indent="-285750">
              <a:buFontTx/>
              <a:buChar char="-"/>
            </a:pPr>
            <a:r>
              <a:rPr lang="fr-FR" dirty="0">
                <a:latin typeface="Times New Roman" panose="02020603050405020304" pitchFamily="18" charset="0"/>
                <a:cs typeface="Times New Roman" panose="02020603050405020304" pitchFamily="18" charset="0"/>
              </a:rPr>
              <a:t>Importation du MNT Cop DEM 30 m initialement traité dans le logiciel Global Mapper</a:t>
            </a:r>
          </a:p>
          <a:p>
            <a:pPr marL="285750" indent="-285750">
              <a:buFontTx/>
              <a:buChar char="-"/>
            </a:pPr>
            <a:r>
              <a:rPr lang="fr-FR" dirty="0">
                <a:latin typeface="Times New Roman" panose="02020603050405020304" pitchFamily="18" charset="0"/>
                <a:cs typeface="Times New Roman" panose="02020603050405020304" pitchFamily="18" charset="0"/>
              </a:rPr>
              <a:t> Définition du point exutoire du bassin </a:t>
            </a:r>
            <a:r>
              <a:rPr lang="fr-FR" dirty="0" err="1">
                <a:latin typeface="Times New Roman" panose="02020603050405020304" pitchFamily="18" charset="0"/>
                <a:cs typeface="Times New Roman" panose="02020603050405020304" pitchFamily="18" charset="0"/>
              </a:rPr>
              <a:t>Qb</a:t>
            </a:r>
            <a:r>
              <a:rPr lang="fr-FR" dirty="0">
                <a:latin typeface="Times New Roman" panose="02020603050405020304" pitchFamily="18" charset="0"/>
                <a:cs typeface="Times New Roman" panose="02020603050405020304" pitchFamily="18" charset="0"/>
              </a:rPr>
              <a:t> grâce à ses coordonnées géographiques</a:t>
            </a:r>
          </a:p>
        </p:txBody>
      </p:sp>
      <p:sp>
        <p:nvSpPr>
          <p:cNvPr id="21" name="ZoneTexte 20">
            <a:extLst>
              <a:ext uri="{FF2B5EF4-FFF2-40B4-BE49-F238E27FC236}">
                <a16:creationId xmlns:a16="http://schemas.microsoft.com/office/drawing/2014/main" id="{9D0D9AF2-F8A4-4229-BAEA-C75293266D6A}"/>
              </a:ext>
            </a:extLst>
          </p:cNvPr>
          <p:cNvSpPr txBox="1"/>
          <p:nvPr/>
        </p:nvSpPr>
        <p:spPr>
          <a:xfrm>
            <a:off x="4316775" y="5710019"/>
            <a:ext cx="4014294" cy="646331"/>
          </a:xfrm>
          <a:prstGeom prst="rect">
            <a:avLst/>
          </a:prstGeom>
          <a:noFill/>
        </p:spPr>
        <p:txBody>
          <a:bodyPr wrap="square" rtlCol="0">
            <a:spAutoFit/>
          </a:bodyPr>
          <a:lstStyle/>
          <a:p>
            <a:pPr algn="ctr"/>
            <a:r>
              <a:rPr lang="fr-FR" dirty="0">
                <a:latin typeface="Times New Roman" panose="02020603050405020304" pitchFamily="18" charset="0"/>
                <a:cs typeface="Times New Roman" panose="02020603050405020304" pitchFamily="18" charset="0"/>
              </a:rPr>
              <a:t>Utilisation de l’outil ‘’</a:t>
            </a:r>
            <a:r>
              <a:rPr lang="fr-FR" dirty="0" err="1">
                <a:latin typeface="Times New Roman" panose="02020603050405020304" pitchFamily="18" charset="0"/>
                <a:cs typeface="Times New Roman" panose="02020603050405020304" pitchFamily="18" charset="0"/>
              </a:rPr>
              <a:t>Create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Watershed</a:t>
            </a:r>
            <a:r>
              <a:rPr lang="fr-FR" dirty="0">
                <a:latin typeface="Times New Roman" panose="02020603050405020304" pitchFamily="18" charset="0"/>
                <a:cs typeface="Times New Roman" panose="02020603050405020304" pitchFamily="18" charset="0"/>
              </a:rPr>
              <a:t>’’ pour paramétrer la délimitation</a:t>
            </a:r>
          </a:p>
        </p:txBody>
      </p:sp>
      <p:sp>
        <p:nvSpPr>
          <p:cNvPr id="22" name="ZoneTexte 21">
            <a:extLst>
              <a:ext uri="{FF2B5EF4-FFF2-40B4-BE49-F238E27FC236}">
                <a16:creationId xmlns:a16="http://schemas.microsoft.com/office/drawing/2014/main" id="{1BB6C40E-9B40-443C-9FB0-D648EC1E404C}"/>
              </a:ext>
            </a:extLst>
          </p:cNvPr>
          <p:cNvSpPr txBox="1"/>
          <p:nvPr/>
        </p:nvSpPr>
        <p:spPr>
          <a:xfrm>
            <a:off x="9017925" y="3160292"/>
            <a:ext cx="2914602" cy="1477328"/>
          </a:xfrm>
          <a:prstGeom prst="rect">
            <a:avLst/>
          </a:prstGeom>
          <a:noFill/>
        </p:spPr>
        <p:txBody>
          <a:bodyPr wrap="square" rtlCol="0">
            <a:spAutoFit/>
          </a:bodyPr>
          <a:lstStyle/>
          <a:p>
            <a:pPr marL="285750" indent="-285750">
              <a:buFontTx/>
              <a:buChar char="-"/>
            </a:pPr>
            <a:r>
              <a:rPr lang="fr-FR" dirty="0">
                <a:latin typeface="Times New Roman" panose="02020603050405020304" pitchFamily="18" charset="0"/>
                <a:cs typeface="Times New Roman" panose="02020603050405020304" pitchFamily="18" charset="0"/>
              </a:rPr>
              <a:t>Identification du bassin correspondant </a:t>
            </a:r>
          </a:p>
          <a:p>
            <a:pPr marL="285750" indent="-285750">
              <a:buFontTx/>
              <a:buChar char="-"/>
            </a:pPr>
            <a:r>
              <a:rPr lang="fr-FR" dirty="0">
                <a:latin typeface="Times New Roman" panose="02020603050405020304" pitchFamily="18" charset="0"/>
                <a:cs typeface="Times New Roman" panose="02020603050405020304" pitchFamily="18" charset="0"/>
              </a:rPr>
              <a:t>Détermination automatique des caractéristiques physique </a:t>
            </a:r>
          </a:p>
        </p:txBody>
      </p:sp>
      <p:sp>
        <p:nvSpPr>
          <p:cNvPr id="19" name="ZoneTexte 18">
            <a:extLst>
              <a:ext uri="{FF2B5EF4-FFF2-40B4-BE49-F238E27FC236}">
                <a16:creationId xmlns:a16="http://schemas.microsoft.com/office/drawing/2014/main" id="{066AD9E7-F171-44CE-9D14-757EF61AB555}"/>
              </a:ext>
            </a:extLst>
          </p:cNvPr>
          <p:cNvSpPr txBox="1"/>
          <p:nvPr/>
        </p:nvSpPr>
        <p:spPr>
          <a:xfrm>
            <a:off x="2814519" y="6354311"/>
            <a:ext cx="6968580"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Figure 4 </a:t>
            </a:r>
            <a:r>
              <a:rPr lang="fr-FR" sz="2400" dirty="0">
                <a:latin typeface="Times New Roman" panose="02020603050405020304" pitchFamily="18" charset="0"/>
                <a:cs typeface="Times New Roman" panose="02020603050405020304" pitchFamily="18" charset="0"/>
              </a:rPr>
              <a:t>: Etapes de la délimitation du bassin versant</a:t>
            </a:r>
          </a:p>
        </p:txBody>
      </p:sp>
    </p:spTree>
    <p:extLst>
      <p:ext uri="{BB962C8B-B14F-4D97-AF65-F5344CB8AC3E}">
        <p14:creationId xmlns:p14="http://schemas.microsoft.com/office/powerpoint/2010/main" val="100330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arn(inVertical)">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C9CFCE7-E012-428D-B71E-8E07B8B2EF44}"/>
              </a:ext>
            </a:extLst>
          </p:cNvPr>
          <p:cNvSpPr>
            <a:spLocks noGrp="1"/>
          </p:cNvSpPr>
          <p:nvPr>
            <p:ph type="sldNum" sz="quarter" idx="12"/>
          </p:nvPr>
        </p:nvSpPr>
        <p:spPr/>
        <p:txBody>
          <a:bodyPr/>
          <a:lstStyle/>
          <a:p>
            <a:fld id="{DABACED5-4545-4C55-9339-27E0833A921F}" type="slidenum">
              <a:rPr lang="fr-FR" smtClean="0"/>
              <a:t>11</a:t>
            </a:fld>
            <a:endParaRPr lang="fr-FR" dirty="0"/>
          </a:p>
        </p:txBody>
      </p:sp>
      <p:sp>
        <p:nvSpPr>
          <p:cNvPr id="6" name="Rectangle 5">
            <a:extLst>
              <a:ext uri="{FF2B5EF4-FFF2-40B4-BE49-F238E27FC236}">
                <a16:creationId xmlns:a16="http://schemas.microsoft.com/office/drawing/2014/main" id="{C6970DA5-8F32-47D6-92F6-A873B6899BD3}"/>
              </a:ext>
            </a:extLst>
          </p:cNvPr>
          <p:cNvSpPr/>
          <p:nvPr/>
        </p:nvSpPr>
        <p:spPr>
          <a:xfrm>
            <a:off x="0" y="-28432"/>
            <a:ext cx="12192000" cy="678989"/>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MATERIEL ET METHODES(3/4)</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7" name="ZoneTexte 6">
            <a:extLst>
              <a:ext uri="{FF2B5EF4-FFF2-40B4-BE49-F238E27FC236}">
                <a16:creationId xmlns:a16="http://schemas.microsoft.com/office/drawing/2014/main" id="{5A5EFF56-E066-4BF5-BB5B-E595B2FCA3B1}"/>
              </a:ext>
            </a:extLst>
          </p:cNvPr>
          <p:cNvSpPr txBox="1"/>
          <p:nvPr/>
        </p:nvSpPr>
        <p:spPr>
          <a:xfrm>
            <a:off x="1666167" y="648563"/>
            <a:ext cx="8857561" cy="461665"/>
          </a:xfrm>
          <a:prstGeom prst="rect">
            <a:avLst/>
          </a:prstGeom>
          <a:noFill/>
        </p:spPr>
        <p:txBody>
          <a:bodyPr wrap="square" rtlCol="0">
            <a:spAutoFit/>
          </a:bodyPr>
          <a:lstStyle/>
          <a:p>
            <a:pPr marL="342900" indent="-34290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Caractérisation de la morphologie du bassin versant </a:t>
            </a:r>
            <a:r>
              <a:rPr lang="fr-FR" sz="2400" b="1" dirty="0" err="1">
                <a:latin typeface="Times New Roman" panose="02020603050405020304" pitchFamily="18" charset="0"/>
                <a:cs typeface="Times New Roman" panose="02020603050405020304" pitchFamily="18" charset="0"/>
              </a:rPr>
              <a:t>Qb</a:t>
            </a:r>
            <a:endParaRPr lang="fr-FR"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9" name="Tableau 9">
                <a:extLst>
                  <a:ext uri="{FF2B5EF4-FFF2-40B4-BE49-F238E27FC236}">
                    <a16:creationId xmlns:a16="http://schemas.microsoft.com/office/drawing/2014/main" id="{B99A6636-C4A1-421F-87AB-89FFC3594F44}"/>
                  </a:ext>
                </a:extLst>
              </p:cNvPr>
              <p:cNvGraphicFramePr>
                <a:graphicFrameLocks noGrp="1"/>
              </p:cNvGraphicFramePr>
              <p:nvPr>
                <p:extLst>
                  <p:ext uri="{D42A27DB-BD31-4B8C-83A1-F6EECF244321}">
                    <p14:modId xmlns:p14="http://schemas.microsoft.com/office/powerpoint/2010/main" val="2208149683"/>
                  </p:ext>
                </p:extLst>
              </p:nvPr>
            </p:nvGraphicFramePr>
            <p:xfrm>
              <a:off x="587566" y="1665153"/>
              <a:ext cx="11016868" cy="4437840"/>
            </p:xfrm>
            <a:graphic>
              <a:graphicData uri="http://schemas.openxmlformats.org/drawingml/2006/table">
                <a:tbl>
                  <a:tblPr firstRow="1" bandRow="1">
                    <a:tableStyleId>{5940675A-B579-460E-94D1-54222C63F5DA}</a:tableStyleId>
                  </a:tblPr>
                  <a:tblGrid>
                    <a:gridCol w="5508434">
                      <a:extLst>
                        <a:ext uri="{9D8B030D-6E8A-4147-A177-3AD203B41FA5}">
                          <a16:colId xmlns:a16="http://schemas.microsoft.com/office/drawing/2014/main" val="1301342241"/>
                        </a:ext>
                      </a:extLst>
                    </a:gridCol>
                    <a:gridCol w="5508434">
                      <a:extLst>
                        <a:ext uri="{9D8B030D-6E8A-4147-A177-3AD203B41FA5}">
                          <a16:colId xmlns:a16="http://schemas.microsoft.com/office/drawing/2014/main" val="3982531924"/>
                        </a:ext>
                      </a:extLst>
                    </a:gridCol>
                  </a:tblGrid>
                  <a:tr h="1078817">
                    <a:tc>
                      <a:txBody>
                        <a:bodyPr/>
                        <a:lstStyle/>
                        <a:p>
                          <a:pPr algn="ctr"/>
                          <a:r>
                            <a:rPr lang="fr-FR" sz="2400" b="1" dirty="0">
                              <a:latin typeface="Times New Roman" panose="02020603050405020304" pitchFamily="18" charset="0"/>
                              <a:cs typeface="Times New Roman" panose="02020603050405020304" pitchFamily="18" charset="0"/>
                            </a:rPr>
                            <a:t>Paramètres estimés automatiquement à partir de Global Mapper</a:t>
                          </a:r>
                        </a:p>
                      </a:txBody>
                      <a:tcPr>
                        <a:solidFill>
                          <a:schemeClr val="accent1">
                            <a:lumMod val="40000"/>
                            <a:lumOff val="60000"/>
                          </a:schemeClr>
                        </a:solidFill>
                      </a:tcPr>
                    </a:tc>
                    <a:tc>
                      <a:txBody>
                        <a:bodyPr/>
                        <a:lstStyle/>
                        <a:p>
                          <a:pPr algn="ctr"/>
                          <a:r>
                            <a:rPr lang="fr-FR" sz="2400" b="1" dirty="0">
                              <a:latin typeface="Times New Roman" panose="02020603050405020304" pitchFamily="18" charset="0"/>
                              <a:cs typeface="Times New Roman" panose="02020603050405020304" pitchFamily="18" charset="0"/>
                            </a:rPr>
                            <a:t>Paramètres calculés à partir de ceux estimer automatiquement </a:t>
                          </a:r>
                        </a:p>
                      </a:txBody>
                      <a:tcPr>
                        <a:solidFill>
                          <a:schemeClr val="accent1">
                            <a:lumMod val="40000"/>
                            <a:lumOff val="60000"/>
                          </a:schemeClr>
                        </a:solidFill>
                      </a:tcPr>
                    </a:tc>
                    <a:extLst>
                      <a:ext uri="{0D108BD9-81ED-4DB2-BD59-A6C34878D82A}">
                        <a16:rowId xmlns:a16="http://schemas.microsoft.com/office/drawing/2014/main" val="2428863547"/>
                      </a:ext>
                    </a:extLst>
                  </a:tr>
                  <a:tr h="3201218">
                    <a:tc>
                      <a:txBody>
                        <a:bodyPr/>
                        <a:lstStyle/>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Superficie (S) en km²</a:t>
                          </a:r>
                        </a:p>
                        <a:p>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Périmètre (P) en km</a:t>
                          </a:r>
                        </a:p>
                        <a:p>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Altitude min et Altitude max en m</a:t>
                          </a:r>
                        </a:p>
                        <a:p>
                          <a:pPr marL="0" indent="0">
                            <a:buFont typeface="Wingdings" panose="05000000000000000000" pitchFamily="2" charset="2"/>
                            <a:buNone/>
                          </a:pPr>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Pente moyenne en %</a:t>
                          </a:r>
                        </a:p>
                        <a:p>
                          <a:endParaRPr lang="fr-FR" sz="2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Indice de compacité :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fr-FR" sz="2400" b="1" i="1" kern="1200" smtClean="0">
                                    <a:solidFill>
                                      <a:schemeClr val="tx1"/>
                                    </a:solidFill>
                                    <a:effectLst/>
                                    <a:latin typeface="Cambria Math" panose="02040503050406030204" pitchFamily="18" charset="0"/>
                                    <a:ea typeface="+mn-ea"/>
                                    <a:cs typeface="+mn-cs"/>
                                  </a:rPr>
                                  <m:t>𝐊𝐜</m:t>
                                </m:r>
                                <m:r>
                                  <a:rPr lang="fr-FR" sz="2400" b="1" kern="1200" smtClean="0">
                                    <a:solidFill>
                                      <a:schemeClr val="tx1"/>
                                    </a:solidFill>
                                    <a:effectLst/>
                                    <a:latin typeface="Cambria Math" panose="02040503050406030204" pitchFamily="18" charset="0"/>
                                    <a:ea typeface="+mn-ea"/>
                                    <a:cs typeface="+mn-cs"/>
                                  </a:rPr>
                                  <m:t>=</m:t>
                                </m:r>
                                <m:r>
                                  <a:rPr lang="fr-FR" sz="2400" b="1" i="1" kern="1200" smtClean="0">
                                    <a:solidFill>
                                      <a:schemeClr val="tx1"/>
                                    </a:solidFill>
                                    <a:effectLst/>
                                    <a:latin typeface="Cambria Math" panose="02040503050406030204" pitchFamily="18" charset="0"/>
                                    <a:ea typeface="+mn-ea"/>
                                    <a:cs typeface="+mn-cs"/>
                                  </a:rPr>
                                  <m:t>𝟎</m:t>
                                </m:r>
                                <m:r>
                                  <a:rPr lang="fr-FR" sz="2400" b="1" kern="1200" smtClean="0">
                                    <a:solidFill>
                                      <a:schemeClr val="tx1"/>
                                    </a:solidFill>
                                    <a:effectLst/>
                                    <a:latin typeface="Cambria Math" panose="02040503050406030204" pitchFamily="18" charset="0"/>
                                    <a:ea typeface="+mn-ea"/>
                                    <a:cs typeface="+mn-cs"/>
                                  </a:rPr>
                                  <m:t>,</m:t>
                                </m:r>
                                <m:r>
                                  <a:rPr lang="fr-FR" sz="2400" b="1" i="1" kern="1200" smtClean="0">
                                    <a:solidFill>
                                      <a:schemeClr val="tx1"/>
                                    </a:solidFill>
                                    <a:effectLst/>
                                    <a:latin typeface="Cambria Math" panose="02040503050406030204" pitchFamily="18" charset="0"/>
                                    <a:ea typeface="+mn-ea"/>
                                    <a:cs typeface="+mn-cs"/>
                                  </a:rPr>
                                  <m:t>𝟐𝟖𝟐</m:t>
                                </m:r>
                                <m:r>
                                  <a:rPr lang="fr-FR" sz="2400" b="1" i="1" kern="1200">
                                    <a:solidFill>
                                      <a:schemeClr val="tx1"/>
                                    </a:solidFill>
                                    <a:effectLst/>
                                    <a:latin typeface="Cambria Math" panose="02040503050406030204" pitchFamily="18" charset="0"/>
                                    <a:ea typeface="+mn-ea"/>
                                    <a:cs typeface="+mn-cs"/>
                                  </a:rPr>
                                  <m:t>∗</m:t>
                                </m:r>
                                <m:r>
                                  <a:rPr lang="fr-FR" sz="2400" b="1" i="1" kern="1200">
                                    <a:solidFill>
                                      <a:schemeClr val="tx1"/>
                                    </a:solidFill>
                                    <a:effectLst/>
                                    <a:latin typeface="Cambria Math" panose="02040503050406030204" pitchFamily="18" charset="0"/>
                                    <a:ea typeface="+mn-ea"/>
                                    <a:cs typeface="+mn-cs"/>
                                  </a:rPr>
                                  <m:t>𝑷</m:t>
                                </m:r>
                                <m:r>
                                  <a:rPr lang="fr-FR" sz="2400" b="1" i="1" kern="1200">
                                    <a:solidFill>
                                      <a:schemeClr val="tx1"/>
                                    </a:solidFill>
                                    <a:effectLst/>
                                    <a:latin typeface="Cambria Math" panose="02040503050406030204" pitchFamily="18" charset="0"/>
                                    <a:ea typeface="+mn-ea"/>
                                    <a:cs typeface="+mn-cs"/>
                                  </a:rPr>
                                  <m:t>∗</m:t>
                                </m:r>
                                <m:sSup>
                                  <m:sSupPr>
                                    <m:ctrlPr>
                                      <a:rPr lang="fr-FR" sz="2400" b="1" i="1" kern="1200">
                                        <a:solidFill>
                                          <a:schemeClr val="tx1"/>
                                        </a:solidFill>
                                        <a:effectLst/>
                                        <a:latin typeface="Cambria Math" panose="02040503050406030204" pitchFamily="18" charset="0"/>
                                        <a:ea typeface="+mn-ea"/>
                                        <a:cs typeface="+mn-cs"/>
                                      </a:rPr>
                                    </m:ctrlPr>
                                  </m:sSupPr>
                                  <m:e>
                                    <m:r>
                                      <a:rPr lang="fr-FR" sz="2400" b="1" i="1" kern="1200">
                                        <a:solidFill>
                                          <a:schemeClr val="tx1"/>
                                        </a:solidFill>
                                        <a:effectLst/>
                                        <a:latin typeface="Cambria Math" panose="02040503050406030204" pitchFamily="18" charset="0"/>
                                        <a:ea typeface="+mn-ea"/>
                                        <a:cs typeface="+mn-cs"/>
                                      </a:rPr>
                                      <m:t>𝑺</m:t>
                                    </m:r>
                                  </m:e>
                                  <m:sup>
                                    <m:d>
                                      <m:dPr>
                                        <m:ctrlPr>
                                          <a:rPr lang="fr-FR" sz="2400" b="1" i="1" kern="1200">
                                            <a:solidFill>
                                              <a:schemeClr val="tx1"/>
                                            </a:solidFill>
                                            <a:effectLst/>
                                            <a:latin typeface="Cambria Math" panose="02040503050406030204" pitchFamily="18" charset="0"/>
                                            <a:ea typeface="+mn-ea"/>
                                            <a:cs typeface="+mn-cs"/>
                                          </a:rPr>
                                        </m:ctrlPr>
                                      </m:dPr>
                                      <m:e>
                                        <m:r>
                                          <a:rPr lang="fr-FR" sz="2400" b="1" i="1" kern="1200">
                                            <a:solidFill>
                                              <a:schemeClr val="tx1"/>
                                            </a:solidFill>
                                            <a:effectLst/>
                                            <a:latin typeface="Cambria Math" panose="02040503050406030204" pitchFamily="18" charset="0"/>
                                            <a:ea typeface="+mn-ea"/>
                                            <a:cs typeface="+mn-cs"/>
                                          </a:rPr>
                                          <m:t>−</m:t>
                                        </m:r>
                                        <m:f>
                                          <m:fPr>
                                            <m:ctrlPr>
                                              <a:rPr lang="fr-FR" sz="2400" b="1" i="1" kern="1200">
                                                <a:solidFill>
                                                  <a:schemeClr val="tx1"/>
                                                </a:solidFill>
                                                <a:effectLst/>
                                                <a:latin typeface="Cambria Math" panose="02040503050406030204" pitchFamily="18" charset="0"/>
                                                <a:ea typeface="+mn-ea"/>
                                                <a:cs typeface="+mn-cs"/>
                                              </a:rPr>
                                            </m:ctrlPr>
                                          </m:fPr>
                                          <m:num>
                                            <m:r>
                                              <a:rPr lang="fr-FR" sz="2400" b="1" i="1" kern="1200">
                                                <a:solidFill>
                                                  <a:schemeClr val="tx1"/>
                                                </a:solidFill>
                                                <a:effectLst/>
                                                <a:latin typeface="Cambria Math" panose="02040503050406030204" pitchFamily="18" charset="0"/>
                                                <a:ea typeface="+mn-ea"/>
                                                <a:cs typeface="+mn-cs"/>
                                              </a:rPr>
                                              <m:t>𝟏</m:t>
                                            </m:r>
                                          </m:num>
                                          <m:den>
                                            <m:r>
                                              <a:rPr lang="fr-FR" sz="2400" b="1" i="1" kern="1200">
                                                <a:solidFill>
                                                  <a:schemeClr val="tx1"/>
                                                </a:solidFill>
                                                <a:effectLst/>
                                                <a:latin typeface="Cambria Math" panose="02040503050406030204" pitchFamily="18" charset="0"/>
                                                <a:ea typeface="+mn-ea"/>
                                                <a:cs typeface="+mn-cs"/>
                                              </a:rPr>
                                              <m:t>𝟐</m:t>
                                            </m:r>
                                          </m:den>
                                        </m:f>
                                      </m:e>
                                    </m:d>
                                  </m:sup>
                                </m:sSup>
                                <m:r>
                                  <a:rPr lang="fr-FR" sz="2400" b="1" i="1" kern="1200" smtClean="0">
                                    <a:solidFill>
                                      <a:schemeClr val="tx1"/>
                                    </a:solidFill>
                                    <a:effectLst/>
                                    <a:latin typeface="Cambria Math" panose="02040503050406030204" pitchFamily="18" charset="0"/>
                                    <a:ea typeface="+mn-ea"/>
                                    <a:cs typeface="+mn-cs"/>
                                  </a:rPr>
                                  <m:t> </m:t>
                                </m:r>
                              </m:oMath>
                            </m:oMathPara>
                          </a14:m>
                          <a:endParaRPr lang="fr-FR" sz="2800" b="1" dirty="0">
                            <a:latin typeface="Times New Roman" panose="02020603050405020304" pitchFamily="18" charset="0"/>
                            <a:cs typeface="Times New Roman" panose="02020603050405020304" pitchFamily="18" charset="0"/>
                          </a:endParaRPr>
                        </a:p>
                        <a:p>
                          <a:r>
                            <a:rPr lang="fr-FR" sz="2400" b="0" dirty="0">
                              <a:latin typeface="Times New Roman" panose="02020603050405020304" pitchFamily="18" charset="0"/>
                              <a:cs typeface="Times New Roman" panose="02020603050405020304" pitchFamily="18" charset="0"/>
                            </a:rPr>
                            <a:t>Avec P en km, S en km²</a:t>
                          </a:r>
                        </a:p>
                        <a:p>
                          <a:pPr marL="342900" indent="-342900">
                            <a:buFont typeface="Arial" panose="020B0604020202020204" pitchFamily="34" charset="0"/>
                            <a:buChar char="•"/>
                          </a:pPr>
                          <a:r>
                            <a:rPr lang="fr-FR" sz="2400" kern="1200" dirty="0">
                              <a:solidFill>
                                <a:schemeClr val="tx1"/>
                              </a:solidFill>
                              <a:effectLst/>
                              <a:latin typeface="Times New Roman" panose="02020603050405020304" pitchFamily="18" charset="0"/>
                              <a:ea typeface="+mn-ea"/>
                              <a:cs typeface="Times New Roman" panose="02020603050405020304" pitchFamily="18" charset="0"/>
                            </a:rPr>
                            <a:t>Indice globale de pente :</a:t>
                          </a:r>
                        </a:p>
                        <a:p>
                          <a:pPr marL="0" indent="0" algn="ctr">
                            <a:buFont typeface="Arial" panose="020B0604020202020204" pitchFamily="34" charset="0"/>
                            <a:buNone/>
                          </a:pPr>
                          <a:r>
                            <a:rPr lang="fr-FR" sz="2400" kern="1200" dirty="0">
                              <a:solidFill>
                                <a:schemeClr val="tx1"/>
                              </a:solidFill>
                              <a:effectLst/>
                              <a:latin typeface="Times New Roman" panose="02020603050405020304" pitchFamily="18" charset="0"/>
                              <a:ea typeface="+mn-ea"/>
                              <a:cs typeface="Times New Roman" panose="02020603050405020304" pitchFamily="18" charset="0"/>
                            </a:rPr>
                            <a:t> </a:t>
                          </a:r>
                          <a14:m>
                            <m:oMath xmlns:m="http://schemas.openxmlformats.org/officeDocument/2006/math">
                              <m:r>
                                <a:rPr lang="fr-FR" sz="2400" b="1" i="1" kern="1200" smtClean="0">
                                  <a:solidFill>
                                    <a:schemeClr val="tx1"/>
                                  </a:solidFill>
                                  <a:effectLst/>
                                  <a:latin typeface="Cambria Math" panose="02040503050406030204" pitchFamily="18" charset="0"/>
                                  <a:ea typeface="+mn-ea"/>
                                  <a:cs typeface="+mn-cs"/>
                                </a:rPr>
                                <m:t>𝑰𝒈</m:t>
                              </m:r>
                              <m:r>
                                <a:rPr lang="fr-FR" sz="2400" b="1" i="1" kern="1200" smtClean="0">
                                  <a:solidFill>
                                    <a:schemeClr val="tx1"/>
                                  </a:solidFill>
                                  <a:effectLst/>
                                  <a:latin typeface="Cambria Math" panose="02040503050406030204" pitchFamily="18" charset="0"/>
                                  <a:ea typeface="+mn-ea"/>
                                  <a:cs typeface="+mn-cs"/>
                                </a:rPr>
                                <m:t>=</m:t>
                              </m:r>
                              <m:f>
                                <m:fPr>
                                  <m:ctrlPr>
                                    <a:rPr lang="fr-FR" sz="2400" b="1" i="1" kern="1200">
                                      <a:solidFill>
                                        <a:schemeClr val="tx1"/>
                                      </a:solidFill>
                                      <a:effectLst/>
                                      <a:latin typeface="Cambria Math" panose="02040503050406030204" pitchFamily="18" charset="0"/>
                                      <a:ea typeface="+mn-ea"/>
                                      <a:cs typeface="+mn-cs"/>
                                    </a:rPr>
                                  </m:ctrlPr>
                                </m:fPr>
                                <m:num>
                                  <m:r>
                                    <a:rPr lang="fr-FR" sz="2400" b="1" i="1" kern="1200">
                                      <a:solidFill>
                                        <a:schemeClr val="tx1"/>
                                      </a:solidFill>
                                      <a:effectLst/>
                                      <a:latin typeface="Cambria Math" panose="02040503050406030204" pitchFamily="18" charset="0"/>
                                      <a:ea typeface="+mn-ea"/>
                                      <a:cs typeface="+mn-cs"/>
                                    </a:rPr>
                                    <m:t>𝑫</m:t>
                                  </m:r>
                                </m:num>
                                <m:den>
                                  <m:r>
                                    <a:rPr lang="fr-FR" sz="2400" b="1" i="1" kern="1200">
                                      <a:solidFill>
                                        <a:schemeClr val="tx1"/>
                                      </a:solidFill>
                                      <a:effectLst/>
                                      <a:latin typeface="Cambria Math" panose="02040503050406030204" pitchFamily="18" charset="0"/>
                                      <a:ea typeface="+mn-ea"/>
                                      <a:cs typeface="+mn-cs"/>
                                    </a:rPr>
                                    <m:t>𝑳</m:t>
                                  </m:r>
                                </m:den>
                              </m:f>
                              <m:r>
                                <a:rPr lang="fr-FR" sz="2400" b="1" i="1" kern="1200">
                                  <a:solidFill>
                                    <a:schemeClr val="tx1"/>
                                  </a:solidFill>
                                  <a:effectLst/>
                                  <a:latin typeface="Cambria Math" panose="02040503050406030204" pitchFamily="18" charset="0"/>
                                  <a:ea typeface="+mn-ea"/>
                                  <a:cs typeface="+mn-cs"/>
                                </a:rPr>
                                <m:t> </m:t>
                              </m:r>
                            </m:oMath>
                          </a14:m>
                          <a:endParaRPr lang="fr-FR" sz="36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fr-FR" sz="2400" b="0" i="0" dirty="0">
                              <a:latin typeface="Times New Roman" panose="02020603050405020304" pitchFamily="18" charset="0"/>
                              <a:cs typeface="Times New Roman" panose="02020603050405020304" pitchFamily="18" charset="0"/>
                            </a:rPr>
                            <a:t>Avec D, la dénivelée en m</a:t>
                          </a:r>
                        </a:p>
                        <a:p>
                          <a:pPr marL="0" indent="0">
                            <a:buFont typeface="Arial" panose="020B0604020202020204" pitchFamily="34" charset="0"/>
                            <a:buNone/>
                          </a:pPr>
                          <a:endParaRPr lang="fr-FR" sz="2400" b="0" i="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fr-FR" sz="2400"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4560639"/>
                      </a:ext>
                    </a:extLst>
                  </a:tr>
                </a:tbl>
              </a:graphicData>
            </a:graphic>
          </p:graphicFrame>
        </mc:Choice>
        <mc:Fallback xmlns="">
          <p:graphicFrame>
            <p:nvGraphicFramePr>
              <p:cNvPr id="9" name="Tableau 9">
                <a:extLst>
                  <a:ext uri="{FF2B5EF4-FFF2-40B4-BE49-F238E27FC236}">
                    <a16:creationId xmlns:a16="http://schemas.microsoft.com/office/drawing/2014/main" id="{B99A6636-C4A1-421F-87AB-89FFC3594F44}"/>
                  </a:ext>
                </a:extLst>
              </p:cNvPr>
              <p:cNvGraphicFramePr>
                <a:graphicFrameLocks noGrp="1"/>
              </p:cNvGraphicFramePr>
              <p:nvPr>
                <p:extLst>
                  <p:ext uri="{D42A27DB-BD31-4B8C-83A1-F6EECF244321}">
                    <p14:modId xmlns:p14="http://schemas.microsoft.com/office/powerpoint/2010/main" val="2208149683"/>
                  </p:ext>
                </p:extLst>
              </p:nvPr>
            </p:nvGraphicFramePr>
            <p:xfrm>
              <a:off x="587566" y="1665153"/>
              <a:ext cx="11016868" cy="4437840"/>
            </p:xfrm>
            <a:graphic>
              <a:graphicData uri="http://schemas.openxmlformats.org/drawingml/2006/table">
                <a:tbl>
                  <a:tblPr firstRow="1" bandRow="1">
                    <a:tableStyleId>{5940675A-B579-460E-94D1-54222C63F5DA}</a:tableStyleId>
                  </a:tblPr>
                  <a:tblGrid>
                    <a:gridCol w="5508434">
                      <a:extLst>
                        <a:ext uri="{9D8B030D-6E8A-4147-A177-3AD203B41FA5}">
                          <a16:colId xmlns:a16="http://schemas.microsoft.com/office/drawing/2014/main" val="1301342241"/>
                        </a:ext>
                      </a:extLst>
                    </a:gridCol>
                    <a:gridCol w="5508434">
                      <a:extLst>
                        <a:ext uri="{9D8B030D-6E8A-4147-A177-3AD203B41FA5}">
                          <a16:colId xmlns:a16="http://schemas.microsoft.com/office/drawing/2014/main" val="3982531924"/>
                        </a:ext>
                      </a:extLst>
                    </a:gridCol>
                  </a:tblGrid>
                  <a:tr h="1078817">
                    <a:tc>
                      <a:txBody>
                        <a:bodyPr/>
                        <a:lstStyle/>
                        <a:p>
                          <a:pPr algn="ctr"/>
                          <a:r>
                            <a:rPr lang="fr-FR" sz="2400" b="1" dirty="0">
                              <a:latin typeface="Times New Roman" panose="02020603050405020304" pitchFamily="18" charset="0"/>
                              <a:cs typeface="Times New Roman" panose="02020603050405020304" pitchFamily="18" charset="0"/>
                            </a:rPr>
                            <a:t>Paramètres estimés automatiquement à partir de Global Mapper</a:t>
                          </a:r>
                        </a:p>
                      </a:txBody>
                      <a:tcPr>
                        <a:solidFill>
                          <a:schemeClr val="accent1">
                            <a:lumMod val="40000"/>
                            <a:lumOff val="60000"/>
                          </a:schemeClr>
                        </a:solidFill>
                      </a:tcPr>
                    </a:tc>
                    <a:tc>
                      <a:txBody>
                        <a:bodyPr/>
                        <a:lstStyle/>
                        <a:p>
                          <a:pPr algn="ctr"/>
                          <a:r>
                            <a:rPr lang="fr-FR" sz="2400" b="1" dirty="0">
                              <a:latin typeface="Times New Roman" panose="02020603050405020304" pitchFamily="18" charset="0"/>
                              <a:cs typeface="Times New Roman" panose="02020603050405020304" pitchFamily="18" charset="0"/>
                            </a:rPr>
                            <a:t>Paramètres calculés à partir de ceux estimer automatiquement </a:t>
                          </a:r>
                        </a:p>
                      </a:txBody>
                      <a:tcPr>
                        <a:solidFill>
                          <a:schemeClr val="accent1">
                            <a:lumMod val="40000"/>
                            <a:lumOff val="60000"/>
                          </a:schemeClr>
                        </a:solidFill>
                      </a:tcPr>
                    </a:tc>
                    <a:extLst>
                      <a:ext uri="{0D108BD9-81ED-4DB2-BD59-A6C34878D82A}">
                        <a16:rowId xmlns:a16="http://schemas.microsoft.com/office/drawing/2014/main" val="2428863547"/>
                      </a:ext>
                    </a:extLst>
                  </a:tr>
                  <a:tr h="3359023">
                    <a:tc>
                      <a:txBody>
                        <a:bodyPr/>
                        <a:lstStyle/>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Superficie (S) en km²</a:t>
                          </a:r>
                        </a:p>
                        <a:p>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Périmètre (P) en km</a:t>
                          </a:r>
                        </a:p>
                        <a:p>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Altitude min et Altitude max en m</a:t>
                          </a:r>
                        </a:p>
                        <a:p>
                          <a:pPr marL="0" indent="0">
                            <a:buFont typeface="Wingdings" panose="05000000000000000000" pitchFamily="2" charset="2"/>
                            <a:buNone/>
                          </a:pPr>
                          <a:endParaRPr lang="fr-FR"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Pente moyenne en %</a:t>
                          </a:r>
                        </a:p>
                        <a:p>
                          <a:endParaRPr lang="fr-FR" sz="2400" dirty="0">
                            <a:latin typeface="Times New Roman" panose="02020603050405020304" pitchFamily="18" charset="0"/>
                            <a:cs typeface="Times New Roman" panose="02020603050405020304" pitchFamily="18" charset="0"/>
                          </a:endParaRPr>
                        </a:p>
                      </a:txBody>
                      <a:tcPr/>
                    </a:tc>
                    <a:tc>
                      <a:txBody>
                        <a:bodyPr/>
                        <a:lstStyle/>
                        <a:p>
                          <a:endParaRPr lang="fr-FR"/>
                        </a:p>
                      </a:txBody>
                      <a:tcPr>
                        <a:blipFill>
                          <a:blip r:embed="rId3"/>
                          <a:stretch>
                            <a:fillRect l="-100111" t="-33514" r="-221" b="-362"/>
                          </a:stretch>
                        </a:blipFill>
                      </a:tcPr>
                    </a:tc>
                    <a:extLst>
                      <a:ext uri="{0D108BD9-81ED-4DB2-BD59-A6C34878D82A}">
                        <a16:rowId xmlns:a16="http://schemas.microsoft.com/office/drawing/2014/main" val="3874560639"/>
                      </a:ext>
                    </a:extLst>
                  </a:tr>
                </a:tbl>
              </a:graphicData>
            </a:graphic>
          </p:graphicFrame>
        </mc:Fallback>
      </mc:AlternateContent>
      <p:sp>
        <p:nvSpPr>
          <p:cNvPr id="10" name="ZoneTexte 9">
            <a:extLst>
              <a:ext uri="{FF2B5EF4-FFF2-40B4-BE49-F238E27FC236}">
                <a16:creationId xmlns:a16="http://schemas.microsoft.com/office/drawing/2014/main" id="{41A13B7B-F846-4017-88AF-E9EC689B722E}"/>
              </a:ext>
            </a:extLst>
          </p:cNvPr>
          <p:cNvSpPr txBox="1"/>
          <p:nvPr/>
        </p:nvSpPr>
        <p:spPr>
          <a:xfrm>
            <a:off x="1073853" y="1161501"/>
            <a:ext cx="10394705" cy="461665"/>
          </a:xfrm>
          <a:prstGeom prst="rect">
            <a:avLst/>
          </a:prstGeom>
          <a:noFill/>
        </p:spPr>
        <p:txBody>
          <a:bodyPr wrap="square">
            <a:spAutoFit/>
          </a:bodyPr>
          <a:lstStyle/>
          <a:p>
            <a:r>
              <a:rPr lang="fr-FR" sz="2400" b="1" i="1" dirty="0">
                <a:latin typeface="Times New Roman" panose="02020603050405020304" pitchFamily="18" charset="0"/>
                <a:cs typeface="Times New Roman" panose="02020603050405020304" pitchFamily="18" charset="0"/>
              </a:rPr>
              <a:t>Tableau 1</a:t>
            </a:r>
            <a:r>
              <a:rPr lang="fr-FR" sz="2400" i="1" dirty="0">
                <a:latin typeface="Times New Roman" panose="02020603050405020304" pitchFamily="18" charset="0"/>
                <a:cs typeface="Times New Roman" panose="02020603050405020304" pitchFamily="18" charset="0"/>
              </a:rPr>
              <a:t>: Différents paramètres caractéristiques de la morphologie du bassin </a:t>
            </a:r>
          </a:p>
        </p:txBody>
      </p:sp>
    </p:spTree>
    <p:extLst>
      <p:ext uri="{BB962C8B-B14F-4D97-AF65-F5344CB8AC3E}">
        <p14:creationId xmlns:p14="http://schemas.microsoft.com/office/powerpoint/2010/main" val="3924088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999EDACC-46FD-4A55-B3EB-AAE6CC4A4C10}"/>
              </a:ext>
            </a:extLst>
          </p:cNvPr>
          <p:cNvSpPr>
            <a:spLocks noGrp="1"/>
          </p:cNvSpPr>
          <p:nvPr>
            <p:ph type="sldNum" sz="quarter" idx="12"/>
          </p:nvPr>
        </p:nvSpPr>
        <p:spPr/>
        <p:txBody>
          <a:bodyPr/>
          <a:lstStyle/>
          <a:p>
            <a:fld id="{DABACED5-4545-4C55-9339-27E0833A921F}" type="slidenum">
              <a:rPr lang="fr-FR" smtClean="0"/>
              <a:t>12</a:t>
            </a:fld>
            <a:endParaRPr lang="fr-FR" dirty="0"/>
          </a:p>
        </p:txBody>
      </p:sp>
      <p:sp>
        <p:nvSpPr>
          <p:cNvPr id="5" name="Rectangle 4">
            <a:extLst>
              <a:ext uri="{FF2B5EF4-FFF2-40B4-BE49-F238E27FC236}">
                <a16:creationId xmlns:a16="http://schemas.microsoft.com/office/drawing/2014/main" id="{0DBE3D21-DE7D-4129-A066-E65BE6E2E695}"/>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MATERIEL ET METHODES(3/4)</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6" name="ZoneTexte 5">
            <a:extLst>
              <a:ext uri="{FF2B5EF4-FFF2-40B4-BE49-F238E27FC236}">
                <a16:creationId xmlns:a16="http://schemas.microsoft.com/office/drawing/2014/main" id="{86F8336B-1CB9-49EC-9A8B-EA8EDB635829}"/>
              </a:ext>
            </a:extLst>
          </p:cNvPr>
          <p:cNvSpPr txBox="1"/>
          <p:nvPr/>
        </p:nvSpPr>
        <p:spPr>
          <a:xfrm>
            <a:off x="-10850" y="707243"/>
            <a:ext cx="12134284" cy="461665"/>
          </a:xfrm>
          <a:prstGeom prst="rect">
            <a:avLst/>
          </a:prstGeom>
          <a:noFill/>
        </p:spPr>
        <p:txBody>
          <a:bodyPr wrap="none" rtlCol="0">
            <a:spAutoFit/>
          </a:bodyPr>
          <a:lstStyle/>
          <a:p>
            <a:pPr marL="342900" indent="-34290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Analyse fréquentielle des précipitations journalières de la station synoptique de Cotonou</a:t>
            </a:r>
          </a:p>
        </p:txBody>
      </p:sp>
      <p:pic>
        <p:nvPicPr>
          <p:cNvPr id="8" name="Image 7">
            <a:extLst>
              <a:ext uri="{FF2B5EF4-FFF2-40B4-BE49-F238E27FC236}">
                <a16:creationId xmlns:a16="http://schemas.microsoft.com/office/drawing/2014/main" id="{BD7D9F14-0E4D-4AEE-86D8-B68598FDA2CC}"/>
              </a:ext>
            </a:extLst>
          </p:cNvPr>
          <p:cNvPicPr>
            <a:picLocks noChangeAspect="1"/>
          </p:cNvPicPr>
          <p:nvPr/>
        </p:nvPicPr>
        <p:blipFill rotWithShape="1">
          <a:blip r:embed="rId4">
            <a:extLst>
              <a:ext uri="{28A0092B-C50C-407E-A947-70E740481C1C}">
                <a14:useLocalDpi xmlns:a14="http://schemas.microsoft.com/office/drawing/2010/main" val="0"/>
              </a:ext>
            </a:extLst>
          </a:blip>
          <a:srcRect t="805" r="420" b="462"/>
          <a:stretch/>
        </p:blipFill>
        <p:spPr>
          <a:xfrm>
            <a:off x="2955292" y="1272424"/>
            <a:ext cx="6662433" cy="5033982"/>
          </a:xfrm>
          <a:prstGeom prst="rect">
            <a:avLst/>
          </a:prstGeom>
          <a:effectLst>
            <a:outerShdw blurRad="63500" sx="102000" sy="102000" algn="ctr" rotWithShape="0">
              <a:prstClr val="black">
                <a:alpha val="40000"/>
              </a:prstClr>
            </a:outerShdw>
          </a:effectLst>
        </p:spPr>
      </p:pic>
      <p:sp>
        <p:nvSpPr>
          <p:cNvPr id="7" name="ZoneTexte 6">
            <a:extLst>
              <a:ext uri="{FF2B5EF4-FFF2-40B4-BE49-F238E27FC236}">
                <a16:creationId xmlns:a16="http://schemas.microsoft.com/office/drawing/2014/main" id="{696C458D-03B3-4E83-8145-38878D20F48A}"/>
              </a:ext>
            </a:extLst>
          </p:cNvPr>
          <p:cNvSpPr txBox="1"/>
          <p:nvPr/>
        </p:nvSpPr>
        <p:spPr>
          <a:xfrm>
            <a:off x="2955292" y="6396335"/>
            <a:ext cx="10394705"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Figure 5 : </a:t>
            </a:r>
            <a:r>
              <a:rPr lang="fr-FR" sz="2400" dirty="0">
                <a:latin typeface="Times New Roman" panose="02020603050405020304" pitchFamily="18" charset="0"/>
                <a:cs typeface="Times New Roman" panose="02020603050405020304" pitchFamily="18" charset="0"/>
              </a:rPr>
              <a:t>Différentes étapes de l’analyse fréquentielle </a:t>
            </a:r>
          </a:p>
        </p:txBody>
      </p:sp>
    </p:spTree>
    <p:extLst>
      <p:ext uri="{BB962C8B-B14F-4D97-AF65-F5344CB8AC3E}">
        <p14:creationId xmlns:p14="http://schemas.microsoft.com/office/powerpoint/2010/main" val="1935181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0C29502-E1D9-4CDC-9199-BE7B354EA98C}"/>
              </a:ext>
            </a:extLst>
          </p:cNvPr>
          <p:cNvSpPr>
            <a:spLocks noGrp="1"/>
          </p:cNvSpPr>
          <p:nvPr>
            <p:ph type="sldNum" sz="quarter" idx="12"/>
          </p:nvPr>
        </p:nvSpPr>
        <p:spPr/>
        <p:txBody>
          <a:bodyPr/>
          <a:lstStyle/>
          <a:p>
            <a:fld id="{DABACED5-4545-4C55-9339-27E0833A921F}" type="slidenum">
              <a:rPr lang="fr-FR" smtClean="0"/>
              <a:t>13</a:t>
            </a:fld>
            <a:endParaRPr lang="fr-FR" dirty="0"/>
          </a:p>
        </p:txBody>
      </p:sp>
      <p:sp>
        <p:nvSpPr>
          <p:cNvPr id="7" name="Rectangle 6">
            <a:extLst>
              <a:ext uri="{FF2B5EF4-FFF2-40B4-BE49-F238E27FC236}">
                <a16:creationId xmlns:a16="http://schemas.microsoft.com/office/drawing/2014/main" id="{1D836CDD-B722-4CA8-A1EF-AE4B0DD9108B}"/>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MATERIEL ET METHODES(4/4)</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8" name="ZoneTexte 7">
            <a:extLst>
              <a:ext uri="{FF2B5EF4-FFF2-40B4-BE49-F238E27FC236}">
                <a16:creationId xmlns:a16="http://schemas.microsoft.com/office/drawing/2014/main" id="{A1C1D7F5-E05C-47CD-BD2F-0965FF060D3E}"/>
              </a:ext>
            </a:extLst>
          </p:cNvPr>
          <p:cNvSpPr txBox="1"/>
          <p:nvPr/>
        </p:nvSpPr>
        <p:spPr>
          <a:xfrm>
            <a:off x="308473" y="837282"/>
            <a:ext cx="11149069" cy="830997"/>
          </a:xfrm>
          <a:prstGeom prst="rect">
            <a:avLst/>
          </a:prstGeom>
          <a:noFill/>
        </p:spPr>
        <p:txBody>
          <a:bodyPr wrap="square" rtlCol="0">
            <a:spAutoFit/>
          </a:bodyPr>
          <a:lstStyle/>
          <a:p>
            <a:pPr marL="342900" indent="-34290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Estimation du débit généré par le bassin versant en fonction des différentes périodes de retour </a:t>
            </a:r>
          </a:p>
        </p:txBody>
      </p:sp>
      <p:sp>
        <p:nvSpPr>
          <p:cNvPr id="10" name="ZoneTexte 9">
            <a:extLst>
              <a:ext uri="{FF2B5EF4-FFF2-40B4-BE49-F238E27FC236}">
                <a16:creationId xmlns:a16="http://schemas.microsoft.com/office/drawing/2014/main" id="{0AAB1D96-21D9-4911-8254-CE2C0BA7F391}"/>
              </a:ext>
            </a:extLst>
          </p:cNvPr>
          <p:cNvSpPr txBox="1"/>
          <p:nvPr/>
        </p:nvSpPr>
        <p:spPr>
          <a:xfrm>
            <a:off x="121187" y="2743919"/>
            <a:ext cx="11861494" cy="3643155"/>
          </a:xfrm>
          <a:prstGeom prst="rect">
            <a:avLst/>
          </a:prstGeom>
          <a:noFill/>
          <a:ln w="28575">
            <a:solidFill>
              <a:schemeClr val="accent1"/>
            </a:solidFill>
          </a:ln>
        </p:spPr>
        <p:txBody>
          <a:bodyPr wrap="square" rtlCol="0">
            <a:spAutoFit/>
          </a:bodyPr>
          <a:lstStyle/>
          <a:p>
            <a:endParaRPr lang="fr-FR" dirty="0"/>
          </a:p>
        </p:txBody>
      </p:sp>
      <p:sp>
        <p:nvSpPr>
          <p:cNvPr id="11" name="Rectangle 10">
            <a:extLst>
              <a:ext uri="{FF2B5EF4-FFF2-40B4-BE49-F238E27FC236}">
                <a16:creationId xmlns:a16="http://schemas.microsoft.com/office/drawing/2014/main" id="{D2795310-4DCE-4C3F-BA61-82CEC9D1876B}"/>
              </a:ext>
            </a:extLst>
          </p:cNvPr>
          <p:cNvSpPr/>
          <p:nvPr/>
        </p:nvSpPr>
        <p:spPr>
          <a:xfrm>
            <a:off x="121187" y="2073784"/>
            <a:ext cx="11861494" cy="6714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dirty="0"/>
          </a:p>
        </p:txBody>
      </p:sp>
      <p:cxnSp>
        <p:nvCxnSpPr>
          <p:cNvPr id="14" name="Connecteur droit 13">
            <a:extLst>
              <a:ext uri="{FF2B5EF4-FFF2-40B4-BE49-F238E27FC236}">
                <a16:creationId xmlns:a16="http://schemas.microsoft.com/office/drawing/2014/main" id="{768CD08D-6E61-42BC-A60A-5DEBAC77E2D4}"/>
              </a:ext>
            </a:extLst>
          </p:cNvPr>
          <p:cNvCxnSpPr>
            <a:cxnSpLocks/>
            <a:stCxn id="11" idx="0"/>
            <a:endCxn id="10" idx="2"/>
          </p:cNvCxnSpPr>
          <p:nvPr/>
        </p:nvCxnSpPr>
        <p:spPr>
          <a:xfrm>
            <a:off x="6051934" y="2073784"/>
            <a:ext cx="0" cy="431329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38078B3D-6C00-4464-9020-8195E21B649A}"/>
              </a:ext>
            </a:extLst>
          </p:cNvPr>
          <p:cNvSpPr txBox="1"/>
          <p:nvPr/>
        </p:nvSpPr>
        <p:spPr>
          <a:xfrm>
            <a:off x="165253" y="2117402"/>
            <a:ext cx="5886681" cy="461665"/>
          </a:xfrm>
          <a:prstGeom prst="rect">
            <a:avLst/>
          </a:prstGeom>
          <a:noFill/>
        </p:spPr>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Méthode rationnelle</a:t>
            </a:r>
          </a:p>
        </p:txBody>
      </p:sp>
      <p:sp>
        <p:nvSpPr>
          <p:cNvPr id="18" name="ZoneTexte 17">
            <a:extLst>
              <a:ext uri="{FF2B5EF4-FFF2-40B4-BE49-F238E27FC236}">
                <a16:creationId xmlns:a16="http://schemas.microsoft.com/office/drawing/2014/main" id="{05BB0D96-5F7D-498D-A102-87C7860F3E12}"/>
              </a:ext>
            </a:extLst>
          </p:cNvPr>
          <p:cNvSpPr txBox="1"/>
          <p:nvPr/>
        </p:nvSpPr>
        <p:spPr>
          <a:xfrm>
            <a:off x="6051934" y="2117401"/>
            <a:ext cx="5886681" cy="461665"/>
          </a:xfrm>
          <a:prstGeom prst="rect">
            <a:avLst/>
          </a:prstGeom>
          <a:noFill/>
        </p:spPr>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Méthode du CIEH</a:t>
            </a: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0BD2108B-F6A7-489B-B2EE-65FA34375896}"/>
                  </a:ext>
                </a:extLst>
              </p:cNvPr>
              <p:cNvSpPr txBox="1"/>
              <p:nvPr/>
            </p:nvSpPr>
            <p:spPr>
              <a:xfrm>
                <a:off x="165253" y="2838140"/>
                <a:ext cx="5842615" cy="18774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𝑸</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𝑪</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𝑰</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m:t>
                      </m:r>
                      <m:r>
                        <a:rPr lang="fr-FR" sz="2800" b="1" i="1" kern="100" smtClean="0">
                          <a:effectLst/>
                          <a:latin typeface="Cambria Math" panose="02040503050406030204" pitchFamily="18" charset="0"/>
                          <a:ea typeface="SimSun" panose="02010600030101010101" pitchFamily="2" charset="-122"/>
                          <a:cs typeface="Times New Roman" panose="02020603050405020304" pitchFamily="18" charset="0"/>
                        </a:rPr>
                        <m:t>𝑨</m:t>
                      </m:r>
                    </m:oMath>
                  </m:oMathPara>
                </a14:m>
                <a:endParaRPr lang="fr-FR" sz="2800" b="1" dirty="0">
                  <a:latin typeface="Times New Roman" panose="02020603050405020304" pitchFamily="18" charset="0"/>
                  <a:cs typeface="Times New Roman" panose="02020603050405020304" pitchFamily="18" charset="0"/>
                </a:endParaRPr>
              </a:p>
              <a:p>
                <a:endParaRPr lang="fr-FR" sz="2800" b="1" dirty="0">
                  <a:latin typeface="Times New Roman" panose="02020603050405020304" pitchFamily="18" charset="0"/>
                  <a:cs typeface="Times New Roman" panose="02020603050405020304" pitchFamily="18" charset="0"/>
                </a:endParaRPr>
              </a:p>
              <a:p>
                <a:pPr algn="ctr"/>
                <a:r>
                  <a:rPr lang="fr-FR" sz="2000" kern="100" dirty="0">
                    <a:effectLst/>
                    <a:latin typeface="Times New Roman" panose="02020603050405020304" pitchFamily="18" charset="0"/>
                    <a:ea typeface="SimSun" panose="02010600030101010101" pitchFamily="2" charset="-122"/>
                    <a:cs typeface="Times New Roman" panose="02020603050405020304" pitchFamily="18" charset="0"/>
                  </a:rPr>
                  <a:t>C le coefficient de ruissellement, </a:t>
                </a:r>
              </a:p>
              <a:p>
                <a:pPr algn="ctr"/>
                <a:r>
                  <a:rPr lang="fr-FR" sz="2000" kern="100" dirty="0">
                    <a:effectLst/>
                    <a:latin typeface="Times New Roman" panose="02020603050405020304" pitchFamily="18" charset="0"/>
                    <a:ea typeface="SimSun" panose="02010600030101010101" pitchFamily="2" charset="-122"/>
                    <a:cs typeface="Times New Roman" panose="02020603050405020304" pitchFamily="18" charset="0"/>
                  </a:rPr>
                  <a:t>I l’intensité de la pluie (m/s),</a:t>
                </a:r>
              </a:p>
              <a:p>
                <a:pPr algn="ctr"/>
                <a:r>
                  <a:rPr lang="fr-FR" sz="2000" kern="100" dirty="0">
                    <a:effectLst/>
                    <a:latin typeface="Times New Roman" panose="02020603050405020304" pitchFamily="18" charset="0"/>
                    <a:ea typeface="SimSun" panose="02010600030101010101" pitchFamily="2" charset="-122"/>
                    <a:cs typeface="Times New Roman" panose="02020603050405020304" pitchFamily="18" charset="0"/>
                  </a:rPr>
                  <a:t>A la superficie du bassin versant (m²).</a:t>
                </a:r>
                <a:endParaRPr lang="fr-FR" sz="3200" dirty="0">
                  <a:latin typeface="Times New Roman" panose="02020603050405020304" pitchFamily="18" charset="0"/>
                  <a:cs typeface="Times New Roman" panose="02020603050405020304" pitchFamily="18" charset="0"/>
                </a:endParaRPr>
              </a:p>
            </p:txBody>
          </p:sp>
        </mc:Choice>
        <mc:Fallback xmlns="">
          <p:sp>
            <p:nvSpPr>
              <p:cNvPr id="19" name="ZoneTexte 18">
                <a:extLst>
                  <a:ext uri="{FF2B5EF4-FFF2-40B4-BE49-F238E27FC236}">
                    <a16:creationId xmlns:a16="http://schemas.microsoft.com/office/drawing/2014/main" id="{0BD2108B-F6A7-489B-B2EE-65FA34375896}"/>
                  </a:ext>
                </a:extLst>
              </p:cNvPr>
              <p:cNvSpPr txBox="1">
                <a:spLocks noRot="1" noChangeAspect="1" noMove="1" noResize="1" noEditPoints="1" noAdjustHandles="1" noChangeArrowheads="1" noChangeShapeType="1" noTextEdit="1"/>
              </p:cNvSpPr>
              <p:nvPr/>
            </p:nvSpPr>
            <p:spPr>
              <a:xfrm>
                <a:off x="165253" y="2838140"/>
                <a:ext cx="5842615" cy="1877437"/>
              </a:xfrm>
              <a:prstGeom prst="rect">
                <a:avLst/>
              </a:prstGeom>
              <a:blipFill>
                <a:blip r:embed="rId4"/>
                <a:stretch>
                  <a:fillRect b="-487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Texte 20">
                <a:extLst>
                  <a:ext uri="{FF2B5EF4-FFF2-40B4-BE49-F238E27FC236}">
                    <a16:creationId xmlns:a16="http://schemas.microsoft.com/office/drawing/2014/main" id="{0AFD1431-BAB8-4B22-9274-B5497F80126F}"/>
                  </a:ext>
                </a:extLst>
              </p:cNvPr>
              <p:cNvSpPr txBox="1"/>
              <p:nvPr/>
            </p:nvSpPr>
            <p:spPr>
              <a:xfrm>
                <a:off x="6208011" y="2843863"/>
                <a:ext cx="5618593" cy="27731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2400" b="1" i="1" kern="0" spc="-2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𝑸</m:t>
                          </m:r>
                        </m:e>
                        <m:sub>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𝟏𝟎</m:t>
                          </m:r>
                        </m:sub>
                      </m:sSub>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𝟏𝟑𝟏</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FR" sz="2400" b="1" i="1" kern="0" spc="-2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𝑺</m:t>
                          </m:r>
                        </m:e>
                        <m:sup>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𝟎</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𝟔𝟖</m:t>
                          </m:r>
                        </m:sup>
                      </m:sSup>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fr-FR" sz="2400" b="1" i="1" kern="0" spc="-2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𝑷𝒂𝒏</m:t>
                          </m:r>
                        </m:e>
                        <m:sup>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𝟎</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𝟔𝟖</m:t>
                          </m:r>
                        </m:sup>
                      </m:sSup>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fr-FR" sz="2400" b="1" i="1" kern="0" spc="-2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𝑰</m:t>
                          </m:r>
                        </m:e>
                        <m:sub>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𝒈</m:t>
                          </m:r>
                        </m:sub>
                        <m:sup>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𝟎</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m:t>
                          </m:r>
                          <m:r>
                            <a:rPr lang="fr-FR" sz="2400" b="1" i="1" spc="-20">
                              <a:effectLst/>
                              <a:latin typeface="Cambria Math" panose="02040503050406030204" pitchFamily="18" charset="0"/>
                              <a:ea typeface="Times New Roman" panose="02020603050405020304" pitchFamily="18" charset="0"/>
                              <a:cs typeface="Times New Roman" panose="02020603050405020304" pitchFamily="18" charset="0"/>
                            </a:rPr>
                            <m:t>𝟓𝟔</m:t>
                          </m:r>
                        </m:sup>
                      </m:sSubSup>
                    </m:oMath>
                  </m:oMathPara>
                </a14:m>
                <a:endParaRPr lang="fr-FR" b="1" dirty="0"/>
              </a:p>
              <a:p>
                <a:pPr marR="52705" algn="just">
                  <a:lnSpc>
                    <a:spcPct val="141000"/>
                  </a:lnSpc>
                  <a:spcAft>
                    <a:spcPts val="230"/>
                  </a:spcAft>
                </a:pP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Avec Q</a:t>
                </a:r>
                <a:r>
                  <a:rPr lang="fr-FR" sz="1800" kern="100" baseline="-25000" dirty="0">
                    <a:effectLst/>
                    <a:latin typeface="Times New Roman" panose="02020603050405020304" pitchFamily="18" charset="0"/>
                    <a:ea typeface="SimSun" panose="02010600030101010101" pitchFamily="2" charset="-122"/>
                    <a:cs typeface="Times New Roman" panose="02020603050405020304" pitchFamily="18" charset="0"/>
                  </a:rPr>
                  <a:t>10 </a:t>
                </a: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le débit décennal, </a:t>
                </a:r>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pPr marR="52705" algn="just">
                  <a:lnSpc>
                    <a:spcPct val="141000"/>
                  </a:lnSpc>
                  <a:spcAft>
                    <a:spcPts val="230"/>
                  </a:spcAft>
                </a:pP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S la surface du bassin en km², </a:t>
                </a:r>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pPr marR="52705" algn="just">
                  <a:lnSpc>
                    <a:spcPct val="141000"/>
                  </a:lnSpc>
                  <a:spcAft>
                    <a:spcPts val="230"/>
                  </a:spcAft>
                </a:pPr>
                <a14:m>
                  <m:oMath xmlns:m="http://schemas.openxmlformats.org/officeDocument/2006/math">
                    <m:sSub>
                      <m:sSubPr>
                        <m:ctrlPr>
                          <a:rPr lang="fr-FR" sz="2400" b="1" i="1" kern="100" baseline="-25000" smtClean="0">
                            <a:effectLst/>
                            <a:latin typeface="Cambria Math" panose="02040503050406030204" pitchFamily="18" charset="0"/>
                            <a:ea typeface="SimSun" panose="02010600030101010101" pitchFamily="2" charset="-122"/>
                            <a:cs typeface="Times New Roman" panose="02020603050405020304" pitchFamily="18" charset="0"/>
                          </a:rPr>
                        </m:ctrlPr>
                      </m:sSubPr>
                      <m:e>
                        <m:r>
                          <a:rPr lang="fr-FR" sz="2400" b="1" i="1" kern="100" baseline="-25000">
                            <a:effectLst/>
                            <a:latin typeface="Cambria Math" panose="02040503050406030204" pitchFamily="18" charset="0"/>
                            <a:ea typeface="SimSun" panose="02010600030101010101" pitchFamily="2" charset="-122"/>
                            <a:cs typeface="Times New Roman" panose="02020603050405020304" pitchFamily="18" charset="0"/>
                          </a:rPr>
                          <m:t>𝑷</m:t>
                        </m:r>
                      </m:e>
                      <m:sub>
                        <m:r>
                          <a:rPr lang="fr-FR" sz="2400" b="1" i="1" kern="100" baseline="-25000">
                            <a:effectLst/>
                            <a:latin typeface="Cambria Math" panose="02040503050406030204" pitchFamily="18" charset="0"/>
                            <a:ea typeface="SimSun" panose="02010600030101010101" pitchFamily="2" charset="-122"/>
                            <a:cs typeface="Times New Roman" panose="02020603050405020304" pitchFamily="18" charset="0"/>
                          </a:rPr>
                          <m:t>𝒂𝒏</m:t>
                        </m:r>
                      </m:sub>
                    </m:sSub>
                  </m:oMath>
                </a14:m>
                <a:r>
                  <a:rPr lang="fr-FR" sz="2400" b="1" kern="100" baseline="-25000" dirty="0">
                    <a:effectLst/>
                    <a:latin typeface="Times New Roman" panose="02020603050405020304" pitchFamily="18" charset="0"/>
                    <a:ea typeface="SimSun" panose="02010600030101010101" pitchFamily="2" charset="-122"/>
                    <a:cs typeface="Times New Roman" panose="02020603050405020304" pitchFamily="18" charset="0"/>
                  </a:rPr>
                  <a:t> </a:t>
                </a: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La pluviométrie moyenne interannuelle en mm, </a:t>
                </a:r>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pPr marR="52705" algn="just">
                  <a:lnSpc>
                    <a:spcPct val="141000"/>
                  </a:lnSpc>
                  <a:spcAft>
                    <a:spcPts val="230"/>
                  </a:spcAft>
                </a:pPr>
                <a14:m>
                  <m:oMath xmlns:m="http://schemas.openxmlformats.org/officeDocument/2006/math">
                    <m:sSub>
                      <m:sSubPr>
                        <m:ctrlPr>
                          <a:rPr lang="fr-FR" sz="2400" b="1" i="1" kern="100" baseline="-25000">
                            <a:effectLst/>
                            <a:latin typeface="Cambria Math" panose="02040503050406030204" pitchFamily="18" charset="0"/>
                            <a:ea typeface="SimSun" panose="02010600030101010101" pitchFamily="2" charset="-122"/>
                            <a:cs typeface="Times New Roman" panose="02020603050405020304" pitchFamily="18" charset="0"/>
                          </a:rPr>
                        </m:ctrlPr>
                      </m:sSubPr>
                      <m:e>
                        <m:r>
                          <a:rPr lang="fr-FR" sz="2400" b="1" i="1" kern="100" baseline="-25000">
                            <a:effectLst/>
                            <a:latin typeface="Cambria Math" panose="02040503050406030204" pitchFamily="18" charset="0"/>
                            <a:ea typeface="SimSun" panose="02010600030101010101" pitchFamily="2" charset="-122"/>
                            <a:cs typeface="Times New Roman" panose="02020603050405020304" pitchFamily="18" charset="0"/>
                          </a:rPr>
                          <m:t>𝑰</m:t>
                        </m:r>
                      </m:e>
                      <m:sub>
                        <m:r>
                          <a:rPr lang="fr-FR" sz="2400" b="1" i="1" kern="100" baseline="-25000">
                            <a:effectLst/>
                            <a:latin typeface="Cambria Math" panose="02040503050406030204" pitchFamily="18" charset="0"/>
                            <a:ea typeface="SimSun" panose="02010600030101010101" pitchFamily="2" charset="-122"/>
                            <a:cs typeface="Times New Roman" panose="02020603050405020304" pitchFamily="18" charset="0"/>
                          </a:rPr>
                          <m:t>𝒈</m:t>
                        </m:r>
                      </m:sub>
                    </m:sSub>
                  </m:oMath>
                </a14:m>
                <a:r>
                  <a:rPr lang="fr-FR" sz="2400" b="1" kern="100" baseline="-25000" dirty="0">
                    <a:effectLst/>
                    <a:latin typeface="Times New Roman" panose="02020603050405020304" pitchFamily="18" charset="0"/>
                    <a:ea typeface="SimSun" panose="02010600030101010101" pitchFamily="2" charset="-122"/>
                    <a:cs typeface="Times New Roman" panose="02020603050405020304" pitchFamily="18" charset="0"/>
                  </a:rPr>
                  <a:t> </a:t>
                </a:r>
                <a:r>
                  <a:rPr lang="fr-FR" sz="2400" b="1" kern="100" dirty="0">
                    <a:effectLst/>
                    <a:latin typeface="Times New Roman" panose="02020603050405020304" pitchFamily="18" charset="0"/>
                    <a:ea typeface="SimSun" panose="02010600030101010101" pitchFamily="2" charset="-122"/>
                    <a:cs typeface="Times New Roman" panose="02020603050405020304" pitchFamily="18" charset="0"/>
                  </a:rPr>
                  <a:t> </a:t>
                </a: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L’indice global de pente </a:t>
                </a:r>
                <a:endParaRPr lang="fr-FR" sz="1800" kern="100" dirty="0">
                  <a:effectLst/>
                  <a:latin typeface="Calibri" panose="020F0502020204030204" pitchFamily="34" charset="0"/>
                  <a:ea typeface="SimSun" panose="02010600030101010101" pitchFamily="2" charset="-122"/>
                  <a:cs typeface="Times New Roman" panose="02020603050405020304" pitchFamily="18" charset="0"/>
                </a:endParaRPr>
              </a:p>
              <a:p>
                <a:endParaRPr lang="fr-FR" b="1" dirty="0"/>
              </a:p>
            </p:txBody>
          </p:sp>
        </mc:Choice>
        <mc:Fallback xmlns="">
          <p:sp>
            <p:nvSpPr>
              <p:cNvPr id="21" name="ZoneTexte 20">
                <a:extLst>
                  <a:ext uri="{FF2B5EF4-FFF2-40B4-BE49-F238E27FC236}">
                    <a16:creationId xmlns:a16="http://schemas.microsoft.com/office/drawing/2014/main" id="{0AFD1431-BAB8-4B22-9274-B5497F80126F}"/>
                  </a:ext>
                </a:extLst>
              </p:cNvPr>
              <p:cNvSpPr txBox="1">
                <a:spLocks noRot="1" noChangeAspect="1" noMove="1" noResize="1" noEditPoints="1" noAdjustHandles="1" noChangeArrowheads="1" noChangeShapeType="1" noTextEdit="1"/>
              </p:cNvSpPr>
              <p:nvPr/>
            </p:nvSpPr>
            <p:spPr>
              <a:xfrm>
                <a:off x="6208011" y="2843863"/>
                <a:ext cx="5618593" cy="2773131"/>
              </a:xfrm>
              <a:prstGeom prst="rect">
                <a:avLst/>
              </a:prstGeom>
              <a:blipFill>
                <a:blip r:embed="rId5"/>
                <a:stretch>
                  <a:fillRect l="-868"/>
                </a:stretch>
              </a:blipFill>
            </p:spPr>
            <p:txBody>
              <a:bodyPr/>
              <a:lstStyle/>
              <a:p>
                <a:r>
                  <a:rPr lang="fr-FR">
                    <a:noFill/>
                  </a:rPr>
                  <a:t> </a:t>
                </a:r>
              </a:p>
            </p:txBody>
          </p:sp>
        </mc:Fallback>
      </mc:AlternateContent>
      <p:sp>
        <p:nvSpPr>
          <p:cNvPr id="15" name="ZoneTexte 14">
            <a:extLst>
              <a:ext uri="{FF2B5EF4-FFF2-40B4-BE49-F238E27FC236}">
                <a16:creationId xmlns:a16="http://schemas.microsoft.com/office/drawing/2014/main" id="{86E67FAD-141E-43F8-BC4C-ACBC2EA6139B}"/>
              </a:ext>
            </a:extLst>
          </p:cNvPr>
          <p:cNvSpPr txBox="1"/>
          <p:nvPr/>
        </p:nvSpPr>
        <p:spPr>
          <a:xfrm>
            <a:off x="1062837" y="1561373"/>
            <a:ext cx="10394705" cy="461665"/>
          </a:xfrm>
          <a:prstGeom prst="rect">
            <a:avLst/>
          </a:prstGeom>
          <a:noFill/>
        </p:spPr>
        <p:txBody>
          <a:bodyPr wrap="square">
            <a:spAutoFit/>
          </a:bodyPr>
          <a:lstStyle/>
          <a:p>
            <a:r>
              <a:rPr lang="fr-FR" sz="2400" b="1" i="1" dirty="0">
                <a:latin typeface="Times New Roman" panose="02020603050405020304" pitchFamily="18" charset="0"/>
                <a:cs typeface="Times New Roman" panose="02020603050405020304" pitchFamily="18" charset="0"/>
              </a:rPr>
              <a:t>Tableau 2</a:t>
            </a:r>
            <a:r>
              <a:rPr lang="fr-FR" sz="2400" i="1" dirty="0">
                <a:latin typeface="Times New Roman" panose="02020603050405020304" pitchFamily="18" charset="0"/>
                <a:cs typeface="Times New Roman" panose="02020603050405020304" pitchFamily="18" charset="0"/>
              </a:rPr>
              <a:t>: Différents paramètres caractéristiques de la morphologie du bassin </a:t>
            </a:r>
          </a:p>
        </p:txBody>
      </p:sp>
    </p:spTree>
    <p:extLst>
      <p:ext uri="{BB962C8B-B14F-4D97-AF65-F5344CB8AC3E}">
        <p14:creationId xmlns:p14="http://schemas.microsoft.com/office/powerpoint/2010/main" val="344014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2CD18B-5D37-417B-88CE-D9293F5125D2}"/>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RESULTATS ET DISCUSSION(</a:t>
            </a:r>
            <a:r>
              <a:rPr lang="fr-FR" sz="3200" b="1" kern="0" dirty="0">
                <a:solidFill>
                  <a:schemeClr val="tx1"/>
                </a:solidFill>
                <a:latin typeface="Times New Roman" pitchFamily="18" charset="0"/>
                <a:ea typeface="Cambria Math" pitchFamily="18" charset="0"/>
                <a:cs typeface="Times New Roman" pitchFamily="18" charset="0"/>
                <a:sym typeface="Arial"/>
              </a:rPr>
              <a:t>1/5</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pic>
        <p:nvPicPr>
          <p:cNvPr id="7" name="Image 6">
            <a:extLst>
              <a:ext uri="{FF2B5EF4-FFF2-40B4-BE49-F238E27FC236}">
                <a16:creationId xmlns:a16="http://schemas.microsoft.com/office/drawing/2014/main" id="{191955D5-FAAE-49EB-91D6-C4DC9BBCE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80" y="1745050"/>
            <a:ext cx="6403465" cy="4528255"/>
          </a:xfrm>
          <a:prstGeom prst="rect">
            <a:avLst/>
          </a:prstGeom>
        </p:spPr>
      </p:pic>
      <p:sp>
        <p:nvSpPr>
          <p:cNvPr id="12" name="ZoneTexte 11">
            <a:extLst>
              <a:ext uri="{FF2B5EF4-FFF2-40B4-BE49-F238E27FC236}">
                <a16:creationId xmlns:a16="http://schemas.microsoft.com/office/drawing/2014/main" id="{75E8A9E5-F9B8-47DC-9D6E-06F8E06B50A3}"/>
              </a:ext>
            </a:extLst>
          </p:cNvPr>
          <p:cNvSpPr txBox="1"/>
          <p:nvPr/>
        </p:nvSpPr>
        <p:spPr>
          <a:xfrm>
            <a:off x="64981" y="760165"/>
            <a:ext cx="11983086" cy="461665"/>
          </a:xfrm>
          <a:prstGeom prst="rect">
            <a:avLst/>
          </a:prstGeom>
          <a:solidFill>
            <a:schemeClr val="accent5">
              <a:lumMod val="20000"/>
              <a:lumOff val="80000"/>
            </a:schemeClr>
          </a:solidFill>
        </p:spPr>
        <p:txBody>
          <a:bodyPr wrap="square" rtlCol="0">
            <a:spAutoFit/>
          </a:bodyPr>
          <a:lstStyle/>
          <a:p>
            <a:pPr marL="285750" indent="-28575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Caractérisation du bassin versant </a:t>
            </a:r>
          </a:p>
        </p:txBody>
      </p:sp>
      <p:sp>
        <p:nvSpPr>
          <p:cNvPr id="6" name="ZoneTexte 5">
            <a:extLst>
              <a:ext uri="{FF2B5EF4-FFF2-40B4-BE49-F238E27FC236}">
                <a16:creationId xmlns:a16="http://schemas.microsoft.com/office/drawing/2014/main" id="{7B07820E-4426-4888-8BBC-0AE05905A42A}"/>
              </a:ext>
            </a:extLst>
          </p:cNvPr>
          <p:cNvSpPr txBox="1"/>
          <p:nvPr/>
        </p:nvSpPr>
        <p:spPr>
          <a:xfrm>
            <a:off x="212" y="6273305"/>
            <a:ext cx="6533002" cy="769441"/>
          </a:xfrm>
          <a:prstGeom prst="rect">
            <a:avLst/>
          </a:prstGeom>
          <a:noFill/>
        </p:spPr>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Figure 6 </a:t>
            </a:r>
            <a:r>
              <a:rPr lang="fr-FR" sz="2000" dirty="0">
                <a:latin typeface="Times New Roman" panose="02020603050405020304" pitchFamily="18" charset="0"/>
                <a:cs typeface="Times New Roman" panose="02020603050405020304" pitchFamily="18" charset="0"/>
              </a:rPr>
              <a:t>: Carte du réseau hydrographique des bassins </a:t>
            </a:r>
            <a:r>
              <a:rPr lang="fr-FR" sz="2000" dirty="0" err="1">
                <a:latin typeface="Times New Roman" panose="02020603050405020304" pitchFamily="18" charset="0"/>
                <a:cs typeface="Times New Roman" panose="02020603050405020304" pitchFamily="18" charset="0"/>
              </a:rPr>
              <a:t>Qb</a:t>
            </a:r>
            <a:r>
              <a:rPr lang="fr-FR" sz="2000" dirty="0">
                <a:latin typeface="Times New Roman" panose="02020603050405020304" pitchFamily="18" charset="0"/>
                <a:cs typeface="Times New Roman" panose="02020603050405020304" pitchFamily="18" charset="0"/>
              </a:rPr>
              <a:t> et Q’</a:t>
            </a:r>
          </a:p>
        </p:txBody>
      </p:sp>
      <p:graphicFrame>
        <p:nvGraphicFramePr>
          <p:cNvPr id="10" name="Tableau 15">
            <a:extLst>
              <a:ext uri="{FF2B5EF4-FFF2-40B4-BE49-F238E27FC236}">
                <a16:creationId xmlns:a16="http://schemas.microsoft.com/office/drawing/2014/main" id="{20537566-9991-4D54-85BE-568AD1A0E253}"/>
              </a:ext>
            </a:extLst>
          </p:cNvPr>
          <p:cNvGraphicFramePr>
            <a:graphicFrameLocks noGrp="1"/>
          </p:cNvGraphicFramePr>
          <p:nvPr>
            <p:extLst>
              <p:ext uri="{D42A27DB-BD31-4B8C-83A1-F6EECF244321}">
                <p14:modId xmlns:p14="http://schemas.microsoft.com/office/powerpoint/2010/main" val="2432168890"/>
              </p:ext>
            </p:extLst>
          </p:nvPr>
        </p:nvGraphicFramePr>
        <p:xfrm>
          <a:off x="6610852" y="3294034"/>
          <a:ext cx="5194857" cy="2780983"/>
        </p:xfrm>
        <a:graphic>
          <a:graphicData uri="http://schemas.openxmlformats.org/drawingml/2006/table">
            <a:tbl>
              <a:tblPr firstRow="1" bandRow="1">
                <a:tableStyleId>{5C22544A-7EE6-4342-B048-85BDC9FD1C3A}</a:tableStyleId>
              </a:tblPr>
              <a:tblGrid>
                <a:gridCol w="1731619">
                  <a:extLst>
                    <a:ext uri="{9D8B030D-6E8A-4147-A177-3AD203B41FA5}">
                      <a16:colId xmlns:a16="http://schemas.microsoft.com/office/drawing/2014/main" val="1701716674"/>
                    </a:ext>
                  </a:extLst>
                </a:gridCol>
                <a:gridCol w="1731619">
                  <a:extLst>
                    <a:ext uri="{9D8B030D-6E8A-4147-A177-3AD203B41FA5}">
                      <a16:colId xmlns:a16="http://schemas.microsoft.com/office/drawing/2014/main" val="3474297434"/>
                    </a:ext>
                  </a:extLst>
                </a:gridCol>
                <a:gridCol w="1731619">
                  <a:extLst>
                    <a:ext uri="{9D8B030D-6E8A-4147-A177-3AD203B41FA5}">
                      <a16:colId xmlns:a16="http://schemas.microsoft.com/office/drawing/2014/main" val="4038563814"/>
                    </a:ext>
                  </a:extLst>
                </a:gridCol>
              </a:tblGrid>
              <a:tr h="874353">
                <a:tc>
                  <a:txBody>
                    <a:bodyPr/>
                    <a:lstStyle/>
                    <a:p>
                      <a:endParaRPr lang="fr-FR" dirty="0"/>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Bassin </a:t>
                      </a:r>
                      <a:r>
                        <a:rPr lang="fr-FR" sz="18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Qb</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tc>
                  <a:txBody>
                    <a:bodyPr/>
                    <a:lstStyle/>
                    <a:p>
                      <a:pPr marR="33020" algn="ctr">
                        <a:lnSpc>
                          <a:spcPct val="107000"/>
                        </a:lnSpc>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3020" algn="ctr">
                        <a:lnSpc>
                          <a:spcPct val="107000"/>
                        </a:lnSpc>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Bassin Q’</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R="33020" algn="ctr">
                        <a:lnSpc>
                          <a:spcPct val="107000"/>
                        </a:lnSpc>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a:tc>
                <a:extLst>
                  <a:ext uri="{0D108BD9-81ED-4DB2-BD59-A6C34878D82A}">
                    <a16:rowId xmlns:a16="http://schemas.microsoft.com/office/drawing/2014/main" val="2985177327"/>
                  </a:ext>
                </a:extLst>
              </a:tr>
              <a:tr h="8743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Surface (S) en Km </a:t>
                      </a:r>
                      <a:r>
                        <a:rPr lang="fr-FR" sz="1800" kern="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0.682</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3.792</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extLst>
                  <a:ext uri="{0D108BD9-81ED-4DB2-BD59-A6C34878D82A}">
                    <a16:rowId xmlns:a16="http://schemas.microsoft.com/office/drawing/2014/main" val="533177652"/>
                  </a:ext>
                </a:extLst>
              </a:tr>
              <a:tr h="8743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Périmètre (P) en Km</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5.223</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20.218</a:t>
                      </a:r>
                      <a:endParaRPr lang="fr-FR" sz="1600" kern="1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fr-FR" dirty="0"/>
                    </a:p>
                  </a:txBody>
                  <a:tcPr/>
                </a:tc>
                <a:extLst>
                  <a:ext uri="{0D108BD9-81ED-4DB2-BD59-A6C34878D82A}">
                    <a16:rowId xmlns:a16="http://schemas.microsoft.com/office/drawing/2014/main" val="2955418580"/>
                  </a:ext>
                </a:extLst>
              </a:tr>
            </a:tbl>
          </a:graphicData>
        </a:graphic>
      </p:graphicFrame>
      <p:sp>
        <p:nvSpPr>
          <p:cNvPr id="16" name="ZoneTexte 15">
            <a:extLst>
              <a:ext uri="{FF2B5EF4-FFF2-40B4-BE49-F238E27FC236}">
                <a16:creationId xmlns:a16="http://schemas.microsoft.com/office/drawing/2014/main" id="{1C5BF8B7-FC7E-4F56-A63E-8290117162F3}"/>
              </a:ext>
            </a:extLst>
          </p:cNvPr>
          <p:cNvSpPr txBox="1"/>
          <p:nvPr/>
        </p:nvSpPr>
        <p:spPr>
          <a:xfrm>
            <a:off x="6674909" y="1796638"/>
            <a:ext cx="5130800" cy="1323439"/>
          </a:xfrm>
          <a:prstGeom prst="rect">
            <a:avLst/>
          </a:prstGeom>
          <a:noFill/>
        </p:spPr>
        <p:txBody>
          <a:bodyPr wrap="square" rtlCol="0">
            <a:spAutoFit/>
          </a:bodyPr>
          <a:lstStyle/>
          <a:p>
            <a:pPr marL="285750" indent="-28575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La délimitation a révélé un bassin </a:t>
            </a:r>
            <a:r>
              <a:rPr lang="fr-FR" sz="2000" dirty="0" err="1">
                <a:latin typeface="Times New Roman" panose="02020603050405020304" pitchFamily="18" charset="0"/>
                <a:cs typeface="Times New Roman" panose="02020603050405020304" pitchFamily="18" charset="0"/>
              </a:rPr>
              <a:t>contrubutif</a:t>
            </a:r>
            <a:r>
              <a:rPr lang="fr-FR" sz="2000" dirty="0">
                <a:latin typeface="Times New Roman" panose="02020603050405020304" pitchFamily="18" charset="0"/>
                <a:cs typeface="Times New Roman" panose="02020603050405020304" pitchFamily="18" charset="0"/>
              </a:rPr>
              <a:t> réel plus grand noté ici Q’</a:t>
            </a:r>
          </a:p>
          <a:p>
            <a:pPr marL="285750" indent="-28575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Le bassin versant </a:t>
            </a:r>
            <a:r>
              <a:rPr lang="fr-FR" sz="2000" dirty="0" err="1">
                <a:latin typeface="Times New Roman" panose="02020603050405020304" pitchFamily="18" charset="0"/>
                <a:cs typeface="Times New Roman" panose="02020603050405020304" pitchFamily="18" charset="0"/>
              </a:rPr>
              <a:t>Qb</a:t>
            </a:r>
            <a:r>
              <a:rPr lang="fr-FR" sz="2000" dirty="0">
                <a:latin typeface="Times New Roman" panose="02020603050405020304" pitchFamily="18" charset="0"/>
                <a:cs typeface="Times New Roman" panose="02020603050405020304" pitchFamily="18" charset="0"/>
              </a:rPr>
              <a:t> est une petite portion du bassin Q’ avec lequel il partage son exutoire</a:t>
            </a:r>
          </a:p>
        </p:txBody>
      </p:sp>
      <p:sp>
        <p:nvSpPr>
          <p:cNvPr id="18" name="ZoneTexte 17">
            <a:extLst>
              <a:ext uri="{FF2B5EF4-FFF2-40B4-BE49-F238E27FC236}">
                <a16:creationId xmlns:a16="http://schemas.microsoft.com/office/drawing/2014/main" id="{E7FFC264-8944-47E7-9C82-06F2A0873A12}"/>
              </a:ext>
            </a:extLst>
          </p:cNvPr>
          <p:cNvSpPr txBox="1"/>
          <p:nvPr/>
        </p:nvSpPr>
        <p:spPr>
          <a:xfrm>
            <a:off x="18772" y="1252607"/>
            <a:ext cx="12192000" cy="400110"/>
          </a:xfrm>
          <a:prstGeom prst="rect">
            <a:avLst/>
          </a:prstGeom>
          <a:noFill/>
        </p:spPr>
        <p:txBody>
          <a:bodyPr wrap="square" rtlCol="0">
            <a:spAutoFit/>
          </a:bodyPr>
          <a:lstStyle/>
          <a:p>
            <a:pPr marL="342900" indent="-342900" algn="ctr">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Présentation des résultats de la délimitation</a:t>
            </a:r>
          </a:p>
        </p:txBody>
      </p:sp>
      <p:sp>
        <p:nvSpPr>
          <p:cNvPr id="19" name="Ellipse 18">
            <a:extLst>
              <a:ext uri="{FF2B5EF4-FFF2-40B4-BE49-F238E27FC236}">
                <a16:creationId xmlns:a16="http://schemas.microsoft.com/office/drawing/2014/main" id="{12E5C978-36AE-430E-827E-A2DC9BB0FDAF}"/>
              </a:ext>
            </a:extLst>
          </p:cNvPr>
          <p:cNvSpPr/>
          <p:nvPr/>
        </p:nvSpPr>
        <p:spPr>
          <a:xfrm>
            <a:off x="3517344" y="1221830"/>
            <a:ext cx="5194857" cy="46166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du numéro de diapositive 3">
            <a:extLst>
              <a:ext uri="{FF2B5EF4-FFF2-40B4-BE49-F238E27FC236}">
                <a16:creationId xmlns:a16="http://schemas.microsoft.com/office/drawing/2014/main" id="{87E53FFC-AFA0-4364-B168-C2891C9BEFA7}"/>
              </a:ext>
            </a:extLst>
          </p:cNvPr>
          <p:cNvSpPr>
            <a:spLocks noGrp="1"/>
          </p:cNvSpPr>
          <p:nvPr>
            <p:ph type="sldNum" sz="quarter" idx="12"/>
          </p:nvPr>
        </p:nvSpPr>
        <p:spPr>
          <a:xfrm>
            <a:off x="8610600" y="6356350"/>
            <a:ext cx="2743200" cy="365125"/>
          </a:xfrm>
        </p:spPr>
        <p:txBody>
          <a:bodyPr/>
          <a:lstStyle/>
          <a:p>
            <a:fld id="{DABACED5-4545-4C55-9339-27E0833A921F}" type="slidenum">
              <a:rPr lang="fr-FR" smtClean="0"/>
              <a:t>14</a:t>
            </a:fld>
            <a:endParaRPr lang="fr-FR" dirty="0"/>
          </a:p>
        </p:txBody>
      </p:sp>
    </p:spTree>
    <p:extLst>
      <p:ext uri="{BB962C8B-B14F-4D97-AF65-F5344CB8AC3E}">
        <p14:creationId xmlns:p14="http://schemas.microsoft.com/office/powerpoint/2010/main" val="351827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F91EB3C-C21A-42B8-AD76-7467B19B7113}"/>
              </a:ext>
            </a:extLst>
          </p:cNvPr>
          <p:cNvSpPr>
            <a:spLocks noGrp="1"/>
          </p:cNvSpPr>
          <p:nvPr>
            <p:ph type="sldNum" sz="quarter" idx="12"/>
          </p:nvPr>
        </p:nvSpPr>
        <p:spPr/>
        <p:txBody>
          <a:bodyPr/>
          <a:lstStyle/>
          <a:p>
            <a:fld id="{DABACED5-4545-4C55-9339-27E0833A921F}" type="slidenum">
              <a:rPr lang="fr-FR" smtClean="0"/>
              <a:t>15</a:t>
            </a:fld>
            <a:endParaRPr lang="fr-FR" dirty="0"/>
          </a:p>
        </p:txBody>
      </p:sp>
      <p:sp>
        <p:nvSpPr>
          <p:cNvPr id="5" name="Rectangle 4">
            <a:extLst>
              <a:ext uri="{FF2B5EF4-FFF2-40B4-BE49-F238E27FC236}">
                <a16:creationId xmlns:a16="http://schemas.microsoft.com/office/drawing/2014/main" id="{4524529E-1B04-410F-9716-73E15310A24E}"/>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RESULTATS ET DISCUSSION(2</a:t>
            </a:r>
            <a:r>
              <a:rPr lang="fr-FR" sz="3200" b="1" kern="0" dirty="0">
                <a:solidFill>
                  <a:schemeClr val="tx1"/>
                </a:solidFill>
                <a:latin typeface="Times New Roman" pitchFamily="18" charset="0"/>
                <a:ea typeface="Cambria Math" pitchFamily="18" charset="0"/>
                <a:cs typeface="Times New Roman" pitchFamily="18" charset="0"/>
                <a:sym typeface="Arial"/>
              </a:rPr>
              <a:t>/5</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6" name="ZoneTexte 5">
            <a:extLst>
              <a:ext uri="{FF2B5EF4-FFF2-40B4-BE49-F238E27FC236}">
                <a16:creationId xmlns:a16="http://schemas.microsoft.com/office/drawing/2014/main" id="{3D9C31E4-A02C-42D0-A0DA-BD508963CC70}"/>
              </a:ext>
            </a:extLst>
          </p:cNvPr>
          <p:cNvSpPr txBox="1"/>
          <p:nvPr/>
        </p:nvSpPr>
        <p:spPr>
          <a:xfrm>
            <a:off x="327447" y="760164"/>
            <a:ext cx="11548735" cy="461665"/>
          </a:xfrm>
          <a:prstGeom prst="rect">
            <a:avLst/>
          </a:prstGeom>
          <a:solidFill>
            <a:schemeClr val="accent5">
              <a:lumMod val="20000"/>
              <a:lumOff val="80000"/>
            </a:schemeClr>
          </a:solidFill>
        </p:spPr>
        <p:txBody>
          <a:bodyPr wrap="square" rtlCol="0">
            <a:spAutoFit/>
          </a:bodyPr>
          <a:lstStyle/>
          <a:p>
            <a:pPr marL="285750" indent="-28575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Caractérisation du bassin versant </a:t>
            </a:r>
          </a:p>
        </p:txBody>
      </p:sp>
      <p:sp>
        <p:nvSpPr>
          <p:cNvPr id="10" name="ZoneTexte 9">
            <a:extLst>
              <a:ext uri="{FF2B5EF4-FFF2-40B4-BE49-F238E27FC236}">
                <a16:creationId xmlns:a16="http://schemas.microsoft.com/office/drawing/2014/main" id="{179BE23D-9479-4E44-928A-96DFA5D47C99}"/>
              </a:ext>
            </a:extLst>
          </p:cNvPr>
          <p:cNvSpPr txBox="1"/>
          <p:nvPr/>
        </p:nvSpPr>
        <p:spPr>
          <a:xfrm>
            <a:off x="327446" y="1331436"/>
            <a:ext cx="11548735" cy="400110"/>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fr-FR"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Présentation des caractéristiques morphométriques du bassin versant</a:t>
            </a:r>
          </a:p>
        </p:txBody>
      </p:sp>
      <p:graphicFrame>
        <p:nvGraphicFramePr>
          <p:cNvPr id="13" name="Tableau 12">
            <a:extLst>
              <a:ext uri="{FF2B5EF4-FFF2-40B4-BE49-F238E27FC236}">
                <a16:creationId xmlns:a16="http://schemas.microsoft.com/office/drawing/2014/main" id="{0652AE45-3B23-48B6-ACE4-ACEF7287EF1B}"/>
              </a:ext>
            </a:extLst>
          </p:cNvPr>
          <p:cNvGraphicFramePr>
            <a:graphicFrameLocks noGrp="1"/>
          </p:cNvGraphicFramePr>
          <p:nvPr>
            <p:extLst>
              <p:ext uri="{D42A27DB-BD31-4B8C-83A1-F6EECF244321}">
                <p14:modId xmlns:p14="http://schemas.microsoft.com/office/powerpoint/2010/main" val="58076014"/>
              </p:ext>
            </p:extLst>
          </p:nvPr>
        </p:nvGraphicFramePr>
        <p:xfrm>
          <a:off x="533400" y="2295761"/>
          <a:ext cx="11085055" cy="4467551"/>
        </p:xfrm>
        <a:graphic>
          <a:graphicData uri="http://schemas.openxmlformats.org/drawingml/2006/table">
            <a:tbl>
              <a:tblPr firstRow="1" firstCol="1" bandRow="1"/>
              <a:tblGrid>
                <a:gridCol w="3837248">
                  <a:extLst>
                    <a:ext uri="{9D8B030D-6E8A-4147-A177-3AD203B41FA5}">
                      <a16:colId xmlns:a16="http://schemas.microsoft.com/office/drawing/2014/main" val="97709484"/>
                    </a:ext>
                  </a:extLst>
                </a:gridCol>
                <a:gridCol w="2487093">
                  <a:extLst>
                    <a:ext uri="{9D8B030D-6E8A-4147-A177-3AD203B41FA5}">
                      <a16:colId xmlns:a16="http://schemas.microsoft.com/office/drawing/2014/main" val="3901276018"/>
                    </a:ext>
                  </a:extLst>
                </a:gridCol>
                <a:gridCol w="2380357">
                  <a:extLst>
                    <a:ext uri="{9D8B030D-6E8A-4147-A177-3AD203B41FA5}">
                      <a16:colId xmlns:a16="http://schemas.microsoft.com/office/drawing/2014/main" val="1843676996"/>
                    </a:ext>
                  </a:extLst>
                </a:gridCol>
                <a:gridCol w="2380357">
                  <a:extLst>
                    <a:ext uri="{9D8B030D-6E8A-4147-A177-3AD203B41FA5}">
                      <a16:colId xmlns:a16="http://schemas.microsoft.com/office/drawing/2014/main" val="2948776252"/>
                    </a:ext>
                  </a:extLst>
                </a:gridCol>
              </a:tblGrid>
              <a:tr h="0">
                <a:tc>
                  <a:txBody>
                    <a:bodyPr/>
                    <a:lstStyle/>
                    <a:p>
                      <a:pPr marL="280670" marR="33020" indent="-280670" algn="ctr">
                        <a:lnSpc>
                          <a:spcPct val="107000"/>
                        </a:lnSpc>
                        <a:spcAft>
                          <a:spcPts val="0"/>
                        </a:spcAft>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L="280670" marR="33020" indent="-280670" algn="ctr">
                        <a:lnSpc>
                          <a:spcPct val="107000"/>
                        </a:lnSpc>
                        <a:spcAft>
                          <a:spcPts val="0"/>
                        </a:spcAft>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Paramètres</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2476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R="2476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Bassin </a:t>
                      </a:r>
                      <a:r>
                        <a:rPr lang="fr-FR" sz="20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Qb</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R="2921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3020"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302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Grand bassin </a:t>
                      </a:r>
                      <a:r>
                        <a:rPr lang="fr-FR" sz="20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Qb</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(Q’)</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R="3302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3020" algn="ctr">
                        <a:lnSpc>
                          <a:spcPct val="107000"/>
                        </a:lnSpc>
                      </a:pPr>
                      <a:endParaRPr lang="fr-FR" sz="20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marR="33020" algn="ctr">
                        <a:lnSpc>
                          <a:spcPct val="107000"/>
                        </a:lnSpc>
                      </a:pPr>
                      <a:r>
                        <a:rPr lang="fr-FR" sz="2000" kern="100" dirty="0">
                          <a:effectLst/>
                          <a:latin typeface="Times New Roman" panose="02020603050405020304" pitchFamily="18" charset="0"/>
                          <a:ea typeface="SimSun" panose="02010600030101010101" pitchFamily="2" charset="-122"/>
                          <a:cs typeface="Times New Roman" panose="02020603050405020304" pitchFamily="18" charset="0"/>
                        </a:rPr>
                        <a:t>Conclusion</a:t>
                      </a: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4438286"/>
                  </a:ext>
                </a:extLst>
              </a:tr>
              <a:tr h="647091">
                <a:tc>
                  <a:txBody>
                    <a:bodyPr/>
                    <a:lstStyle/>
                    <a:p>
                      <a:pPr marR="36195"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619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Surface (S) en Km </a:t>
                      </a:r>
                      <a:r>
                        <a:rPr lang="fr-FR" sz="2000" kern="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238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0.682</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429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3.792</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4290" algn="ctr">
                        <a:lnSpc>
                          <a:spcPct val="107000"/>
                        </a:lnSpc>
                      </a:pP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a:t>
                      </a: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4188586"/>
                  </a:ext>
                </a:extLst>
              </a:tr>
              <a:tr h="647091">
                <a:tc>
                  <a:txBody>
                    <a:bodyPr/>
                    <a:lstStyle/>
                    <a:p>
                      <a:pPr marR="36195"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619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Périmètre (P) en Km</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5560"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556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5.223</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20.218</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a:t>
                      </a: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6933775"/>
                  </a:ext>
                </a:extLst>
              </a:tr>
              <a:tr h="647091">
                <a:tc>
                  <a:txBody>
                    <a:bodyPr/>
                    <a:lstStyle/>
                    <a:p>
                      <a:pPr marR="34290"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Pente Moyenne en %</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0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238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2.11</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238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2.84</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endParaRPr lang="fr-FR" sz="1800"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8806872"/>
                  </a:ext>
                </a:extLst>
              </a:tr>
              <a:tr h="647091">
                <a:tc>
                  <a:txBody>
                    <a:bodyPr/>
                    <a:lstStyle/>
                    <a:p>
                      <a:pPr marR="32385" algn="ctr">
                        <a:lnSpc>
                          <a:spcPct val="150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Indice de compacité (</a:t>
                      </a:r>
                      <a:r>
                        <a:rPr lang="fr-FR" sz="20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Icomp</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2385"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2385"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1.784</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6830" algn="ctr">
                        <a:lnSpc>
                          <a:spcPct val="107000"/>
                        </a:lnSpc>
                      </a:pPr>
                      <a:endPar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36830" algn="ctr">
                        <a:lnSpc>
                          <a:spcPct val="107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2.928</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6830" algn="ctr">
                        <a:lnSpc>
                          <a:spcPct val="150000"/>
                        </a:lnSpc>
                      </a:pPr>
                      <a:endParaRPr lang="fr-FR" sz="1800"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8331949"/>
                  </a:ext>
                </a:extLst>
              </a:tr>
              <a:tr h="874225">
                <a:tc>
                  <a:txBody>
                    <a:bodyPr/>
                    <a:lstStyle/>
                    <a:p>
                      <a:pPr marR="39370" algn="ctr">
                        <a:lnSpc>
                          <a:spcPct val="150000"/>
                        </a:lnSpc>
                      </a:pP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Indice global de pente (</a:t>
                      </a:r>
                      <a:r>
                        <a:rPr lang="fr-FR" sz="2000" kern="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Ig</a:t>
                      </a:r>
                      <a:r>
                        <a:rPr lang="fr-FR"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en m/km</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3655" algn="ctr">
                        <a:lnSpc>
                          <a:spcPct val="107000"/>
                        </a:lnSpc>
                      </a:pPr>
                      <a:endPar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3655" algn="ctr">
                        <a:lnSpc>
                          <a:spcPct val="107000"/>
                        </a:lnSpc>
                      </a:pP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1.459</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4290" algn="ctr">
                        <a:lnSpc>
                          <a:spcPct val="107000"/>
                        </a:lnSpc>
                      </a:pPr>
                      <a:endPar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algn="ctr">
                        <a:lnSpc>
                          <a:spcPct val="107000"/>
                        </a:lnSpc>
                      </a:pPr>
                      <a:r>
                        <a:rPr lang="fr-FR" sz="2000" kern="0" dirty="0">
                          <a:effectLst/>
                          <a:latin typeface="Times New Roman" panose="02020603050405020304" pitchFamily="18" charset="0"/>
                          <a:ea typeface="Times New Roman" panose="02020603050405020304" pitchFamily="18" charset="0"/>
                          <a:cs typeface="Times New Roman" panose="02020603050405020304" pitchFamily="18" charset="0"/>
                        </a:rPr>
                        <a:t>0.653</a:t>
                      </a: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34290" algn="ctr">
                        <a:lnSpc>
                          <a:spcPct val="150000"/>
                        </a:lnSpc>
                      </a:pPr>
                      <a:endParaRPr lang="fr-FR" sz="1400"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55322" marR="32569" marT="2320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4599118"/>
                  </a:ext>
                </a:extLst>
              </a:tr>
            </a:tbl>
          </a:graphicData>
        </a:graphic>
      </p:graphicFrame>
      <p:sp>
        <p:nvSpPr>
          <p:cNvPr id="14" name="ZoneTexte 13">
            <a:extLst>
              <a:ext uri="{FF2B5EF4-FFF2-40B4-BE49-F238E27FC236}">
                <a16:creationId xmlns:a16="http://schemas.microsoft.com/office/drawing/2014/main" id="{00F0C3EC-649C-4DA3-9BC2-D37ADD2988D0}"/>
              </a:ext>
            </a:extLst>
          </p:cNvPr>
          <p:cNvSpPr txBox="1"/>
          <p:nvPr/>
        </p:nvSpPr>
        <p:spPr>
          <a:xfrm>
            <a:off x="533400" y="1818178"/>
            <a:ext cx="11125200" cy="677108"/>
          </a:xfrm>
          <a:prstGeom prst="rect">
            <a:avLst/>
          </a:prstGeom>
          <a:noFill/>
        </p:spPr>
        <p:txBody>
          <a:bodyPr wrap="square" rtlCol="0">
            <a:spAutoFit/>
          </a:bodyPr>
          <a:lstStyle/>
          <a:p>
            <a:pPr algn="ctr"/>
            <a:r>
              <a:rPr lang="fr-FR" sz="2000" b="1" i="1" kern="100" dirty="0">
                <a:effectLst/>
                <a:latin typeface="Times New Roman" panose="02020603050405020304" pitchFamily="18" charset="0"/>
                <a:ea typeface="SimSun" panose="02010600030101010101" pitchFamily="2" charset="-122"/>
                <a:cs typeface="Times New Roman" panose="02020603050405020304" pitchFamily="18" charset="0"/>
              </a:rPr>
              <a:t>Tableau 3 </a:t>
            </a:r>
            <a:r>
              <a:rPr lang="fr-FR" sz="2000" i="1" kern="100" dirty="0">
                <a:effectLst/>
                <a:latin typeface="Times New Roman" panose="02020603050405020304" pitchFamily="18" charset="0"/>
                <a:ea typeface="SimSun" panose="02010600030101010101" pitchFamily="2" charset="-122"/>
                <a:cs typeface="Times New Roman" panose="02020603050405020304" pitchFamily="18" charset="0"/>
              </a:rPr>
              <a:t>: Caractéristiques physiographiques des bassins </a:t>
            </a:r>
            <a:r>
              <a:rPr lang="fr-FR" sz="2000" i="1" kern="100" dirty="0" err="1">
                <a:effectLst/>
                <a:latin typeface="Times New Roman" panose="02020603050405020304" pitchFamily="18" charset="0"/>
                <a:ea typeface="SimSun" panose="02010600030101010101" pitchFamily="2" charset="-122"/>
                <a:cs typeface="Times New Roman" panose="02020603050405020304" pitchFamily="18" charset="0"/>
              </a:rPr>
              <a:t>Qb</a:t>
            </a:r>
            <a:r>
              <a:rPr lang="fr-FR" sz="2000" i="1" kern="100" dirty="0">
                <a:effectLst/>
                <a:latin typeface="Times New Roman" panose="02020603050405020304" pitchFamily="18" charset="0"/>
                <a:ea typeface="SimSun" panose="02010600030101010101" pitchFamily="2" charset="-122"/>
                <a:cs typeface="Times New Roman" panose="02020603050405020304" pitchFamily="18" charset="0"/>
              </a:rPr>
              <a:t> et Q’</a:t>
            </a:r>
          </a:p>
          <a:p>
            <a:pPr algn="ctr"/>
            <a:endParaRPr lang="fr-FR" dirty="0"/>
          </a:p>
        </p:txBody>
      </p:sp>
      <p:sp>
        <p:nvSpPr>
          <p:cNvPr id="16" name="Ellipse 15">
            <a:extLst>
              <a:ext uri="{FF2B5EF4-FFF2-40B4-BE49-F238E27FC236}">
                <a16:creationId xmlns:a16="http://schemas.microsoft.com/office/drawing/2014/main" id="{E7E500EF-17A4-47A5-BEAD-7FBBF5877ECE}"/>
              </a:ext>
            </a:extLst>
          </p:cNvPr>
          <p:cNvSpPr/>
          <p:nvPr/>
        </p:nvSpPr>
        <p:spPr>
          <a:xfrm>
            <a:off x="1981200" y="1283410"/>
            <a:ext cx="8229600" cy="49616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E6668B27-C67D-4C86-BCDA-53E62F3BBDD9}"/>
              </a:ext>
            </a:extLst>
          </p:cNvPr>
          <p:cNvSpPr/>
          <p:nvPr/>
        </p:nvSpPr>
        <p:spPr>
          <a:xfrm>
            <a:off x="4550092" y="4529537"/>
            <a:ext cx="4373696" cy="199405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ZoneTexte 2">
            <a:extLst>
              <a:ext uri="{FF2B5EF4-FFF2-40B4-BE49-F238E27FC236}">
                <a16:creationId xmlns:a16="http://schemas.microsoft.com/office/drawing/2014/main" id="{B2B56FDF-A2EA-41A6-848A-7F581AC5A0D7}"/>
              </a:ext>
            </a:extLst>
          </p:cNvPr>
          <p:cNvSpPr txBox="1"/>
          <p:nvPr/>
        </p:nvSpPr>
        <p:spPr>
          <a:xfrm>
            <a:off x="9298236" y="3855904"/>
            <a:ext cx="2269475" cy="506776"/>
          </a:xfrm>
          <a:prstGeom prst="rect">
            <a:avLst/>
          </a:prstGeom>
          <a:noFill/>
        </p:spPr>
        <p:txBody>
          <a:bodyPr wrap="square" rtlCol="0">
            <a:spAutoFit/>
          </a:bodyPr>
          <a:lstStyle/>
          <a:p>
            <a:endParaRPr lang="fr-FR" dirty="0"/>
          </a:p>
        </p:txBody>
      </p:sp>
      <p:sp>
        <p:nvSpPr>
          <p:cNvPr id="7" name="ZoneTexte 6">
            <a:extLst>
              <a:ext uri="{FF2B5EF4-FFF2-40B4-BE49-F238E27FC236}">
                <a16:creationId xmlns:a16="http://schemas.microsoft.com/office/drawing/2014/main" id="{C52C0F33-534F-4979-BB4E-6DA4ACA1A53B}"/>
              </a:ext>
            </a:extLst>
          </p:cNvPr>
          <p:cNvSpPr txBox="1"/>
          <p:nvPr/>
        </p:nvSpPr>
        <p:spPr>
          <a:xfrm>
            <a:off x="9298235" y="4480124"/>
            <a:ext cx="2269475" cy="923330"/>
          </a:xfrm>
          <a:prstGeom prst="rect">
            <a:avLst/>
          </a:prstGeom>
          <a:noFill/>
        </p:spPr>
        <p:txBody>
          <a:bodyPr wrap="square" rtlCol="0">
            <a:spAutoFit/>
          </a:bodyPr>
          <a:lstStyle/>
          <a:p>
            <a:pPr algn="ctr"/>
            <a:r>
              <a:rPr lang="fr-FR" sz="1800"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Pente faiblement inclinée</a:t>
            </a:r>
          </a:p>
          <a:p>
            <a:endParaRPr lang="fr-FR" dirty="0"/>
          </a:p>
        </p:txBody>
      </p:sp>
      <p:sp>
        <p:nvSpPr>
          <p:cNvPr id="12" name="ZoneTexte 11">
            <a:extLst>
              <a:ext uri="{FF2B5EF4-FFF2-40B4-BE49-F238E27FC236}">
                <a16:creationId xmlns:a16="http://schemas.microsoft.com/office/drawing/2014/main" id="{D74306DE-67C2-47EB-8A99-A12D9AC094D4}"/>
              </a:ext>
            </a:extLst>
          </p:cNvPr>
          <p:cNvSpPr txBox="1"/>
          <p:nvPr/>
        </p:nvSpPr>
        <p:spPr>
          <a:xfrm>
            <a:off x="9318307" y="5096890"/>
            <a:ext cx="2269475" cy="784830"/>
          </a:xfrm>
          <a:prstGeom prst="rect">
            <a:avLst/>
          </a:prstGeom>
          <a:noFill/>
        </p:spPr>
        <p:txBody>
          <a:bodyPr wrap="square" rtlCol="0">
            <a:spAutoFit/>
          </a:bodyPr>
          <a:lstStyle/>
          <a:p>
            <a:pPr marR="36830" algn="ctr">
              <a:lnSpc>
                <a:spcPct val="150000"/>
              </a:lnSpc>
            </a:pPr>
            <a:r>
              <a:rPr lang="fr-FR" kern="1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Forme allongée</a:t>
            </a:r>
          </a:p>
          <a:p>
            <a:endParaRPr lang="fr-FR" dirty="0"/>
          </a:p>
        </p:txBody>
      </p:sp>
      <p:sp>
        <p:nvSpPr>
          <p:cNvPr id="15" name="ZoneTexte 14">
            <a:extLst>
              <a:ext uri="{FF2B5EF4-FFF2-40B4-BE49-F238E27FC236}">
                <a16:creationId xmlns:a16="http://schemas.microsoft.com/office/drawing/2014/main" id="{F740F3A4-A5F9-4143-B378-CD574EC518CF}"/>
              </a:ext>
            </a:extLst>
          </p:cNvPr>
          <p:cNvSpPr txBox="1"/>
          <p:nvPr/>
        </p:nvSpPr>
        <p:spPr>
          <a:xfrm>
            <a:off x="9318307" y="5893745"/>
            <a:ext cx="2269475" cy="784830"/>
          </a:xfrm>
          <a:prstGeom prst="rect">
            <a:avLst/>
          </a:prstGeom>
          <a:noFill/>
        </p:spPr>
        <p:txBody>
          <a:bodyPr wrap="square" rtlCol="0">
            <a:spAutoFit/>
          </a:bodyPr>
          <a:lstStyle/>
          <a:p>
            <a:pPr marR="34290" algn="ctr">
              <a:lnSpc>
                <a:spcPct val="150000"/>
              </a:lnSpc>
            </a:pPr>
            <a:r>
              <a:rPr lang="fr-FR" dirty="0">
                <a:solidFill>
                  <a:srgbClr val="FF0000"/>
                </a:solidFill>
                <a:latin typeface="Times New Roman" panose="02020603050405020304" pitchFamily="18" charset="0"/>
                <a:cs typeface="Times New Roman" panose="02020603050405020304" pitchFamily="18" charset="0"/>
              </a:rPr>
              <a:t>relief très faible</a:t>
            </a:r>
            <a:endParaRPr lang="fr-FR" sz="1400" kern="1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endParaRPr>
          </a:p>
          <a:p>
            <a:endParaRPr lang="fr-FR" dirty="0"/>
          </a:p>
        </p:txBody>
      </p:sp>
    </p:spTree>
    <p:extLst>
      <p:ext uri="{BB962C8B-B14F-4D97-AF65-F5344CB8AC3E}">
        <p14:creationId xmlns:p14="http://schemas.microsoft.com/office/powerpoint/2010/main" val="58563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12"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9F0A9D9-0254-45C5-BBAE-B6B358C56D1C}"/>
              </a:ext>
            </a:extLst>
          </p:cNvPr>
          <p:cNvSpPr>
            <a:spLocks noGrp="1"/>
          </p:cNvSpPr>
          <p:nvPr>
            <p:ph type="sldNum" sz="quarter" idx="12"/>
          </p:nvPr>
        </p:nvSpPr>
        <p:spPr/>
        <p:txBody>
          <a:bodyPr/>
          <a:lstStyle/>
          <a:p>
            <a:fld id="{DABACED5-4545-4C55-9339-27E0833A921F}" type="slidenum">
              <a:rPr lang="fr-FR" smtClean="0"/>
              <a:t>16</a:t>
            </a:fld>
            <a:endParaRPr lang="fr-FR" dirty="0"/>
          </a:p>
        </p:txBody>
      </p:sp>
      <p:sp>
        <p:nvSpPr>
          <p:cNvPr id="5" name="Rectangle 4">
            <a:extLst>
              <a:ext uri="{FF2B5EF4-FFF2-40B4-BE49-F238E27FC236}">
                <a16:creationId xmlns:a16="http://schemas.microsoft.com/office/drawing/2014/main" id="{862DC56A-C6EC-46C5-934C-C59792AD8837}"/>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RESULTATS ET DISCUSSION(</a:t>
            </a:r>
            <a:r>
              <a:rPr lang="fr-FR" sz="3200" b="1" kern="0" dirty="0">
                <a:solidFill>
                  <a:schemeClr val="tx1"/>
                </a:solidFill>
                <a:latin typeface="Times New Roman" pitchFamily="18" charset="0"/>
                <a:ea typeface="Cambria Math" pitchFamily="18" charset="0"/>
                <a:cs typeface="Times New Roman" pitchFamily="18" charset="0"/>
                <a:sym typeface="Arial"/>
              </a:rPr>
              <a:t>3/5</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6" name="ZoneTexte 5">
            <a:extLst>
              <a:ext uri="{FF2B5EF4-FFF2-40B4-BE49-F238E27FC236}">
                <a16:creationId xmlns:a16="http://schemas.microsoft.com/office/drawing/2014/main" id="{A5DAC2BD-0987-4434-82E0-12F688E98ED8}"/>
              </a:ext>
            </a:extLst>
          </p:cNvPr>
          <p:cNvSpPr txBox="1"/>
          <p:nvPr/>
        </p:nvSpPr>
        <p:spPr>
          <a:xfrm>
            <a:off x="0" y="642868"/>
            <a:ext cx="12191999" cy="461665"/>
          </a:xfrm>
          <a:prstGeom prst="rect">
            <a:avLst/>
          </a:prstGeom>
          <a:solidFill>
            <a:schemeClr val="accent5">
              <a:lumMod val="20000"/>
              <a:lumOff val="80000"/>
            </a:schemeClr>
          </a:solidFill>
        </p:spPr>
        <p:txBody>
          <a:bodyPr wrap="square" rtlCol="0">
            <a:spAutoFit/>
          </a:bodyPr>
          <a:lstStyle/>
          <a:p>
            <a:pPr marL="285750" indent="-28575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Analyse fréquentielle des précipitations extrêmes </a:t>
            </a:r>
          </a:p>
        </p:txBody>
      </p:sp>
      <p:sp>
        <p:nvSpPr>
          <p:cNvPr id="8" name="ZoneTexte 7">
            <a:extLst>
              <a:ext uri="{FF2B5EF4-FFF2-40B4-BE49-F238E27FC236}">
                <a16:creationId xmlns:a16="http://schemas.microsoft.com/office/drawing/2014/main" id="{77665452-65A6-43A9-851C-9D68F1FDFF52}"/>
              </a:ext>
            </a:extLst>
          </p:cNvPr>
          <p:cNvSpPr txBox="1"/>
          <p:nvPr/>
        </p:nvSpPr>
        <p:spPr>
          <a:xfrm>
            <a:off x="0" y="1167851"/>
            <a:ext cx="12060023" cy="400110"/>
          </a:xfrm>
          <a:prstGeom prst="rect">
            <a:avLst/>
          </a:prstGeom>
          <a:noFill/>
        </p:spPr>
        <p:txBody>
          <a:bodyPr wrap="square">
            <a:spAutoFit/>
          </a:bodyPr>
          <a:lstStyle/>
          <a:p>
            <a:pPr marL="342900" indent="-342900">
              <a:buFont typeface="Wingdings" panose="05000000000000000000" pitchFamily="2" charset="2"/>
              <a:buChar char="Ø"/>
            </a:pPr>
            <a:r>
              <a:rPr lang="fr-FR" sz="2000" dirty="0">
                <a:latin typeface="Times New Roman" panose="02020603050405020304" pitchFamily="18" charset="0"/>
                <a:ea typeface="Cambria Math" panose="02040503050406030204" pitchFamily="18" charset="0"/>
                <a:cs typeface="Times New Roman" panose="02020603050405020304" pitchFamily="18" charset="0"/>
              </a:rPr>
              <a:t>la série des précipitations extrêmes journalière est </a:t>
            </a:r>
            <a:r>
              <a:rPr lang="fr-FR" sz="2000" dirty="0">
                <a:solidFill>
                  <a:srgbClr val="C00000"/>
                </a:solidFill>
                <a:latin typeface="Times New Roman" panose="02020603050405020304" pitchFamily="18" charset="0"/>
                <a:ea typeface="Cambria Math" panose="02040503050406030204" pitchFamily="18" charset="0"/>
                <a:cs typeface="Times New Roman" panose="02020603050405020304" pitchFamily="18" charset="0"/>
              </a:rPr>
              <a:t>stationnaire</a:t>
            </a:r>
            <a:r>
              <a:rPr lang="fr-FR" sz="2000" dirty="0">
                <a:latin typeface="Times New Roman" panose="02020603050405020304" pitchFamily="18" charset="0"/>
                <a:ea typeface="Cambria Math" panose="02040503050406030204" pitchFamily="18" charset="0"/>
                <a:cs typeface="Times New Roman" panose="02020603050405020304" pitchFamily="18" charset="0"/>
              </a:rPr>
              <a:t>, </a:t>
            </a:r>
            <a:r>
              <a:rPr lang="fr-FR" sz="2000" dirty="0">
                <a:solidFill>
                  <a:srgbClr val="C00000"/>
                </a:solidFill>
                <a:latin typeface="Times New Roman" panose="02020603050405020304" pitchFamily="18" charset="0"/>
                <a:ea typeface="Cambria Math" panose="02040503050406030204" pitchFamily="18" charset="0"/>
                <a:cs typeface="Times New Roman" panose="02020603050405020304" pitchFamily="18" charset="0"/>
              </a:rPr>
              <a:t>homogène</a:t>
            </a:r>
            <a:r>
              <a:rPr lang="fr-FR" sz="2000" dirty="0">
                <a:latin typeface="Times New Roman" panose="02020603050405020304" pitchFamily="18" charset="0"/>
                <a:ea typeface="Cambria Math" panose="02040503050406030204" pitchFamily="18" charset="0"/>
                <a:cs typeface="Times New Roman" panose="02020603050405020304" pitchFamily="18" charset="0"/>
              </a:rPr>
              <a:t> et </a:t>
            </a:r>
            <a:r>
              <a:rPr lang="fr-FR" sz="2000" dirty="0">
                <a:solidFill>
                  <a:srgbClr val="C00000"/>
                </a:solidFill>
                <a:latin typeface="Times New Roman" panose="02020603050405020304" pitchFamily="18" charset="0"/>
                <a:ea typeface="Cambria Math" panose="02040503050406030204" pitchFamily="18" charset="0"/>
                <a:cs typeface="Times New Roman" panose="02020603050405020304" pitchFamily="18" charset="0"/>
              </a:rPr>
              <a:t>indépendante</a:t>
            </a:r>
            <a:endParaRPr lang="fr-FR" sz="2000" dirty="0">
              <a:solidFill>
                <a:srgbClr val="C00000"/>
              </a:solidFill>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id="{F161A678-584F-4517-B9C8-AC5FBAC568E4}"/>
              </a:ext>
            </a:extLst>
          </p:cNvPr>
          <p:cNvPicPr/>
          <p:nvPr/>
        </p:nvPicPr>
        <p:blipFill>
          <a:blip r:embed="rId4">
            <a:extLst>
              <a:ext uri="{28A0092B-C50C-407E-A947-70E740481C1C}">
                <a14:useLocalDpi xmlns:a14="http://schemas.microsoft.com/office/drawing/2010/main" val="0"/>
              </a:ext>
            </a:extLst>
          </a:blip>
          <a:stretch>
            <a:fillRect/>
          </a:stretch>
        </p:blipFill>
        <p:spPr>
          <a:xfrm>
            <a:off x="219568" y="1561852"/>
            <a:ext cx="5121516" cy="2610036"/>
          </a:xfrm>
          <a:prstGeom prst="rect">
            <a:avLst/>
          </a:prstGeom>
        </p:spPr>
      </p:pic>
      <p:sp>
        <p:nvSpPr>
          <p:cNvPr id="12" name="Rectangle 1">
            <a:extLst>
              <a:ext uri="{FF2B5EF4-FFF2-40B4-BE49-F238E27FC236}">
                <a16:creationId xmlns:a16="http://schemas.microsoft.com/office/drawing/2014/main" id="{1E9BDE8A-4CD5-4148-9EBB-CA7A5E95FEBC}"/>
              </a:ext>
            </a:extLst>
          </p:cNvPr>
          <p:cNvSpPr>
            <a:spLocks noChangeArrowheads="1"/>
          </p:cNvSpPr>
          <p:nvPr/>
        </p:nvSpPr>
        <p:spPr bwMode="auto">
          <a:xfrm>
            <a:off x="443640" y="4151500"/>
            <a:ext cx="48974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b="0"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Figure : Comparaison graphique des ajustements</a:t>
            </a:r>
            <a:endParaRPr kumimoji="0" lang="fr-FR" altLang="zh-CN"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ZoneTexte 14">
            <a:extLst>
              <a:ext uri="{FF2B5EF4-FFF2-40B4-BE49-F238E27FC236}">
                <a16:creationId xmlns:a16="http://schemas.microsoft.com/office/drawing/2014/main" id="{71010C3B-4AB8-4F34-AFF9-28B60E3A9FE6}"/>
              </a:ext>
            </a:extLst>
          </p:cNvPr>
          <p:cNvSpPr txBox="1"/>
          <p:nvPr/>
        </p:nvSpPr>
        <p:spPr>
          <a:xfrm>
            <a:off x="-73707" y="4578107"/>
            <a:ext cx="5932137" cy="369332"/>
          </a:xfrm>
          <a:prstGeom prst="rect">
            <a:avLst/>
          </a:prstGeom>
          <a:noFill/>
        </p:spPr>
        <p:txBody>
          <a:bodyPr wrap="none" rtlCol="0">
            <a:spAutoFit/>
          </a:bodyPr>
          <a:lstStyle/>
          <a:p>
            <a:r>
              <a:rPr kumimoji="0" lang="fr-FR" altLang="zh-CN" sz="1800" b="0" i="1" strike="noStrike" cap="none" normalizeH="0" baseline="0" dirty="0">
                <a:ln>
                  <a:noFill/>
                </a:ln>
                <a:solidFill>
                  <a:srgbClr val="008080"/>
                </a:solidFill>
                <a:effectLst/>
                <a:latin typeface="Times New Roman" panose="02020603050405020304" pitchFamily="18" charset="0"/>
                <a:ea typeface="SimSun" panose="02010600030101010101" pitchFamily="2" charset="-122"/>
                <a:cs typeface="Times New Roman" panose="02020603050405020304" pitchFamily="18" charset="0"/>
              </a:rPr>
              <a:t>Tableau : Comparaison des valeurs des </a:t>
            </a:r>
            <a:r>
              <a:rPr kumimoji="0" lang="fr-FR" altLang="zh-CN" sz="1800" b="0" i="1" strike="noStrike" cap="none" normalizeH="0" baseline="0" dirty="0" err="1">
                <a:ln>
                  <a:noFill/>
                </a:ln>
                <a:solidFill>
                  <a:srgbClr val="008080"/>
                </a:solidFill>
                <a:effectLst/>
                <a:latin typeface="Times New Roman" panose="02020603050405020304" pitchFamily="18" charset="0"/>
                <a:ea typeface="SimSun" panose="02010600030101010101" pitchFamily="2" charset="-122"/>
                <a:cs typeface="Times New Roman" panose="02020603050405020304" pitchFamily="18" charset="0"/>
              </a:rPr>
              <a:t>citères</a:t>
            </a:r>
            <a:r>
              <a:rPr kumimoji="0" lang="fr-FR" altLang="zh-CN" sz="1800" b="0" i="1" strike="noStrike" cap="none" normalizeH="0" baseline="0" dirty="0">
                <a:ln>
                  <a:noFill/>
                </a:ln>
                <a:solidFill>
                  <a:srgbClr val="008080"/>
                </a:solidFill>
                <a:effectLst/>
                <a:latin typeface="Times New Roman" panose="02020603050405020304" pitchFamily="18" charset="0"/>
                <a:ea typeface="SimSun" panose="02010600030101010101" pitchFamily="2" charset="-122"/>
                <a:cs typeface="Times New Roman" panose="02020603050405020304" pitchFamily="18" charset="0"/>
              </a:rPr>
              <a:t> d’informations</a:t>
            </a:r>
            <a:endParaRPr kumimoji="0" lang="fr-FR" altLang="zh-CN" sz="2800" b="0"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6" name="Image 15">
            <a:extLst>
              <a:ext uri="{FF2B5EF4-FFF2-40B4-BE49-F238E27FC236}">
                <a16:creationId xmlns:a16="http://schemas.microsoft.com/office/drawing/2014/main" id="{8894D53B-79CB-4BA8-83ED-BCC0B65E8615}"/>
              </a:ext>
            </a:extLst>
          </p:cNvPr>
          <p:cNvPicPr/>
          <p:nvPr/>
        </p:nvPicPr>
        <p:blipFill>
          <a:blip r:embed="rId5">
            <a:extLst>
              <a:ext uri="{28A0092B-C50C-407E-A947-70E740481C1C}">
                <a14:useLocalDpi xmlns:a14="http://schemas.microsoft.com/office/drawing/2010/main" val="0"/>
              </a:ext>
            </a:extLst>
          </a:blip>
          <a:stretch>
            <a:fillRect/>
          </a:stretch>
        </p:blipFill>
        <p:spPr>
          <a:xfrm>
            <a:off x="6494824" y="2402235"/>
            <a:ext cx="5522090" cy="3412476"/>
          </a:xfrm>
          <a:prstGeom prst="rect">
            <a:avLst/>
          </a:prstGeom>
        </p:spPr>
      </p:pic>
      <p:graphicFrame>
        <p:nvGraphicFramePr>
          <p:cNvPr id="17" name="Tableau 17">
            <a:extLst>
              <a:ext uri="{FF2B5EF4-FFF2-40B4-BE49-F238E27FC236}">
                <a16:creationId xmlns:a16="http://schemas.microsoft.com/office/drawing/2014/main" id="{54DD6BF4-1361-4696-B691-AEC9ED1D4AE4}"/>
              </a:ext>
            </a:extLst>
          </p:cNvPr>
          <p:cNvGraphicFramePr>
            <a:graphicFrameLocks noGrp="1"/>
          </p:cNvGraphicFramePr>
          <p:nvPr>
            <p:extLst>
              <p:ext uri="{D42A27DB-BD31-4B8C-83A1-F6EECF244321}">
                <p14:modId xmlns:p14="http://schemas.microsoft.com/office/powerpoint/2010/main" val="2248245459"/>
              </p:ext>
            </p:extLst>
          </p:nvPr>
        </p:nvGraphicFramePr>
        <p:xfrm>
          <a:off x="154773" y="4953667"/>
          <a:ext cx="5114812" cy="1767808"/>
        </p:xfrm>
        <a:graphic>
          <a:graphicData uri="http://schemas.openxmlformats.org/drawingml/2006/table">
            <a:tbl>
              <a:tblPr firstRow="1" bandRow="1">
                <a:tableStyleId>{5940675A-B579-460E-94D1-54222C63F5DA}</a:tableStyleId>
              </a:tblPr>
              <a:tblGrid>
                <a:gridCol w="1278703">
                  <a:extLst>
                    <a:ext uri="{9D8B030D-6E8A-4147-A177-3AD203B41FA5}">
                      <a16:colId xmlns:a16="http://schemas.microsoft.com/office/drawing/2014/main" val="2599025685"/>
                    </a:ext>
                  </a:extLst>
                </a:gridCol>
                <a:gridCol w="1278703">
                  <a:extLst>
                    <a:ext uri="{9D8B030D-6E8A-4147-A177-3AD203B41FA5}">
                      <a16:colId xmlns:a16="http://schemas.microsoft.com/office/drawing/2014/main" val="3281400600"/>
                    </a:ext>
                  </a:extLst>
                </a:gridCol>
                <a:gridCol w="1278703">
                  <a:extLst>
                    <a:ext uri="{9D8B030D-6E8A-4147-A177-3AD203B41FA5}">
                      <a16:colId xmlns:a16="http://schemas.microsoft.com/office/drawing/2014/main" val="518464280"/>
                    </a:ext>
                  </a:extLst>
                </a:gridCol>
                <a:gridCol w="1278703">
                  <a:extLst>
                    <a:ext uri="{9D8B030D-6E8A-4147-A177-3AD203B41FA5}">
                      <a16:colId xmlns:a16="http://schemas.microsoft.com/office/drawing/2014/main" val="3622038513"/>
                    </a:ext>
                  </a:extLst>
                </a:gridCol>
              </a:tblGrid>
              <a:tr h="441952">
                <a:tc>
                  <a:txBody>
                    <a:bodyPr/>
                    <a:lstStyle/>
                    <a:p>
                      <a:pPr algn="ctr"/>
                      <a:r>
                        <a:rPr lang="en-US" sz="1800" kern="100" dirty="0" err="1">
                          <a:effectLst/>
                          <a:latin typeface="Times New Roman" panose="02020603050405020304" pitchFamily="18" charset="0"/>
                          <a:ea typeface="SimSun" panose="02010600030101010101" pitchFamily="2" charset="-122"/>
                          <a:cs typeface="Times New Roman" panose="02020603050405020304" pitchFamily="18" charset="0"/>
                        </a:rPr>
                        <a:t>Loi</a:t>
                      </a:r>
                      <a:endParaRPr lang="fr-FR" dirty="0"/>
                    </a:p>
                  </a:txBody>
                  <a:tcPr/>
                </a:tc>
                <a:tc>
                  <a:txBody>
                    <a:bodyPr/>
                    <a:lstStyle/>
                    <a:p>
                      <a:pPr algn="ct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BIC</a:t>
                      </a:r>
                      <a:endParaRPr lang="fr-FR" dirty="0"/>
                    </a:p>
                  </a:txBody>
                  <a:tcPr/>
                </a:tc>
                <a:tc>
                  <a:txBody>
                    <a:bodyPr/>
                    <a:lstStyle/>
                    <a:p>
                      <a:pPr algn="ct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AIC</a:t>
                      </a:r>
                      <a:endParaRPr lang="fr-FR" dirty="0"/>
                    </a:p>
                  </a:txBody>
                  <a:tcPr/>
                </a:tc>
                <a:tc>
                  <a:txBody>
                    <a:bodyPr/>
                    <a:lstStyle/>
                    <a:p>
                      <a:pPr algn="ct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P(Mi/x)</a:t>
                      </a:r>
                      <a:endParaRPr lang="fr-FR" dirty="0"/>
                    </a:p>
                  </a:txBody>
                  <a:tcPr/>
                </a:tc>
                <a:extLst>
                  <a:ext uri="{0D108BD9-81ED-4DB2-BD59-A6C34878D82A}">
                    <a16:rowId xmlns:a16="http://schemas.microsoft.com/office/drawing/2014/main" val="377837831"/>
                  </a:ext>
                </a:extLst>
              </a:tr>
              <a:tr h="4419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Gumbel</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305.830</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302.962</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00" dirty="0">
                          <a:solidFill>
                            <a:srgbClr val="FF0000"/>
                          </a:solidFill>
                          <a:effectLst/>
                          <a:latin typeface="Times New Roman" panose="02020603050405020304" pitchFamily="18" charset="0"/>
                          <a:ea typeface="SimSun" panose="02010600030101010101" pitchFamily="2" charset="-122"/>
                          <a:cs typeface="Times New Roman" panose="02020603050405020304" pitchFamily="18" charset="0"/>
                        </a:rPr>
                        <a:t>73.39</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extLst>
                  <a:ext uri="{0D108BD9-81ED-4DB2-BD59-A6C34878D82A}">
                    <a16:rowId xmlns:a16="http://schemas.microsoft.com/office/drawing/2014/main" val="327251675"/>
                  </a:ext>
                </a:extLst>
              </a:tr>
              <a:tr h="4419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G</a:t>
                      </a: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EV</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309.147</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304.845</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13.93</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extLst>
                  <a:ext uri="{0D108BD9-81ED-4DB2-BD59-A6C34878D82A}">
                    <a16:rowId xmlns:a16="http://schemas.microsoft.com/office/drawing/2014/main" val="3147726862"/>
                  </a:ext>
                </a:extLst>
              </a:tr>
              <a:tr h="4419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Normal</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309.349</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306.481</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Times New Roman" panose="02020603050405020304" pitchFamily="18" charset="0"/>
                          <a:ea typeface="SimSun" panose="02010600030101010101" pitchFamily="2" charset="-122"/>
                          <a:cs typeface="Times New Roman" panose="02020603050405020304" pitchFamily="18" charset="0"/>
                        </a:rPr>
                        <a:t>12.63</a:t>
                      </a:r>
                      <a:endParaRPr lang="fr-FR" sz="1400" kern="100" dirty="0">
                        <a:effectLst/>
                        <a:latin typeface="Calibri" panose="020F0502020204030204" pitchFamily="34" charset="0"/>
                        <a:ea typeface="SimSun" panose="02010600030101010101" pitchFamily="2" charset="-122"/>
                        <a:cs typeface="Times New Roman" panose="02020603050405020304" pitchFamily="18" charset="0"/>
                      </a:endParaRPr>
                    </a:p>
                  </a:txBody>
                  <a:tcPr/>
                </a:tc>
                <a:extLst>
                  <a:ext uri="{0D108BD9-81ED-4DB2-BD59-A6C34878D82A}">
                    <a16:rowId xmlns:a16="http://schemas.microsoft.com/office/drawing/2014/main" val="4261391156"/>
                  </a:ext>
                </a:extLst>
              </a:tr>
            </a:tbl>
          </a:graphicData>
        </a:graphic>
      </p:graphicFrame>
      <p:sp>
        <p:nvSpPr>
          <p:cNvPr id="20" name="Rectangle 19">
            <a:extLst>
              <a:ext uri="{FF2B5EF4-FFF2-40B4-BE49-F238E27FC236}">
                <a16:creationId xmlns:a16="http://schemas.microsoft.com/office/drawing/2014/main" id="{43CCE270-9871-4728-ACF6-71E6CF8487E1}"/>
              </a:ext>
            </a:extLst>
          </p:cNvPr>
          <p:cNvSpPr/>
          <p:nvPr/>
        </p:nvSpPr>
        <p:spPr>
          <a:xfrm>
            <a:off x="5203596" y="2596703"/>
            <a:ext cx="563283"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58559F29-6E1F-492B-B4D2-1472BAB8B8BD}"/>
              </a:ext>
            </a:extLst>
          </p:cNvPr>
          <p:cNvSpPr/>
          <p:nvPr/>
        </p:nvSpPr>
        <p:spPr>
          <a:xfrm>
            <a:off x="5269585" y="5814711"/>
            <a:ext cx="563283"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B4292C71-9F3D-4355-8249-6D72C5B647B0}"/>
              </a:ext>
            </a:extLst>
          </p:cNvPr>
          <p:cNvSpPr/>
          <p:nvPr/>
        </p:nvSpPr>
        <p:spPr>
          <a:xfrm>
            <a:off x="5766879" y="2596703"/>
            <a:ext cx="65989" cy="32637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Flèche : droite 22">
            <a:extLst>
              <a:ext uri="{FF2B5EF4-FFF2-40B4-BE49-F238E27FC236}">
                <a16:creationId xmlns:a16="http://schemas.microsoft.com/office/drawing/2014/main" id="{19F39A68-33D5-468B-8E41-E8714C2870B0}"/>
              </a:ext>
            </a:extLst>
          </p:cNvPr>
          <p:cNvSpPr/>
          <p:nvPr/>
        </p:nvSpPr>
        <p:spPr>
          <a:xfrm>
            <a:off x="5832868" y="4034672"/>
            <a:ext cx="563283" cy="1168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35C659BB-F2D8-4CBE-9D4A-DD5C87722EE5}"/>
              </a:ext>
            </a:extLst>
          </p:cNvPr>
          <p:cNvSpPr txBox="1"/>
          <p:nvPr/>
        </p:nvSpPr>
        <p:spPr>
          <a:xfrm>
            <a:off x="6756340" y="5820454"/>
            <a:ext cx="5190872" cy="369332"/>
          </a:xfrm>
          <a:prstGeom prst="rect">
            <a:avLst/>
          </a:prstGeom>
          <a:noFill/>
        </p:spPr>
        <p:txBody>
          <a:bodyPr wrap="square">
            <a:spAutoFit/>
          </a:bodyPr>
          <a:lstStyle/>
          <a:p>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Figure : Choix de la loi de </a:t>
            </a:r>
            <a:r>
              <a:rPr lang="fr-FR" sz="1800" kern="100" dirty="0" err="1">
                <a:effectLst/>
                <a:latin typeface="Times New Roman" panose="02020603050405020304" pitchFamily="18" charset="0"/>
                <a:ea typeface="SimSun" panose="02010600030101010101" pitchFamily="2" charset="-122"/>
                <a:cs typeface="Times New Roman" panose="02020603050405020304" pitchFamily="18" charset="0"/>
              </a:rPr>
              <a:t>Gumbel</a:t>
            </a:r>
            <a:r>
              <a:rPr lang="fr-FR" sz="1800" kern="100" dirty="0">
                <a:effectLst/>
                <a:latin typeface="Times New Roman" panose="02020603050405020304" pitchFamily="18" charset="0"/>
                <a:ea typeface="SimSun" panose="02010600030101010101" pitchFamily="2" charset="-122"/>
                <a:cs typeface="Times New Roman" panose="02020603050405020304" pitchFamily="18" charset="0"/>
              </a:rPr>
              <a:t> pour l’ajustement </a:t>
            </a:r>
            <a:endParaRPr lang="fr-FR" dirty="0">
              <a:latin typeface="Times New Roman" panose="02020603050405020304" pitchFamily="18" charset="0"/>
              <a:cs typeface="Times New Roman" panose="02020603050405020304" pitchFamily="18" charset="0"/>
            </a:endParaRPr>
          </a:p>
        </p:txBody>
      </p:sp>
      <p:sp>
        <p:nvSpPr>
          <p:cNvPr id="26" name="Ellipse 25">
            <a:extLst>
              <a:ext uri="{FF2B5EF4-FFF2-40B4-BE49-F238E27FC236}">
                <a16:creationId xmlns:a16="http://schemas.microsoft.com/office/drawing/2014/main" id="{8D45A793-8BBB-47C2-85EF-52E13F0A6C43}"/>
              </a:ext>
            </a:extLst>
          </p:cNvPr>
          <p:cNvSpPr/>
          <p:nvPr/>
        </p:nvSpPr>
        <p:spPr>
          <a:xfrm>
            <a:off x="1602247" y="5410987"/>
            <a:ext cx="961534" cy="3424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6EE1CFF9-7BC3-43F8-9389-F12B18349517}"/>
              </a:ext>
            </a:extLst>
          </p:cNvPr>
          <p:cNvSpPr/>
          <p:nvPr/>
        </p:nvSpPr>
        <p:spPr>
          <a:xfrm>
            <a:off x="2892361" y="5410987"/>
            <a:ext cx="961534" cy="3424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D66E1531-67BE-42BF-8AD6-E7D40D7AEB73}"/>
              </a:ext>
            </a:extLst>
          </p:cNvPr>
          <p:cNvSpPr/>
          <p:nvPr/>
        </p:nvSpPr>
        <p:spPr>
          <a:xfrm>
            <a:off x="4184357" y="5410986"/>
            <a:ext cx="961534" cy="342480"/>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85528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ppt_x"/>
                                          </p:val>
                                        </p:tav>
                                        <p:tav tm="100000">
                                          <p:val>
                                            <p:strVal val="#ppt_x"/>
                                          </p:val>
                                        </p:tav>
                                      </p:tavLst>
                                    </p:anim>
                                    <p:anim calcmode="lin" valueType="num">
                                      <p:cBhvr additive="base">
                                        <p:cTn id="2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534812B-C1C1-4FBE-BBBC-0A65684893AD}"/>
              </a:ext>
            </a:extLst>
          </p:cNvPr>
          <p:cNvSpPr>
            <a:spLocks noGrp="1"/>
          </p:cNvSpPr>
          <p:nvPr>
            <p:ph type="sldNum" sz="quarter" idx="12"/>
          </p:nvPr>
        </p:nvSpPr>
        <p:spPr/>
        <p:txBody>
          <a:bodyPr/>
          <a:lstStyle/>
          <a:p>
            <a:fld id="{DABACED5-4545-4C55-9339-27E0833A921F}" type="slidenum">
              <a:rPr lang="fr-FR" smtClean="0"/>
              <a:t>17</a:t>
            </a:fld>
            <a:endParaRPr lang="fr-FR" dirty="0"/>
          </a:p>
        </p:txBody>
      </p:sp>
      <p:sp>
        <p:nvSpPr>
          <p:cNvPr id="7" name="Rectangle 6">
            <a:extLst>
              <a:ext uri="{FF2B5EF4-FFF2-40B4-BE49-F238E27FC236}">
                <a16:creationId xmlns:a16="http://schemas.microsoft.com/office/drawing/2014/main" id="{A5B144F8-3164-473A-B9EE-6657047BBEC8}"/>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RESULTATS ET DISCUSSION(</a:t>
            </a:r>
            <a:r>
              <a:rPr lang="fr-FR" sz="3200" b="1" kern="0" dirty="0">
                <a:solidFill>
                  <a:schemeClr val="tx1"/>
                </a:solidFill>
                <a:latin typeface="Times New Roman" pitchFamily="18" charset="0"/>
                <a:ea typeface="Cambria Math" pitchFamily="18" charset="0"/>
                <a:cs typeface="Times New Roman" pitchFamily="18" charset="0"/>
                <a:sym typeface="Arial"/>
              </a:rPr>
              <a:t>4/5</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10" name="ZoneTexte 9">
            <a:extLst>
              <a:ext uri="{FF2B5EF4-FFF2-40B4-BE49-F238E27FC236}">
                <a16:creationId xmlns:a16="http://schemas.microsoft.com/office/drawing/2014/main" id="{BF2D5878-7545-4B4B-91D1-85B0C8EDA4D7}"/>
              </a:ext>
            </a:extLst>
          </p:cNvPr>
          <p:cNvSpPr txBox="1"/>
          <p:nvPr/>
        </p:nvSpPr>
        <p:spPr>
          <a:xfrm>
            <a:off x="0" y="642868"/>
            <a:ext cx="12191999" cy="461665"/>
          </a:xfrm>
          <a:prstGeom prst="rect">
            <a:avLst/>
          </a:prstGeom>
          <a:solidFill>
            <a:schemeClr val="accent5">
              <a:lumMod val="20000"/>
              <a:lumOff val="80000"/>
            </a:schemeClr>
          </a:solidFill>
        </p:spPr>
        <p:txBody>
          <a:bodyPr wrap="square" rtlCol="0">
            <a:spAutoFit/>
          </a:bodyPr>
          <a:lstStyle/>
          <a:p>
            <a:pPr marL="285750" indent="-28575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Analyse fréquentielle des précipitations extrêmes </a:t>
            </a:r>
          </a:p>
        </p:txBody>
      </p:sp>
      <p:graphicFrame>
        <p:nvGraphicFramePr>
          <p:cNvPr id="11" name="Tableau 10">
            <a:extLst>
              <a:ext uri="{FF2B5EF4-FFF2-40B4-BE49-F238E27FC236}">
                <a16:creationId xmlns:a16="http://schemas.microsoft.com/office/drawing/2014/main" id="{C7180ABD-C4DF-4BD5-9F2E-36DD5CB089DC}"/>
              </a:ext>
            </a:extLst>
          </p:cNvPr>
          <p:cNvGraphicFramePr>
            <a:graphicFrameLocks noGrp="1"/>
          </p:cNvGraphicFramePr>
          <p:nvPr>
            <p:extLst>
              <p:ext uri="{D42A27DB-BD31-4B8C-83A1-F6EECF244321}">
                <p14:modId xmlns:p14="http://schemas.microsoft.com/office/powerpoint/2010/main" val="4044397924"/>
              </p:ext>
            </p:extLst>
          </p:nvPr>
        </p:nvGraphicFramePr>
        <p:xfrm>
          <a:off x="676373" y="2336129"/>
          <a:ext cx="10839254" cy="2468518"/>
        </p:xfrm>
        <a:graphic>
          <a:graphicData uri="http://schemas.openxmlformats.org/drawingml/2006/table">
            <a:tbl>
              <a:tblPr firstRow="1" firstCol="1" bandRow="1">
                <a:tableStyleId>{5940675A-B579-460E-94D1-54222C63F5DA}</a:tableStyleId>
              </a:tblPr>
              <a:tblGrid>
                <a:gridCol w="1562659">
                  <a:extLst>
                    <a:ext uri="{9D8B030D-6E8A-4147-A177-3AD203B41FA5}">
                      <a16:colId xmlns:a16="http://schemas.microsoft.com/office/drawing/2014/main" val="2634289572"/>
                    </a:ext>
                  </a:extLst>
                </a:gridCol>
                <a:gridCol w="1533303">
                  <a:extLst>
                    <a:ext uri="{9D8B030D-6E8A-4147-A177-3AD203B41FA5}">
                      <a16:colId xmlns:a16="http://schemas.microsoft.com/office/drawing/2014/main" val="3586469831"/>
                    </a:ext>
                  </a:extLst>
                </a:gridCol>
                <a:gridCol w="1547981">
                  <a:extLst>
                    <a:ext uri="{9D8B030D-6E8A-4147-A177-3AD203B41FA5}">
                      <a16:colId xmlns:a16="http://schemas.microsoft.com/office/drawing/2014/main" val="1544903070"/>
                    </a:ext>
                  </a:extLst>
                </a:gridCol>
                <a:gridCol w="1547981">
                  <a:extLst>
                    <a:ext uri="{9D8B030D-6E8A-4147-A177-3AD203B41FA5}">
                      <a16:colId xmlns:a16="http://schemas.microsoft.com/office/drawing/2014/main" val="1663313080"/>
                    </a:ext>
                  </a:extLst>
                </a:gridCol>
                <a:gridCol w="1549110">
                  <a:extLst>
                    <a:ext uri="{9D8B030D-6E8A-4147-A177-3AD203B41FA5}">
                      <a16:colId xmlns:a16="http://schemas.microsoft.com/office/drawing/2014/main" val="3070871607"/>
                    </a:ext>
                  </a:extLst>
                </a:gridCol>
                <a:gridCol w="1549110">
                  <a:extLst>
                    <a:ext uri="{9D8B030D-6E8A-4147-A177-3AD203B41FA5}">
                      <a16:colId xmlns:a16="http://schemas.microsoft.com/office/drawing/2014/main" val="2108011480"/>
                    </a:ext>
                  </a:extLst>
                </a:gridCol>
                <a:gridCol w="1549110">
                  <a:extLst>
                    <a:ext uri="{9D8B030D-6E8A-4147-A177-3AD203B41FA5}">
                      <a16:colId xmlns:a16="http://schemas.microsoft.com/office/drawing/2014/main" val="843916552"/>
                    </a:ext>
                  </a:extLst>
                </a:gridCol>
              </a:tblGrid>
              <a:tr h="788411">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Périodes de retour</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02 ans</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05 ans</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10 ans</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20 ans</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50 ans</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100 ans</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78707608"/>
                  </a:ext>
                </a:extLst>
              </a:tr>
              <a:tr h="497069">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Quantiles</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100.2</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130.2</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150</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solidFill>
                            <a:schemeClr val="tx1"/>
                          </a:solidFill>
                          <a:effectLst/>
                          <a:latin typeface="Times New Roman" panose="02020603050405020304" pitchFamily="18" charset="0"/>
                          <a:cs typeface="Times New Roman" panose="02020603050405020304" pitchFamily="18" charset="0"/>
                        </a:rPr>
                        <a:t>169.1</a:t>
                      </a:r>
                      <a:endParaRPr lang="fr-FR" sz="2200" kern="1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a:effectLst/>
                          <a:latin typeface="Times New Roman" panose="02020603050405020304" pitchFamily="18" charset="0"/>
                          <a:cs typeface="Times New Roman" panose="02020603050405020304" pitchFamily="18" charset="0"/>
                        </a:rPr>
                        <a:t>193.7</a:t>
                      </a:r>
                      <a:endParaRPr lang="fr-FR" sz="22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212.1</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75643071"/>
                  </a:ext>
                </a:extLst>
              </a:tr>
              <a:tr h="1025807">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Intervalles de confiance</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89.35 -111.1</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113.3 -147.1</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128.3 -171.8</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142.3 -195.8</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160.4 - 227</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ctr">
                        <a:lnSpc>
                          <a:spcPct val="150000"/>
                        </a:lnSpc>
                      </a:pPr>
                      <a:r>
                        <a:rPr lang="fr-FR" sz="2200" kern="100" dirty="0">
                          <a:effectLst/>
                          <a:latin typeface="Times New Roman" panose="02020603050405020304" pitchFamily="18" charset="0"/>
                          <a:cs typeface="Times New Roman" panose="02020603050405020304" pitchFamily="18" charset="0"/>
                        </a:rPr>
                        <a:t>173.8 - 250.5</a:t>
                      </a:r>
                      <a:endParaRPr lang="fr-FR" sz="22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66858568"/>
                  </a:ext>
                </a:extLst>
              </a:tr>
            </a:tbl>
          </a:graphicData>
        </a:graphic>
      </p:graphicFrame>
      <p:sp>
        <p:nvSpPr>
          <p:cNvPr id="12" name="Rectangle 11">
            <a:extLst>
              <a:ext uri="{FF2B5EF4-FFF2-40B4-BE49-F238E27FC236}">
                <a16:creationId xmlns:a16="http://schemas.microsoft.com/office/drawing/2014/main" id="{51CAD573-A02D-4498-81ED-08A9E5083D7C}"/>
              </a:ext>
            </a:extLst>
          </p:cNvPr>
          <p:cNvSpPr/>
          <p:nvPr/>
        </p:nvSpPr>
        <p:spPr>
          <a:xfrm>
            <a:off x="5483256" y="3429000"/>
            <a:ext cx="1247481" cy="130918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37012B7B-D0EF-4BFE-A8DC-4EF9A00038B8}"/>
              </a:ext>
            </a:extLst>
          </p:cNvPr>
          <p:cNvSpPr txBox="1"/>
          <p:nvPr/>
        </p:nvSpPr>
        <p:spPr>
          <a:xfrm>
            <a:off x="274950" y="5192158"/>
            <a:ext cx="11480275" cy="461665"/>
          </a:xfrm>
          <a:prstGeom prst="rect">
            <a:avLst/>
          </a:prstGeom>
          <a:noFill/>
        </p:spPr>
        <p:txBody>
          <a:bodyPr wrap="square">
            <a:spAutoFit/>
          </a:bodyPr>
          <a:lstStyle/>
          <a:p>
            <a:pPr marL="285750" indent="-285750">
              <a:buFont typeface="Wingdings" panose="05000000000000000000" pitchFamily="2" charset="2"/>
              <a:buChar char="Ø"/>
            </a:pPr>
            <a:r>
              <a:rPr lang="fr-FR" sz="2400" kern="100" dirty="0">
                <a:latin typeface="Times New Roman" panose="02020603050405020304" pitchFamily="18" charset="0"/>
                <a:ea typeface="SimSun" panose="02010600030101010101" pitchFamily="2" charset="-122"/>
              </a:rPr>
              <a:t>A</a:t>
            </a:r>
            <a:r>
              <a:rPr lang="fr-FR" sz="2400" kern="100" dirty="0">
                <a:effectLst/>
                <a:latin typeface="Times New Roman" panose="02020603050405020304" pitchFamily="18" charset="0"/>
                <a:ea typeface="SimSun" panose="02010600030101010101" pitchFamily="2" charset="-122"/>
              </a:rPr>
              <a:t>ugmentation régulière des quantiles de précipitation en fonction des périodes de retour</a:t>
            </a:r>
            <a:endParaRPr lang="fr-FR" sz="3200"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30A9A267-1A08-4263-ADEF-D5CCB80FF6A1}"/>
              </a:ext>
            </a:extLst>
          </p:cNvPr>
          <p:cNvSpPr txBox="1"/>
          <p:nvPr/>
        </p:nvSpPr>
        <p:spPr>
          <a:xfrm>
            <a:off x="1729648" y="1739014"/>
            <a:ext cx="1839817" cy="369332"/>
          </a:xfrm>
          <a:prstGeom prst="rect">
            <a:avLst/>
          </a:prstGeom>
          <a:noFill/>
        </p:spPr>
        <p:txBody>
          <a:bodyPr wrap="square" rtlCol="0">
            <a:spAutoFit/>
          </a:bodyPr>
          <a:lstStyle/>
          <a:p>
            <a:endParaRPr lang="fr-FR" dirty="0"/>
          </a:p>
        </p:txBody>
      </p:sp>
      <p:sp>
        <p:nvSpPr>
          <p:cNvPr id="5" name="Rectangle 1">
            <a:extLst>
              <a:ext uri="{FF2B5EF4-FFF2-40B4-BE49-F238E27FC236}">
                <a16:creationId xmlns:a16="http://schemas.microsoft.com/office/drawing/2014/main" id="{8558CB1A-2C1A-4B24-A3AF-B3A592D1E72B}"/>
              </a:ext>
            </a:extLst>
          </p:cNvPr>
          <p:cNvSpPr>
            <a:spLocks noChangeArrowheads="1"/>
          </p:cNvSpPr>
          <p:nvPr/>
        </p:nvSpPr>
        <p:spPr bwMode="auto">
          <a:xfrm>
            <a:off x="6003634"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zh-CN" sz="1800" b="0" i="0" u="none" strike="noStrike" cap="none" normalizeH="0" baseline="0" dirty="0">
              <a:ln>
                <a:noFill/>
              </a:ln>
              <a:solidFill>
                <a:schemeClr val="tx1"/>
              </a:solidFill>
              <a:effectLst/>
              <a:latin typeface="Arial" panose="020B0604020202020204" pitchFamily="34" charset="0"/>
            </a:endParaRPr>
          </a:p>
        </p:txBody>
      </p:sp>
      <p:sp>
        <p:nvSpPr>
          <p:cNvPr id="13" name="ZoneTexte 12">
            <a:extLst>
              <a:ext uri="{FF2B5EF4-FFF2-40B4-BE49-F238E27FC236}">
                <a16:creationId xmlns:a16="http://schemas.microsoft.com/office/drawing/2014/main" id="{F4556014-987B-45CF-89FE-0E85344361BA}"/>
              </a:ext>
            </a:extLst>
          </p:cNvPr>
          <p:cNvSpPr txBox="1"/>
          <p:nvPr/>
        </p:nvSpPr>
        <p:spPr>
          <a:xfrm>
            <a:off x="1149495" y="1840436"/>
            <a:ext cx="8667521" cy="46166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zh-CN" sz="2400" b="1" i="1" u="none" strike="noStrike" cap="none" normalizeH="0" baseline="0" dirty="0" bmk="_Toc214392622">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Tableau 4 </a:t>
            </a:r>
            <a:r>
              <a:rPr kumimoji="0" lang="fr-FR" altLang="zh-CN" sz="2400" b="0" i="1" u="none" strike="noStrike" cap="none" normalizeH="0" baseline="0" dirty="0" bmk="_Toc214392622">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Quantiles estimés sur la station synoptique de Cotonou</a:t>
            </a:r>
            <a:endParaRPr kumimoji="0" lang="fr-FR"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72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B2E85C5-2FFC-4E1D-9788-6B48C1AA7570}"/>
              </a:ext>
            </a:extLst>
          </p:cNvPr>
          <p:cNvSpPr>
            <a:spLocks noGrp="1"/>
          </p:cNvSpPr>
          <p:nvPr>
            <p:ph type="sldNum" sz="quarter" idx="12"/>
          </p:nvPr>
        </p:nvSpPr>
        <p:spPr/>
        <p:txBody>
          <a:bodyPr/>
          <a:lstStyle/>
          <a:p>
            <a:fld id="{DABACED5-4545-4C55-9339-27E0833A921F}" type="slidenum">
              <a:rPr lang="fr-FR" smtClean="0"/>
              <a:t>18</a:t>
            </a:fld>
            <a:endParaRPr lang="fr-FR" dirty="0"/>
          </a:p>
        </p:txBody>
      </p:sp>
      <p:sp>
        <p:nvSpPr>
          <p:cNvPr id="5" name="Rectangle 4">
            <a:extLst>
              <a:ext uri="{FF2B5EF4-FFF2-40B4-BE49-F238E27FC236}">
                <a16:creationId xmlns:a16="http://schemas.microsoft.com/office/drawing/2014/main" id="{EAEDA971-1B16-4EB6-8D76-A6FE89B1317C}"/>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RESULTATS ET DISCUSSION(</a:t>
            </a:r>
            <a:r>
              <a:rPr lang="fr-FR" sz="3200" b="1" kern="0" dirty="0">
                <a:solidFill>
                  <a:schemeClr val="tx1"/>
                </a:solidFill>
                <a:latin typeface="Times New Roman" pitchFamily="18" charset="0"/>
                <a:ea typeface="Cambria Math" pitchFamily="18" charset="0"/>
                <a:cs typeface="Times New Roman" pitchFamily="18" charset="0"/>
                <a:sym typeface="Arial"/>
              </a:rPr>
              <a:t>4/5</a:t>
            </a: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6A357884-86EE-43D5-B77A-0B694C553529}"/>
                  </a:ext>
                </a:extLst>
              </p:cNvPr>
              <p:cNvSpPr txBox="1"/>
              <p:nvPr/>
            </p:nvSpPr>
            <p:spPr>
              <a:xfrm>
                <a:off x="0" y="642868"/>
                <a:ext cx="12191999" cy="470000"/>
              </a:xfrm>
              <a:prstGeom prst="rect">
                <a:avLst/>
              </a:prstGeom>
              <a:solidFill>
                <a:schemeClr val="accent5">
                  <a:lumMod val="20000"/>
                  <a:lumOff val="80000"/>
                </a:schemeClr>
              </a:solidFill>
            </p:spPr>
            <p:txBody>
              <a:bodyPr wrap="square" rtlCol="0">
                <a:spAutoFit/>
              </a:bodyPr>
              <a:lstStyle/>
              <a:p>
                <a:pPr marL="285750" indent="-285750" algn="ctr">
                  <a:buFont typeface="Wingdings" panose="05000000000000000000" pitchFamily="2" charset="2"/>
                  <a:buChar char="v"/>
                </a:pPr>
                <a:r>
                  <a:rPr lang="fr-FR" sz="2400" b="1" dirty="0">
                    <a:latin typeface="Times New Roman" panose="02020603050405020304" pitchFamily="18" charset="0"/>
                    <a:cs typeface="Times New Roman" panose="02020603050405020304" pitchFamily="18" charset="0"/>
                  </a:rPr>
                  <a:t>Estimation du débit généré (</a:t>
                </a:r>
                <a14:m>
                  <m:oMath xmlns:m="http://schemas.openxmlformats.org/officeDocument/2006/math">
                    <m:sSup>
                      <m:sSupPr>
                        <m:ctrlPr>
                          <a:rPr lang="fr-FR" sz="2400" b="1" i="1" smtClean="0">
                            <a:latin typeface="Cambria Math" panose="02040503050406030204" pitchFamily="18" charset="0"/>
                            <a:cs typeface="Times New Roman" panose="02020603050405020304" pitchFamily="18" charset="0"/>
                          </a:rPr>
                        </m:ctrlPr>
                      </m:sSupPr>
                      <m:e>
                        <m:r>
                          <a:rPr lang="fr-FR" sz="2400" b="1" i="1">
                            <a:latin typeface="Cambria Math" panose="02040503050406030204" pitchFamily="18" charset="0"/>
                            <a:cs typeface="Times New Roman" panose="02020603050405020304" pitchFamily="18" charset="0"/>
                          </a:rPr>
                          <m:t>𝒎</m:t>
                        </m:r>
                      </m:e>
                      <m:sup>
                        <m:r>
                          <a:rPr lang="fr-FR" sz="2400" b="1" i="1" smtClean="0">
                            <a:latin typeface="Cambria Math" panose="02040503050406030204" pitchFamily="18" charset="0"/>
                            <a:cs typeface="Times New Roman" panose="02020603050405020304" pitchFamily="18" charset="0"/>
                          </a:rPr>
                          <m:t>𝟑</m:t>
                        </m:r>
                      </m:sup>
                    </m:sSup>
                  </m:oMath>
                </a14:m>
                <a:r>
                  <a:rPr lang="fr-FR" sz="2400" b="1" dirty="0">
                    <a:latin typeface="Times New Roman" panose="02020603050405020304" pitchFamily="18" charset="0"/>
                    <a:cs typeface="Times New Roman" panose="02020603050405020304" pitchFamily="18" charset="0"/>
                  </a:rPr>
                  <a:t>/s)</a:t>
                </a:r>
              </a:p>
            </p:txBody>
          </p:sp>
        </mc:Choice>
        <mc:Fallback xmlns="">
          <p:sp>
            <p:nvSpPr>
              <p:cNvPr id="6" name="ZoneTexte 5">
                <a:extLst>
                  <a:ext uri="{FF2B5EF4-FFF2-40B4-BE49-F238E27FC236}">
                    <a16:creationId xmlns:a16="http://schemas.microsoft.com/office/drawing/2014/main" id="{6A357884-86EE-43D5-B77A-0B694C553529}"/>
                  </a:ext>
                </a:extLst>
              </p:cNvPr>
              <p:cNvSpPr txBox="1">
                <a:spLocks noRot="1" noChangeAspect="1" noMove="1" noResize="1" noEditPoints="1" noAdjustHandles="1" noChangeArrowheads="1" noChangeShapeType="1" noTextEdit="1"/>
              </p:cNvSpPr>
              <p:nvPr/>
            </p:nvSpPr>
            <p:spPr>
              <a:xfrm>
                <a:off x="0" y="642868"/>
                <a:ext cx="12191999" cy="470000"/>
              </a:xfrm>
              <a:prstGeom prst="rect">
                <a:avLst/>
              </a:prstGeom>
              <a:blipFill>
                <a:blip r:embed="rId4"/>
                <a:stretch>
                  <a:fillRect t="-7692" b="-28205"/>
                </a:stretch>
              </a:blipFill>
            </p:spPr>
            <p:txBody>
              <a:bodyPr/>
              <a:lstStyle/>
              <a:p>
                <a:r>
                  <a:rPr lang="fr-FR">
                    <a:noFill/>
                  </a:rPr>
                  <a:t> </a:t>
                </a:r>
              </a:p>
            </p:txBody>
          </p:sp>
        </mc:Fallback>
      </mc:AlternateContent>
      <p:sp>
        <p:nvSpPr>
          <p:cNvPr id="2" name="ZoneTexte 1">
            <a:extLst>
              <a:ext uri="{FF2B5EF4-FFF2-40B4-BE49-F238E27FC236}">
                <a16:creationId xmlns:a16="http://schemas.microsoft.com/office/drawing/2014/main" id="{C675F698-23CC-4A42-BB62-A57712BC42AE}"/>
              </a:ext>
            </a:extLst>
          </p:cNvPr>
          <p:cNvSpPr txBox="1"/>
          <p:nvPr/>
        </p:nvSpPr>
        <p:spPr>
          <a:xfrm>
            <a:off x="211667" y="1028754"/>
            <a:ext cx="4495800" cy="461665"/>
          </a:xfrm>
          <a:prstGeom prst="rect">
            <a:avLst/>
          </a:prstGeom>
          <a:noFill/>
        </p:spPr>
        <p:txBody>
          <a:bodyPr wrap="square" rtlCol="0">
            <a:spAutoFit/>
          </a:bodyPr>
          <a:lstStyle/>
          <a:p>
            <a:pPr marL="285750" indent="-285750">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Méthode rationnelle</a:t>
            </a:r>
          </a:p>
        </p:txBody>
      </p:sp>
      <p:graphicFrame>
        <p:nvGraphicFramePr>
          <p:cNvPr id="3" name="Tableau 6">
            <a:extLst>
              <a:ext uri="{FF2B5EF4-FFF2-40B4-BE49-F238E27FC236}">
                <a16:creationId xmlns:a16="http://schemas.microsoft.com/office/drawing/2014/main" id="{F086B7C9-7BE2-408E-B70E-6B7DCDCA3340}"/>
              </a:ext>
            </a:extLst>
          </p:cNvPr>
          <p:cNvGraphicFramePr>
            <a:graphicFrameLocks noGrp="1"/>
          </p:cNvGraphicFramePr>
          <p:nvPr>
            <p:extLst>
              <p:ext uri="{D42A27DB-BD31-4B8C-83A1-F6EECF244321}">
                <p14:modId xmlns:p14="http://schemas.microsoft.com/office/powerpoint/2010/main" val="4133654343"/>
              </p:ext>
            </p:extLst>
          </p:nvPr>
        </p:nvGraphicFramePr>
        <p:xfrm>
          <a:off x="420287" y="1906091"/>
          <a:ext cx="10659530" cy="2053844"/>
        </p:xfrm>
        <a:graphic>
          <a:graphicData uri="http://schemas.openxmlformats.org/drawingml/2006/table">
            <a:tbl>
              <a:tblPr firstRow="1" bandRow="1">
                <a:tableStyleId>{5940675A-B579-460E-94D1-54222C63F5DA}</a:tableStyleId>
              </a:tblPr>
              <a:tblGrid>
                <a:gridCol w="1522790">
                  <a:extLst>
                    <a:ext uri="{9D8B030D-6E8A-4147-A177-3AD203B41FA5}">
                      <a16:colId xmlns:a16="http://schemas.microsoft.com/office/drawing/2014/main" val="2250232300"/>
                    </a:ext>
                  </a:extLst>
                </a:gridCol>
                <a:gridCol w="1522790">
                  <a:extLst>
                    <a:ext uri="{9D8B030D-6E8A-4147-A177-3AD203B41FA5}">
                      <a16:colId xmlns:a16="http://schemas.microsoft.com/office/drawing/2014/main" val="3816106625"/>
                    </a:ext>
                  </a:extLst>
                </a:gridCol>
                <a:gridCol w="1522790">
                  <a:extLst>
                    <a:ext uri="{9D8B030D-6E8A-4147-A177-3AD203B41FA5}">
                      <a16:colId xmlns:a16="http://schemas.microsoft.com/office/drawing/2014/main" val="3091325988"/>
                    </a:ext>
                  </a:extLst>
                </a:gridCol>
                <a:gridCol w="1522790">
                  <a:extLst>
                    <a:ext uri="{9D8B030D-6E8A-4147-A177-3AD203B41FA5}">
                      <a16:colId xmlns:a16="http://schemas.microsoft.com/office/drawing/2014/main" val="2265593588"/>
                    </a:ext>
                  </a:extLst>
                </a:gridCol>
                <a:gridCol w="1522790">
                  <a:extLst>
                    <a:ext uri="{9D8B030D-6E8A-4147-A177-3AD203B41FA5}">
                      <a16:colId xmlns:a16="http://schemas.microsoft.com/office/drawing/2014/main" val="329907089"/>
                    </a:ext>
                  </a:extLst>
                </a:gridCol>
                <a:gridCol w="1522790">
                  <a:extLst>
                    <a:ext uri="{9D8B030D-6E8A-4147-A177-3AD203B41FA5}">
                      <a16:colId xmlns:a16="http://schemas.microsoft.com/office/drawing/2014/main" val="3977872124"/>
                    </a:ext>
                  </a:extLst>
                </a:gridCol>
                <a:gridCol w="1522790">
                  <a:extLst>
                    <a:ext uri="{9D8B030D-6E8A-4147-A177-3AD203B41FA5}">
                      <a16:colId xmlns:a16="http://schemas.microsoft.com/office/drawing/2014/main" val="3821251358"/>
                    </a:ext>
                  </a:extLst>
                </a:gridCol>
              </a:tblGrid>
              <a:tr h="599454">
                <a:tc>
                  <a:txBody>
                    <a:bodyPr/>
                    <a:lstStyle/>
                    <a:p>
                      <a:pPr algn="ctr"/>
                      <a:r>
                        <a:rPr lang="fr-FR" sz="1800" dirty="0">
                          <a:latin typeface="Times New Roman" panose="02020603050405020304" pitchFamily="18" charset="0"/>
                          <a:cs typeface="Times New Roman" panose="02020603050405020304" pitchFamily="18" charset="0"/>
                        </a:rPr>
                        <a:t>Périodes de retours</a:t>
                      </a:r>
                    </a:p>
                  </a:txBody>
                  <a:tcPr/>
                </a:tc>
                <a:tc>
                  <a:txBody>
                    <a:bodyPr/>
                    <a:lstStyle/>
                    <a:p>
                      <a:pPr algn="ctr"/>
                      <a:r>
                        <a:rPr lang="fr-FR" sz="1800" dirty="0">
                          <a:latin typeface="Times New Roman" panose="02020603050405020304" pitchFamily="18" charset="0"/>
                          <a:cs typeface="Times New Roman" panose="02020603050405020304" pitchFamily="18" charset="0"/>
                        </a:rPr>
                        <a:t>02 ans </a:t>
                      </a:r>
                    </a:p>
                  </a:txBody>
                  <a:tcPr/>
                </a:tc>
                <a:tc>
                  <a:txBody>
                    <a:bodyPr/>
                    <a:lstStyle/>
                    <a:p>
                      <a:pPr algn="ctr"/>
                      <a:r>
                        <a:rPr lang="fr-FR" sz="1800" dirty="0">
                          <a:latin typeface="Times New Roman" panose="02020603050405020304" pitchFamily="18" charset="0"/>
                          <a:cs typeface="Times New Roman" panose="02020603050405020304" pitchFamily="18" charset="0"/>
                        </a:rPr>
                        <a:t>05 ans </a:t>
                      </a:r>
                    </a:p>
                  </a:txBody>
                  <a:tcPr/>
                </a:tc>
                <a:tc>
                  <a:txBody>
                    <a:bodyPr/>
                    <a:lstStyle/>
                    <a:p>
                      <a:pPr algn="ctr"/>
                      <a:r>
                        <a:rPr lang="fr-FR" sz="1800" dirty="0">
                          <a:latin typeface="Times New Roman" panose="02020603050405020304" pitchFamily="18" charset="0"/>
                          <a:cs typeface="Times New Roman" panose="02020603050405020304" pitchFamily="18" charset="0"/>
                        </a:rPr>
                        <a:t>10 ans </a:t>
                      </a:r>
                    </a:p>
                  </a:txBody>
                  <a:tcPr/>
                </a:tc>
                <a:tc>
                  <a:txBody>
                    <a:bodyPr/>
                    <a:lstStyle/>
                    <a:p>
                      <a:pPr algn="ctr"/>
                      <a:r>
                        <a:rPr lang="fr-FR" sz="1800" dirty="0">
                          <a:latin typeface="Times New Roman" panose="02020603050405020304" pitchFamily="18" charset="0"/>
                          <a:cs typeface="Times New Roman" panose="02020603050405020304" pitchFamily="18" charset="0"/>
                        </a:rPr>
                        <a:t>20 ans </a:t>
                      </a:r>
                    </a:p>
                  </a:txBody>
                  <a:tcPr/>
                </a:tc>
                <a:tc>
                  <a:txBody>
                    <a:bodyPr/>
                    <a:lstStyle/>
                    <a:p>
                      <a:pPr algn="ctr"/>
                      <a:r>
                        <a:rPr lang="fr-FR" sz="1800" dirty="0">
                          <a:latin typeface="Times New Roman" panose="02020603050405020304" pitchFamily="18" charset="0"/>
                          <a:cs typeface="Times New Roman" panose="02020603050405020304" pitchFamily="18" charset="0"/>
                        </a:rPr>
                        <a:t>50 ans </a:t>
                      </a:r>
                    </a:p>
                  </a:txBody>
                  <a:tcPr/>
                </a:tc>
                <a:tc>
                  <a:txBody>
                    <a:bodyPr/>
                    <a:lstStyle/>
                    <a:p>
                      <a:pPr algn="ctr"/>
                      <a:r>
                        <a:rPr lang="fr-FR" sz="1800" dirty="0">
                          <a:latin typeface="Times New Roman" panose="02020603050405020304" pitchFamily="18" charset="0"/>
                          <a:cs typeface="Times New Roman" panose="02020603050405020304" pitchFamily="18" charset="0"/>
                        </a:rPr>
                        <a:t>100 ans</a:t>
                      </a:r>
                    </a:p>
                  </a:txBody>
                  <a:tcPr/>
                </a:tc>
                <a:extLst>
                  <a:ext uri="{0D108BD9-81ED-4DB2-BD59-A6C34878D82A}">
                    <a16:rowId xmlns:a16="http://schemas.microsoft.com/office/drawing/2014/main" val="1216449485"/>
                  </a:ext>
                </a:extLst>
              </a:tr>
              <a:tr h="397913">
                <a:tc>
                  <a:txBody>
                    <a:bodyPr/>
                    <a:lstStyle/>
                    <a:p>
                      <a:pPr algn="ctr"/>
                      <a:r>
                        <a:rPr lang="fr-FR" sz="1800" dirty="0">
                          <a:latin typeface="Times New Roman" panose="02020603050405020304" pitchFamily="18" charset="0"/>
                          <a:cs typeface="Times New Roman" panose="02020603050405020304" pitchFamily="18" charset="0"/>
                        </a:rPr>
                        <a:t> Bassin </a:t>
                      </a:r>
                      <a:r>
                        <a:rPr lang="fr-FR" sz="1800" dirty="0" err="1">
                          <a:latin typeface="Times New Roman" panose="02020603050405020304" pitchFamily="18" charset="0"/>
                          <a:cs typeface="Times New Roman" panose="02020603050405020304" pitchFamily="18" charset="0"/>
                        </a:rPr>
                        <a:t>Qb</a:t>
                      </a: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0,524</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0,680</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0,784</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0,884</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1,012</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1,108</a:t>
                      </a:r>
                    </a:p>
                    <a:p>
                      <a:pPr algn="ctr">
                        <a:lnSpc>
                          <a:spcPct val="150000"/>
                        </a:lnSpc>
                      </a:pPr>
                      <a:endParaRPr lang="fr-FR"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4450" marR="44450" marT="0" marB="0" anchor="b"/>
                </a:tc>
                <a:extLst>
                  <a:ext uri="{0D108BD9-81ED-4DB2-BD59-A6C34878D82A}">
                    <a16:rowId xmlns:a16="http://schemas.microsoft.com/office/drawing/2014/main" val="153707066"/>
                  </a:ext>
                </a:extLst>
              </a:tr>
              <a:tr h="599454">
                <a:tc>
                  <a:txBody>
                    <a:bodyPr/>
                    <a:lstStyle/>
                    <a:p>
                      <a:pPr algn="ctr"/>
                      <a:r>
                        <a:rPr lang="fr-FR" sz="1800" dirty="0">
                          <a:latin typeface="Times New Roman" panose="02020603050405020304" pitchFamily="18" charset="0"/>
                          <a:cs typeface="Times New Roman" panose="02020603050405020304" pitchFamily="18" charset="0"/>
                        </a:rPr>
                        <a:t>Bassin Q’</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3,034</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3,942</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4,542</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5,121</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5,866</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kern="0" dirty="0">
                          <a:effectLst/>
                          <a:latin typeface="Times New Roman" panose="02020603050405020304" pitchFamily="18" charset="0"/>
                          <a:cs typeface="Times New Roman" panose="02020603050405020304" pitchFamily="18" charset="0"/>
                        </a:rPr>
                        <a:t>6,423</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p>
                      <a:pPr algn="ctr"/>
                      <a:endParaRPr lang="fr-FR"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5288171"/>
                  </a:ext>
                </a:extLst>
              </a:tr>
            </a:tbl>
          </a:graphicData>
        </a:graphic>
      </p:graphicFrame>
      <p:sp>
        <p:nvSpPr>
          <p:cNvPr id="11" name="Ellipse 10">
            <a:extLst>
              <a:ext uri="{FF2B5EF4-FFF2-40B4-BE49-F238E27FC236}">
                <a16:creationId xmlns:a16="http://schemas.microsoft.com/office/drawing/2014/main" id="{D466A587-195F-467F-B8D0-13673BE29375}"/>
              </a:ext>
            </a:extLst>
          </p:cNvPr>
          <p:cNvSpPr/>
          <p:nvPr/>
        </p:nvSpPr>
        <p:spPr>
          <a:xfrm>
            <a:off x="5163736" y="3375435"/>
            <a:ext cx="1172633" cy="427572"/>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ZoneTexte 12">
            <a:extLst>
              <a:ext uri="{FF2B5EF4-FFF2-40B4-BE49-F238E27FC236}">
                <a16:creationId xmlns:a16="http://schemas.microsoft.com/office/drawing/2014/main" id="{7A60AF75-3E2D-42BB-B4C3-1ACB331FCEDE}"/>
              </a:ext>
            </a:extLst>
          </p:cNvPr>
          <p:cNvSpPr txBox="1"/>
          <p:nvPr/>
        </p:nvSpPr>
        <p:spPr>
          <a:xfrm>
            <a:off x="313266" y="3959935"/>
            <a:ext cx="6096000" cy="461665"/>
          </a:xfrm>
          <a:prstGeom prst="rect">
            <a:avLst/>
          </a:prstGeom>
          <a:noFill/>
        </p:spPr>
        <p:txBody>
          <a:bodyPr wrap="square">
            <a:spAutoFit/>
          </a:bodyPr>
          <a:lstStyle/>
          <a:p>
            <a:pPr marL="285750" indent="-285750">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Méthode du CIEH</a:t>
            </a:r>
          </a:p>
        </p:txBody>
      </p:sp>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897D0BEE-023A-41D3-8E45-C5B8F3EFA2D8}"/>
                  </a:ext>
                </a:extLst>
              </p:cNvPr>
              <p:cNvSpPr txBox="1"/>
              <p:nvPr/>
            </p:nvSpPr>
            <p:spPr>
              <a:xfrm>
                <a:off x="795866" y="1426850"/>
                <a:ext cx="9770533" cy="407099"/>
              </a:xfrm>
              <a:prstGeom prst="rect">
                <a:avLst/>
              </a:prstGeom>
              <a:noFill/>
            </p:spPr>
            <p:txBody>
              <a:bodyPr wrap="square" rtlCol="0">
                <a:spAutoFit/>
              </a:bodyPr>
              <a:lstStyle/>
              <a:p>
                <a:r>
                  <a:rPr lang="fr-FR" sz="2000" b="1" i="1" dirty="0">
                    <a:latin typeface="Times New Roman" panose="02020603050405020304" pitchFamily="18" charset="0"/>
                    <a:cs typeface="Times New Roman" panose="02020603050405020304" pitchFamily="18" charset="0"/>
                  </a:rPr>
                  <a:t>Tableau 5 </a:t>
                </a:r>
                <a:r>
                  <a:rPr lang="fr-FR" sz="2000" i="1" dirty="0">
                    <a:latin typeface="Times New Roman" panose="02020603050405020304" pitchFamily="18" charset="0"/>
                    <a:cs typeface="Times New Roman" panose="02020603050405020304" pitchFamily="18" charset="0"/>
                  </a:rPr>
                  <a:t>: </a:t>
                </a:r>
                <a:r>
                  <a:rPr lang="fr-FR" sz="2000" i="1" kern="100" dirty="0">
                    <a:effectLst/>
                    <a:latin typeface="Times New Roman" panose="02020603050405020304" pitchFamily="18" charset="0"/>
                    <a:ea typeface="SimSun" panose="02010600030101010101" pitchFamily="2" charset="-122"/>
                    <a:cs typeface="Times New Roman" panose="02020603050405020304" pitchFamily="18" charset="0"/>
                  </a:rPr>
                  <a:t>Débit estimé pour chaque période de retour avec la méthode rationnelle </a:t>
                </a:r>
                <a:r>
                  <a:rPr lang="fr-FR" sz="2000" b="1" i="1"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fr-FR" sz="2000" b="1" i="1" smtClean="0">
                            <a:latin typeface="Cambria Math" panose="02040503050406030204" pitchFamily="18" charset="0"/>
                            <a:cs typeface="Times New Roman" panose="02020603050405020304" pitchFamily="18" charset="0"/>
                          </a:rPr>
                        </m:ctrlPr>
                      </m:sSupPr>
                      <m:e>
                        <m:r>
                          <a:rPr lang="fr-FR" sz="2000" b="1" i="1">
                            <a:latin typeface="Cambria Math" panose="02040503050406030204" pitchFamily="18" charset="0"/>
                            <a:cs typeface="Times New Roman" panose="02020603050405020304" pitchFamily="18" charset="0"/>
                          </a:rPr>
                          <m:t>𝒎</m:t>
                        </m:r>
                      </m:e>
                      <m:sup>
                        <m:r>
                          <a:rPr lang="fr-FR" sz="2000" b="1" i="1" smtClean="0">
                            <a:latin typeface="Cambria Math" panose="02040503050406030204" pitchFamily="18" charset="0"/>
                            <a:cs typeface="Times New Roman" panose="02020603050405020304" pitchFamily="18" charset="0"/>
                          </a:rPr>
                          <m:t>𝟑</m:t>
                        </m:r>
                      </m:sup>
                    </m:sSup>
                  </m:oMath>
                </a14:m>
                <a:r>
                  <a:rPr lang="fr-FR" sz="2000" b="1" i="1" dirty="0">
                    <a:latin typeface="Times New Roman" panose="02020603050405020304" pitchFamily="18" charset="0"/>
                    <a:cs typeface="Times New Roman" panose="02020603050405020304" pitchFamily="18" charset="0"/>
                  </a:rPr>
                  <a:t>/s</a:t>
                </a:r>
                <a:r>
                  <a:rPr lang="fr-FR" sz="1800" b="1" i="1" dirty="0">
                    <a:latin typeface="Times New Roman" panose="02020603050405020304" pitchFamily="18" charset="0"/>
                    <a:cs typeface="Times New Roman" panose="02020603050405020304" pitchFamily="18" charset="0"/>
                  </a:rPr>
                  <a:t>)</a:t>
                </a:r>
                <a:endParaRPr lang="fr-FR" i="1" dirty="0">
                  <a:latin typeface="Times New Roman" panose="02020603050405020304" pitchFamily="18" charset="0"/>
                  <a:cs typeface="Times New Roman" panose="02020603050405020304" pitchFamily="18" charset="0"/>
                </a:endParaRPr>
              </a:p>
            </p:txBody>
          </p:sp>
        </mc:Choice>
        <mc:Fallback xmlns="">
          <p:sp>
            <p:nvSpPr>
              <p:cNvPr id="15" name="ZoneTexte 14">
                <a:extLst>
                  <a:ext uri="{FF2B5EF4-FFF2-40B4-BE49-F238E27FC236}">
                    <a16:creationId xmlns:a16="http://schemas.microsoft.com/office/drawing/2014/main" id="{897D0BEE-023A-41D3-8E45-C5B8F3EFA2D8}"/>
                  </a:ext>
                </a:extLst>
              </p:cNvPr>
              <p:cNvSpPr txBox="1">
                <a:spLocks noRot="1" noChangeAspect="1" noMove="1" noResize="1" noEditPoints="1" noAdjustHandles="1" noChangeArrowheads="1" noChangeShapeType="1" noTextEdit="1"/>
              </p:cNvSpPr>
              <p:nvPr/>
            </p:nvSpPr>
            <p:spPr>
              <a:xfrm>
                <a:off x="795866" y="1426850"/>
                <a:ext cx="9770533" cy="407099"/>
              </a:xfrm>
              <a:prstGeom prst="rect">
                <a:avLst/>
              </a:prstGeom>
              <a:blipFill>
                <a:blip r:embed="rId5"/>
                <a:stretch>
                  <a:fillRect l="-687" t="-5970" b="-25373"/>
                </a:stretch>
              </a:blipFill>
            </p:spPr>
            <p:txBody>
              <a:bodyPr/>
              <a:lstStyle/>
              <a:p>
                <a:r>
                  <a:rPr lang="fr-FR">
                    <a:noFill/>
                  </a:rPr>
                  <a:t> </a:t>
                </a:r>
              </a:p>
            </p:txBody>
          </p:sp>
        </mc:Fallback>
      </mc:AlternateContent>
      <p:sp>
        <p:nvSpPr>
          <p:cNvPr id="16" name="Ellipse 15">
            <a:extLst>
              <a:ext uri="{FF2B5EF4-FFF2-40B4-BE49-F238E27FC236}">
                <a16:creationId xmlns:a16="http://schemas.microsoft.com/office/drawing/2014/main" id="{FAAEE027-EE8F-46BB-8FE4-BB9EED139618}"/>
              </a:ext>
            </a:extLst>
          </p:cNvPr>
          <p:cNvSpPr/>
          <p:nvPr/>
        </p:nvSpPr>
        <p:spPr>
          <a:xfrm>
            <a:off x="5163736" y="2604584"/>
            <a:ext cx="1172633" cy="427572"/>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graphicFrame>
            <p:nvGraphicFramePr>
              <p:cNvPr id="18" name="Tableau 18">
                <a:extLst>
                  <a:ext uri="{FF2B5EF4-FFF2-40B4-BE49-F238E27FC236}">
                    <a16:creationId xmlns:a16="http://schemas.microsoft.com/office/drawing/2014/main" id="{0C110320-0070-491A-ADA3-25C059146F7F}"/>
                  </a:ext>
                </a:extLst>
              </p:cNvPr>
              <p:cNvGraphicFramePr>
                <a:graphicFrameLocks noGrp="1"/>
              </p:cNvGraphicFramePr>
              <p:nvPr>
                <p:extLst>
                  <p:ext uri="{D42A27DB-BD31-4B8C-83A1-F6EECF244321}">
                    <p14:modId xmlns:p14="http://schemas.microsoft.com/office/powerpoint/2010/main" val="1064919583"/>
                  </p:ext>
                </p:extLst>
              </p:nvPr>
            </p:nvGraphicFramePr>
            <p:xfrm>
              <a:off x="1204382" y="4792314"/>
              <a:ext cx="9091340" cy="1848843"/>
            </p:xfrm>
            <a:graphic>
              <a:graphicData uri="http://schemas.openxmlformats.org/drawingml/2006/table">
                <a:tbl>
                  <a:tblPr firstRow="1" bandRow="1">
                    <a:tableStyleId>{5940675A-B579-460E-94D1-54222C63F5DA}</a:tableStyleId>
                  </a:tblPr>
                  <a:tblGrid>
                    <a:gridCol w="3003804">
                      <a:extLst>
                        <a:ext uri="{9D8B030D-6E8A-4147-A177-3AD203B41FA5}">
                          <a16:colId xmlns:a16="http://schemas.microsoft.com/office/drawing/2014/main" val="1489994259"/>
                        </a:ext>
                      </a:extLst>
                    </a:gridCol>
                    <a:gridCol w="3043768">
                      <a:extLst>
                        <a:ext uri="{9D8B030D-6E8A-4147-A177-3AD203B41FA5}">
                          <a16:colId xmlns:a16="http://schemas.microsoft.com/office/drawing/2014/main" val="1945226285"/>
                        </a:ext>
                      </a:extLst>
                    </a:gridCol>
                    <a:gridCol w="3043768">
                      <a:extLst>
                        <a:ext uri="{9D8B030D-6E8A-4147-A177-3AD203B41FA5}">
                          <a16:colId xmlns:a16="http://schemas.microsoft.com/office/drawing/2014/main" val="747472917"/>
                        </a:ext>
                      </a:extLst>
                    </a:gridCol>
                  </a:tblGrid>
                  <a:tr h="948075">
                    <a:tc>
                      <a:txBody>
                        <a:bodyPr/>
                        <a:lstStyle/>
                        <a:p>
                          <a:pPr algn="ctr"/>
                          <a:endParaRPr lang="fr-FR" sz="240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fr-FR" sz="2400" dirty="0">
                            <a:latin typeface="Times New Roman" panose="02020603050405020304" pitchFamily="18" charset="0"/>
                            <a:cs typeface="Times New Roman" panose="02020603050405020304" pitchFamily="18" charset="0"/>
                          </a:endParaRPr>
                        </a:p>
                        <a:p>
                          <a:pPr algn="ctr"/>
                          <a:r>
                            <a:rPr lang="fr-FR" sz="2400" dirty="0">
                              <a:latin typeface="Times New Roman" panose="02020603050405020304" pitchFamily="18" charset="0"/>
                              <a:cs typeface="Times New Roman" panose="02020603050405020304" pitchFamily="18" charset="0"/>
                            </a:rPr>
                            <a:t>Bassin </a:t>
                          </a:r>
                          <a:r>
                            <a:rPr lang="fr-FR" sz="2400" dirty="0" err="1">
                              <a:latin typeface="Times New Roman" panose="02020603050405020304" pitchFamily="18" charset="0"/>
                              <a:cs typeface="Times New Roman" panose="02020603050405020304" pitchFamily="18" charset="0"/>
                            </a:rPr>
                            <a:t>Qb</a:t>
                          </a:r>
                          <a:endParaRPr lang="fr-FR" sz="2400" dirty="0">
                            <a:latin typeface="Times New Roman" panose="02020603050405020304" pitchFamily="18" charset="0"/>
                            <a:cs typeface="Times New Roman" panose="02020603050405020304" pitchFamily="18" charset="0"/>
                          </a:endParaRPr>
                        </a:p>
                      </a:txBody>
                      <a:tcPr/>
                    </a:tc>
                    <a:tc>
                      <a:txBody>
                        <a:bodyPr/>
                        <a:lstStyle/>
                        <a:p>
                          <a:pPr algn="ctr"/>
                          <a:endParaRPr lang="fr-FR" sz="2400" dirty="0">
                            <a:latin typeface="Times New Roman" panose="02020603050405020304" pitchFamily="18" charset="0"/>
                            <a:cs typeface="Times New Roman" panose="02020603050405020304" pitchFamily="18" charset="0"/>
                          </a:endParaRPr>
                        </a:p>
                        <a:p>
                          <a:pPr algn="ctr"/>
                          <a:r>
                            <a:rPr lang="fr-FR" sz="2400" dirty="0">
                              <a:latin typeface="Times New Roman" panose="02020603050405020304" pitchFamily="18" charset="0"/>
                              <a:cs typeface="Times New Roman" panose="02020603050405020304" pitchFamily="18" charset="0"/>
                            </a:rPr>
                            <a:t>Bassin Q’</a:t>
                          </a:r>
                        </a:p>
                      </a:txBody>
                      <a:tcPr/>
                    </a:tc>
                    <a:extLst>
                      <a:ext uri="{0D108BD9-81ED-4DB2-BD59-A6C34878D82A}">
                        <a16:rowId xmlns:a16="http://schemas.microsoft.com/office/drawing/2014/main" val="1972182878"/>
                      </a:ext>
                    </a:extLst>
                  </a:tr>
                  <a:tr h="900768">
                    <a:tc>
                      <a:txBody>
                        <a:bodyPr/>
                        <a:lstStyle/>
                        <a:p>
                          <a:pPr algn="ctr"/>
                          <a:endParaRPr lang="fr-FR" sz="2400" dirty="0">
                            <a:latin typeface="Times New Roman" panose="02020603050405020304" pitchFamily="18" charset="0"/>
                            <a:cs typeface="Times New Roman" panose="02020603050405020304" pitchFamily="18" charset="0"/>
                          </a:endParaRPr>
                        </a:p>
                        <a:p>
                          <a:pPr algn="ctr"/>
                          <a:r>
                            <a:rPr lang="fr-FR" sz="2400" dirty="0">
                              <a:latin typeface="Times New Roman" panose="02020603050405020304" pitchFamily="18" charset="0"/>
                              <a:cs typeface="Times New Roman" panose="02020603050405020304" pitchFamily="18" charset="0"/>
                            </a:rPr>
                            <a:t>Débit décennal </a:t>
                          </a:r>
                          <a:r>
                            <a:rPr lang="fr-FR" sz="2400" b="1" i="1"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fr-FR" sz="2400" b="1" i="1" smtClean="0">
                                      <a:latin typeface="Cambria Math" panose="02040503050406030204" pitchFamily="18" charset="0"/>
                                      <a:cs typeface="Times New Roman" panose="02020603050405020304" pitchFamily="18" charset="0"/>
                                    </a:rPr>
                                  </m:ctrlPr>
                                </m:sSupPr>
                                <m:e>
                                  <m:r>
                                    <a:rPr lang="fr-FR" sz="2400" b="1" i="1">
                                      <a:latin typeface="Cambria Math" panose="02040503050406030204" pitchFamily="18" charset="0"/>
                                      <a:cs typeface="Times New Roman" panose="02020603050405020304" pitchFamily="18" charset="0"/>
                                    </a:rPr>
                                    <m:t>𝒎</m:t>
                                  </m:r>
                                </m:e>
                                <m:sup>
                                  <m:r>
                                    <a:rPr lang="fr-FR" sz="2400" b="1" i="1" smtClean="0">
                                      <a:latin typeface="Cambria Math" panose="02040503050406030204" pitchFamily="18" charset="0"/>
                                      <a:cs typeface="Times New Roman" panose="02020603050405020304" pitchFamily="18" charset="0"/>
                                    </a:rPr>
                                    <m:t>𝟑</m:t>
                                  </m:r>
                                </m:sup>
                              </m:sSup>
                            </m:oMath>
                          </a14:m>
                          <a:r>
                            <a:rPr lang="fr-FR" sz="2400" b="1" i="1" dirty="0">
                              <a:latin typeface="Times New Roman" panose="02020603050405020304" pitchFamily="18" charset="0"/>
                              <a:cs typeface="Times New Roman" panose="02020603050405020304" pitchFamily="18" charset="0"/>
                            </a:rPr>
                            <a:t>/s)</a:t>
                          </a:r>
                          <a:endParaRPr lang="fr-FR" sz="2400" dirty="0">
                            <a:latin typeface="Times New Roman" panose="02020603050405020304" pitchFamily="18" charset="0"/>
                            <a:cs typeface="Times New Roman" panose="02020603050405020304" pitchFamily="18" charset="0"/>
                          </a:endParaRPr>
                        </a:p>
                      </a:txBody>
                      <a:tcPr/>
                    </a:tc>
                    <a:tc>
                      <a:txBody>
                        <a:bodyPr/>
                        <a:lstStyle/>
                        <a:p>
                          <a:pPr algn="ct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2400" kern="1200" dirty="0">
                              <a:solidFill>
                                <a:schemeClr val="tx1"/>
                              </a:solidFill>
                              <a:effectLst/>
                              <a:latin typeface="Times New Roman" panose="02020603050405020304" pitchFamily="18" charset="0"/>
                              <a:ea typeface="+mn-ea"/>
                              <a:cs typeface="Times New Roman" panose="02020603050405020304" pitchFamily="18" charset="0"/>
                            </a:rPr>
                            <a:t>0,9383</a:t>
                          </a:r>
                          <a:endParaRPr lang="fr-FR" sz="3200" dirty="0">
                            <a:latin typeface="Times New Roman" panose="02020603050405020304" pitchFamily="18" charset="0"/>
                            <a:cs typeface="Times New Roman" panose="02020603050405020304" pitchFamily="18" charset="0"/>
                          </a:endParaRPr>
                        </a:p>
                      </a:txBody>
                      <a:tcPr/>
                    </a:tc>
                    <a:tc>
                      <a:txBody>
                        <a:bodyPr/>
                        <a:lstStyle/>
                        <a:p>
                          <a:pPr algn="ct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2400" kern="1200" dirty="0">
                              <a:solidFill>
                                <a:schemeClr val="tx1"/>
                              </a:solidFill>
                              <a:effectLst/>
                              <a:latin typeface="Times New Roman" panose="02020603050405020304" pitchFamily="18" charset="0"/>
                              <a:ea typeface="+mn-ea"/>
                              <a:cs typeface="Times New Roman" panose="02020603050405020304" pitchFamily="18" charset="0"/>
                            </a:rPr>
                            <a:t>1,921</a:t>
                          </a:r>
                          <a:endParaRPr lang="fr-FR"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13389457"/>
                      </a:ext>
                    </a:extLst>
                  </a:tr>
                </a:tbl>
              </a:graphicData>
            </a:graphic>
          </p:graphicFrame>
        </mc:Choice>
        <mc:Fallback xmlns="">
          <p:graphicFrame>
            <p:nvGraphicFramePr>
              <p:cNvPr id="18" name="Tableau 18">
                <a:extLst>
                  <a:ext uri="{FF2B5EF4-FFF2-40B4-BE49-F238E27FC236}">
                    <a16:creationId xmlns:a16="http://schemas.microsoft.com/office/drawing/2014/main" id="{0C110320-0070-491A-ADA3-25C059146F7F}"/>
                  </a:ext>
                </a:extLst>
              </p:cNvPr>
              <p:cNvGraphicFramePr>
                <a:graphicFrameLocks noGrp="1"/>
              </p:cNvGraphicFramePr>
              <p:nvPr>
                <p:extLst>
                  <p:ext uri="{D42A27DB-BD31-4B8C-83A1-F6EECF244321}">
                    <p14:modId xmlns:p14="http://schemas.microsoft.com/office/powerpoint/2010/main" val="1064919583"/>
                  </p:ext>
                </p:extLst>
              </p:nvPr>
            </p:nvGraphicFramePr>
            <p:xfrm>
              <a:off x="1204382" y="4792314"/>
              <a:ext cx="9091340" cy="1848843"/>
            </p:xfrm>
            <a:graphic>
              <a:graphicData uri="http://schemas.openxmlformats.org/drawingml/2006/table">
                <a:tbl>
                  <a:tblPr firstRow="1" bandRow="1">
                    <a:tableStyleId>{5940675A-B579-460E-94D1-54222C63F5DA}</a:tableStyleId>
                  </a:tblPr>
                  <a:tblGrid>
                    <a:gridCol w="3003804">
                      <a:extLst>
                        <a:ext uri="{9D8B030D-6E8A-4147-A177-3AD203B41FA5}">
                          <a16:colId xmlns:a16="http://schemas.microsoft.com/office/drawing/2014/main" val="1489994259"/>
                        </a:ext>
                      </a:extLst>
                    </a:gridCol>
                    <a:gridCol w="3043768">
                      <a:extLst>
                        <a:ext uri="{9D8B030D-6E8A-4147-A177-3AD203B41FA5}">
                          <a16:colId xmlns:a16="http://schemas.microsoft.com/office/drawing/2014/main" val="1945226285"/>
                        </a:ext>
                      </a:extLst>
                    </a:gridCol>
                    <a:gridCol w="3043768">
                      <a:extLst>
                        <a:ext uri="{9D8B030D-6E8A-4147-A177-3AD203B41FA5}">
                          <a16:colId xmlns:a16="http://schemas.microsoft.com/office/drawing/2014/main" val="747472917"/>
                        </a:ext>
                      </a:extLst>
                    </a:gridCol>
                  </a:tblGrid>
                  <a:tr h="948075">
                    <a:tc>
                      <a:txBody>
                        <a:bodyPr/>
                        <a:lstStyle/>
                        <a:p>
                          <a:pPr algn="ctr"/>
                          <a:endParaRPr lang="fr-FR" sz="2400" dirty="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endParaRPr lang="fr-FR" sz="2400" dirty="0">
                            <a:latin typeface="Times New Roman" panose="02020603050405020304" pitchFamily="18" charset="0"/>
                            <a:cs typeface="Times New Roman" panose="02020603050405020304" pitchFamily="18" charset="0"/>
                          </a:endParaRPr>
                        </a:p>
                        <a:p>
                          <a:pPr algn="ctr"/>
                          <a:r>
                            <a:rPr lang="fr-FR" sz="2400" dirty="0">
                              <a:latin typeface="Times New Roman" panose="02020603050405020304" pitchFamily="18" charset="0"/>
                              <a:cs typeface="Times New Roman" panose="02020603050405020304" pitchFamily="18" charset="0"/>
                            </a:rPr>
                            <a:t>Bassin </a:t>
                          </a:r>
                          <a:r>
                            <a:rPr lang="fr-FR" sz="2400" dirty="0" err="1">
                              <a:latin typeface="Times New Roman" panose="02020603050405020304" pitchFamily="18" charset="0"/>
                              <a:cs typeface="Times New Roman" panose="02020603050405020304" pitchFamily="18" charset="0"/>
                            </a:rPr>
                            <a:t>Qb</a:t>
                          </a:r>
                          <a:endParaRPr lang="fr-FR" sz="2400" dirty="0">
                            <a:latin typeface="Times New Roman" panose="02020603050405020304" pitchFamily="18" charset="0"/>
                            <a:cs typeface="Times New Roman" panose="02020603050405020304" pitchFamily="18" charset="0"/>
                          </a:endParaRPr>
                        </a:p>
                      </a:txBody>
                      <a:tcPr/>
                    </a:tc>
                    <a:tc>
                      <a:txBody>
                        <a:bodyPr/>
                        <a:lstStyle/>
                        <a:p>
                          <a:pPr algn="ctr"/>
                          <a:endParaRPr lang="fr-FR" sz="2400" dirty="0">
                            <a:latin typeface="Times New Roman" panose="02020603050405020304" pitchFamily="18" charset="0"/>
                            <a:cs typeface="Times New Roman" panose="02020603050405020304" pitchFamily="18" charset="0"/>
                          </a:endParaRPr>
                        </a:p>
                        <a:p>
                          <a:pPr algn="ctr"/>
                          <a:r>
                            <a:rPr lang="fr-FR" sz="2400" dirty="0">
                              <a:latin typeface="Times New Roman" panose="02020603050405020304" pitchFamily="18" charset="0"/>
                              <a:cs typeface="Times New Roman" panose="02020603050405020304" pitchFamily="18" charset="0"/>
                            </a:rPr>
                            <a:t>Bassin Q’</a:t>
                          </a:r>
                        </a:p>
                      </a:txBody>
                      <a:tcPr/>
                    </a:tc>
                    <a:extLst>
                      <a:ext uri="{0D108BD9-81ED-4DB2-BD59-A6C34878D82A}">
                        <a16:rowId xmlns:a16="http://schemas.microsoft.com/office/drawing/2014/main" val="1972182878"/>
                      </a:ext>
                    </a:extLst>
                  </a:tr>
                  <a:tr h="900768">
                    <a:tc>
                      <a:txBody>
                        <a:bodyPr/>
                        <a:lstStyle/>
                        <a:p>
                          <a:endParaRPr lang="fr-FR"/>
                        </a:p>
                      </a:txBody>
                      <a:tcPr>
                        <a:blipFill>
                          <a:blip r:embed="rId6"/>
                          <a:stretch>
                            <a:fillRect l="-203" t="-106081" r="-203245" b="-8108"/>
                          </a:stretch>
                        </a:blipFill>
                      </a:tcPr>
                    </a:tc>
                    <a:tc>
                      <a:txBody>
                        <a:bodyPr/>
                        <a:lstStyle/>
                        <a:p>
                          <a:pPr algn="ct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2400" kern="1200" dirty="0">
                              <a:solidFill>
                                <a:schemeClr val="tx1"/>
                              </a:solidFill>
                              <a:effectLst/>
                              <a:latin typeface="Times New Roman" panose="02020603050405020304" pitchFamily="18" charset="0"/>
                              <a:ea typeface="+mn-ea"/>
                              <a:cs typeface="Times New Roman" panose="02020603050405020304" pitchFamily="18" charset="0"/>
                            </a:rPr>
                            <a:t>0,9383</a:t>
                          </a:r>
                          <a:endParaRPr lang="fr-FR" sz="3200" dirty="0">
                            <a:latin typeface="Times New Roman" panose="02020603050405020304" pitchFamily="18" charset="0"/>
                            <a:cs typeface="Times New Roman" panose="02020603050405020304" pitchFamily="18" charset="0"/>
                          </a:endParaRPr>
                        </a:p>
                      </a:txBody>
                      <a:tcPr/>
                    </a:tc>
                    <a:tc>
                      <a:txBody>
                        <a:bodyPr/>
                        <a:lstStyle/>
                        <a:p>
                          <a:pPr algn="ct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2400" kern="1200" dirty="0">
                              <a:solidFill>
                                <a:schemeClr val="tx1"/>
                              </a:solidFill>
                              <a:effectLst/>
                              <a:latin typeface="Times New Roman" panose="02020603050405020304" pitchFamily="18" charset="0"/>
                              <a:ea typeface="+mn-ea"/>
                              <a:cs typeface="Times New Roman" panose="02020603050405020304" pitchFamily="18" charset="0"/>
                            </a:rPr>
                            <a:t>1,921</a:t>
                          </a:r>
                          <a:endParaRPr lang="fr-FR"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13389457"/>
                      </a:ext>
                    </a:extLst>
                  </a:tr>
                </a:tbl>
              </a:graphicData>
            </a:graphic>
          </p:graphicFrame>
        </mc:Fallback>
      </mc:AlternateContent>
      <p:sp>
        <p:nvSpPr>
          <p:cNvPr id="19" name="Ellipse 18">
            <a:extLst>
              <a:ext uri="{FF2B5EF4-FFF2-40B4-BE49-F238E27FC236}">
                <a16:creationId xmlns:a16="http://schemas.microsoft.com/office/drawing/2014/main" id="{D6DDC3C9-499B-4533-A1DC-2877D1E8A50A}"/>
              </a:ext>
            </a:extLst>
          </p:cNvPr>
          <p:cNvSpPr/>
          <p:nvPr/>
        </p:nvSpPr>
        <p:spPr>
          <a:xfrm>
            <a:off x="5177722" y="6092265"/>
            <a:ext cx="1172633" cy="427572"/>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B4853C45-BE42-4ABC-B23A-0AE5E2C058AA}"/>
              </a:ext>
            </a:extLst>
          </p:cNvPr>
          <p:cNvSpPr/>
          <p:nvPr/>
        </p:nvSpPr>
        <p:spPr>
          <a:xfrm>
            <a:off x="8172708" y="6087998"/>
            <a:ext cx="1172633" cy="427572"/>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3248EC6B-EF5A-429A-A727-E0241AE7EFE0}"/>
                  </a:ext>
                </a:extLst>
              </p:cNvPr>
              <p:cNvSpPr txBox="1"/>
              <p:nvPr/>
            </p:nvSpPr>
            <p:spPr>
              <a:xfrm>
                <a:off x="1346199" y="4330649"/>
                <a:ext cx="9220200" cy="407099"/>
              </a:xfrm>
              <a:prstGeom prst="rect">
                <a:avLst/>
              </a:prstGeom>
              <a:noFill/>
            </p:spPr>
            <p:txBody>
              <a:bodyPr wrap="square">
                <a:spAutoFit/>
              </a:bodyPr>
              <a:lstStyle/>
              <a:p>
                <a:r>
                  <a:rPr lang="fr-FR" sz="2000" b="1" i="1" dirty="0">
                    <a:latin typeface="Times New Roman" panose="02020603050405020304" pitchFamily="18" charset="0"/>
                    <a:cs typeface="Times New Roman" panose="02020603050405020304" pitchFamily="18" charset="0"/>
                  </a:rPr>
                  <a:t>Tableau 6 </a:t>
                </a:r>
                <a:r>
                  <a:rPr lang="fr-FR" sz="2000" i="1" dirty="0">
                    <a:latin typeface="Times New Roman" panose="02020603050405020304" pitchFamily="18" charset="0"/>
                    <a:cs typeface="Times New Roman" panose="02020603050405020304" pitchFamily="18" charset="0"/>
                  </a:rPr>
                  <a:t>: </a:t>
                </a:r>
                <a:r>
                  <a:rPr lang="fr-FR" sz="2000" i="1" kern="100" dirty="0">
                    <a:effectLst/>
                    <a:latin typeface="Times New Roman" panose="02020603050405020304" pitchFamily="18" charset="0"/>
                    <a:ea typeface="SimSun" panose="02010600030101010101" pitchFamily="2" charset="-122"/>
                    <a:cs typeface="Times New Roman" panose="02020603050405020304" pitchFamily="18" charset="0"/>
                  </a:rPr>
                  <a:t>Débit décennal avec la méthode du CIEH </a:t>
                </a:r>
                <a:r>
                  <a:rPr lang="fr-FR" sz="2000" b="1" i="1"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fr-FR" sz="2000" b="1" i="1" smtClean="0">
                            <a:latin typeface="Cambria Math" panose="02040503050406030204" pitchFamily="18" charset="0"/>
                            <a:cs typeface="Times New Roman" panose="02020603050405020304" pitchFamily="18" charset="0"/>
                          </a:rPr>
                        </m:ctrlPr>
                      </m:sSupPr>
                      <m:e>
                        <m:r>
                          <a:rPr lang="fr-FR" sz="2000" b="1" i="1">
                            <a:latin typeface="Cambria Math" panose="02040503050406030204" pitchFamily="18" charset="0"/>
                            <a:cs typeface="Times New Roman" panose="02020603050405020304" pitchFamily="18" charset="0"/>
                          </a:rPr>
                          <m:t>𝒎</m:t>
                        </m:r>
                      </m:e>
                      <m:sup>
                        <m:r>
                          <a:rPr lang="fr-FR" sz="2000" b="1" i="1" smtClean="0">
                            <a:latin typeface="Cambria Math" panose="02040503050406030204" pitchFamily="18" charset="0"/>
                            <a:cs typeface="Times New Roman" panose="02020603050405020304" pitchFamily="18" charset="0"/>
                          </a:rPr>
                          <m:t>𝟑</m:t>
                        </m:r>
                      </m:sup>
                    </m:sSup>
                  </m:oMath>
                </a14:m>
                <a:r>
                  <a:rPr lang="fr-FR" sz="2000" b="1" i="1" dirty="0">
                    <a:latin typeface="Times New Roman" panose="02020603050405020304" pitchFamily="18" charset="0"/>
                    <a:cs typeface="Times New Roman" panose="02020603050405020304" pitchFamily="18" charset="0"/>
                  </a:rPr>
                  <a:t>/s)</a:t>
                </a:r>
                <a:endParaRPr lang="fr-FR" sz="2000" i="1" dirty="0">
                  <a:latin typeface="Times New Roman" panose="02020603050405020304" pitchFamily="18" charset="0"/>
                  <a:cs typeface="Times New Roman" panose="02020603050405020304" pitchFamily="18" charset="0"/>
                </a:endParaRPr>
              </a:p>
            </p:txBody>
          </p:sp>
        </mc:Choice>
        <mc:Fallback xmlns="">
          <p:sp>
            <p:nvSpPr>
              <p:cNvPr id="22" name="ZoneTexte 21">
                <a:extLst>
                  <a:ext uri="{FF2B5EF4-FFF2-40B4-BE49-F238E27FC236}">
                    <a16:creationId xmlns:a16="http://schemas.microsoft.com/office/drawing/2014/main" id="{3248EC6B-EF5A-429A-A727-E0241AE7EFE0}"/>
                  </a:ext>
                </a:extLst>
              </p:cNvPr>
              <p:cNvSpPr txBox="1">
                <a:spLocks noRot="1" noChangeAspect="1" noMove="1" noResize="1" noEditPoints="1" noAdjustHandles="1" noChangeArrowheads="1" noChangeShapeType="1" noTextEdit="1"/>
              </p:cNvSpPr>
              <p:nvPr/>
            </p:nvSpPr>
            <p:spPr>
              <a:xfrm>
                <a:off x="1346199" y="4330649"/>
                <a:ext cx="9220200" cy="407099"/>
              </a:xfrm>
              <a:prstGeom prst="rect">
                <a:avLst/>
              </a:prstGeom>
              <a:blipFill>
                <a:blip r:embed="rId7"/>
                <a:stretch>
                  <a:fillRect l="-728" t="-5970" b="-25373"/>
                </a:stretch>
              </a:blipFill>
            </p:spPr>
            <p:txBody>
              <a:bodyPr/>
              <a:lstStyle/>
              <a:p>
                <a:r>
                  <a:rPr lang="fr-FR">
                    <a:noFill/>
                  </a:rPr>
                  <a:t> </a:t>
                </a:r>
              </a:p>
            </p:txBody>
          </p:sp>
        </mc:Fallback>
      </mc:AlternateContent>
    </p:spTree>
    <p:extLst>
      <p:ext uri="{BB962C8B-B14F-4D97-AF65-F5344CB8AC3E}">
        <p14:creationId xmlns:p14="http://schemas.microsoft.com/office/powerpoint/2010/main" val="282730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1)">
                                      <p:cBhvr>
                                        <p:cTn id="7" dur="2000"/>
                                        <p:tgtEl>
                                          <p:spTgt spid="1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heel(1)">
                                      <p:cBhvr>
                                        <p:cTn id="10" dur="20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1)">
                                      <p:cBhvr>
                                        <p:cTn id="15" dur="2000"/>
                                        <p:tgtEl>
                                          <p:spTgt spid="11"/>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heel(1)">
                                      <p:cBhvr>
                                        <p:cTn id="18"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3C0AA491-1CF9-4117-B8E2-3280ECA38BBC}"/>
              </a:ext>
            </a:extLst>
          </p:cNvPr>
          <p:cNvSpPr>
            <a:spLocks noGrp="1"/>
          </p:cNvSpPr>
          <p:nvPr>
            <p:ph type="sldNum" sz="quarter" idx="12"/>
          </p:nvPr>
        </p:nvSpPr>
        <p:spPr/>
        <p:txBody>
          <a:bodyPr/>
          <a:lstStyle/>
          <a:p>
            <a:fld id="{DABACED5-4545-4C55-9339-27E0833A921F}" type="slidenum">
              <a:rPr lang="fr-FR" smtClean="0"/>
              <a:t>19</a:t>
            </a:fld>
            <a:endParaRPr lang="fr-FR" dirty="0"/>
          </a:p>
        </p:txBody>
      </p:sp>
      <p:sp>
        <p:nvSpPr>
          <p:cNvPr id="7" name="Rectangle 6">
            <a:extLst>
              <a:ext uri="{FF2B5EF4-FFF2-40B4-BE49-F238E27FC236}">
                <a16:creationId xmlns:a16="http://schemas.microsoft.com/office/drawing/2014/main" id="{BBDF852D-92D2-4A1D-9837-0FB2CCAAD36F}"/>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CONCLUSION ET PERSPECTIVE(1/2)</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3" name="Ellipse 2">
            <a:extLst>
              <a:ext uri="{FF2B5EF4-FFF2-40B4-BE49-F238E27FC236}">
                <a16:creationId xmlns:a16="http://schemas.microsoft.com/office/drawing/2014/main" id="{86F46E75-ADEA-4E3F-99C9-F5A89F47B9C0}"/>
              </a:ext>
            </a:extLst>
          </p:cNvPr>
          <p:cNvSpPr/>
          <p:nvPr/>
        </p:nvSpPr>
        <p:spPr>
          <a:xfrm>
            <a:off x="1" y="3216925"/>
            <a:ext cx="3007604" cy="892367"/>
          </a:xfrm>
          <a:prstGeom prst="ellipse">
            <a:avLst/>
          </a:prstGeom>
          <a:solidFill>
            <a:schemeClr val="accent5">
              <a:lumMod val="20000"/>
              <a:lumOff val="80000"/>
            </a:schemeClr>
          </a:solid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latin typeface="Times New Roman" panose="02020603050405020304" pitchFamily="18" charset="0"/>
                <a:cs typeface="Times New Roman" panose="02020603050405020304" pitchFamily="18" charset="0"/>
              </a:rPr>
              <a:t>Retenons</a:t>
            </a:r>
          </a:p>
        </p:txBody>
      </p:sp>
      <p:sp>
        <p:nvSpPr>
          <p:cNvPr id="6" name="Rectangle 5">
            <a:extLst>
              <a:ext uri="{FF2B5EF4-FFF2-40B4-BE49-F238E27FC236}">
                <a16:creationId xmlns:a16="http://schemas.microsoft.com/office/drawing/2014/main" id="{5D7BEF3F-2246-4A04-B846-7CA7644C0B34}"/>
              </a:ext>
            </a:extLst>
          </p:cNvPr>
          <p:cNvSpPr/>
          <p:nvPr/>
        </p:nvSpPr>
        <p:spPr>
          <a:xfrm>
            <a:off x="4054207" y="833120"/>
            <a:ext cx="7645706" cy="1403304"/>
          </a:xfrm>
          <a:prstGeom prst="rect">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2800" dirty="0">
                <a:solidFill>
                  <a:schemeClr val="tx1"/>
                </a:solidFill>
                <a:latin typeface="Times New Roman" panose="02020603050405020304" pitchFamily="18" charset="0"/>
                <a:cs typeface="Times New Roman" panose="02020603050405020304" pitchFamily="18" charset="0"/>
              </a:rPr>
              <a:t>Bassin contributif réel plus vaste suivant la topographie naturelle et pente faible, relief très peu marqué et forme allongée</a:t>
            </a:r>
          </a:p>
        </p:txBody>
      </p:sp>
      <p:sp>
        <p:nvSpPr>
          <p:cNvPr id="8" name="Rectangle 7">
            <a:extLst>
              <a:ext uri="{FF2B5EF4-FFF2-40B4-BE49-F238E27FC236}">
                <a16:creationId xmlns:a16="http://schemas.microsoft.com/office/drawing/2014/main" id="{789B8EDB-DC8C-47EB-8CBC-21BAFFD339AB}"/>
              </a:ext>
            </a:extLst>
          </p:cNvPr>
          <p:cNvSpPr/>
          <p:nvPr/>
        </p:nvSpPr>
        <p:spPr>
          <a:xfrm>
            <a:off x="4054207" y="2776249"/>
            <a:ext cx="7645706" cy="1403304"/>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latin typeface="Times New Roman" panose="02020603050405020304" pitchFamily="18" charset="0"/>
                <a:cs typeface="Times New Roman" panose="02020603050405020304" pitchFamily="18" charset="0"/>
              </a:rPr>
              <a:t>-La loi de </a:t>
            </a:r>
            <a:r>
              <a:rPr lang="fr-FR" sz="2800" dirty="0" err="1">
                <a:solidFill>
                  <a:schemeClr val="tx1"/>
                </a:solidFill>
                <a:latin typeface="Times New Roman" panose="02020603050405020304" pitchFamily="18" charset="0"/>
                <a:cs typeface="Times New Roman" panose="02020603050405020304" pitchFamily="18" charset="0"/>
              </a:rPr>
              <a:t>Gumbel</a:t>
            </a:r>
            <a:r>
              <a:rPr lang="fr-FR" sz="2800" dirty="0">
                <a:solidFill>
                  <a:schemeClr val="tx1"/>
                </a:solidFill>
                <a:latin typeface="Times New Roman" panose="02020603050405020304" pitchFamily="18" charset="0"/>
                <a:cs typeface="Times New Roman" panose="02020603050405020304" pitchFamily="18" charset="0"/>
              </a:rPr>
              <a:t> s’est révélée être la meilleure loi d’ajustement</a:t>
            </a:r>
          </a:p>
          <a:p>
            <a:r>
              <a:rPr lang="fr-FR" sz="2800" dirty="0">
                <a:solidFill>
                  <a:schemeClr val="tx1"/>
                </a:solidFill>
                <a:latin typeface="Times New Roman" panose="02020603050405020304" pitchFamily="18" charset="0"/>
                <a:cs typeface="Times New Roman" panose="02020603050405020304" pitchFamily="18" charset="0"/>
              </a:rPr>
              <a:t>-Pluie de période de retour de 10 ans : 150 mm</a:t>
            </a:r>
          </a:p>
        </p:txBody>
      </p:sp>
      <p:sp>
        <p:nvSpPr>
          <p:cNvPr id="2" name="Rectangle 1">
            <a:extLst>
              <a:ext uri="{FF2B5EF4-FFF2-40B4-BE49-F238E27FC236}">
                <a16:creationId xmlns:a16="http://schemas.microsoft.com/office/drawing/2014/main" id="{29397B0B-7A01-4561-AE02-464E5C40A749}"/>
              </a:ext>
            </a:extLst>
          </p:cNvPr>
          <p:cNvSpPr/>
          <p:nvPr/>
        </p:nvSpPr>
        <p:spPr>
          <a:xfrm>
            <a:off x="4054207" y="4715219"/>
            <a:ext cx="7645706" cy="1718632"/>
          </a:xfrm>
          <a:prstGeom prst="rect">
            <a:avLst/>
          </a:prstGeom>
          <a:solidFill>
            <a:schemeClr val="accent1">
              <a:lumMod val="20000"/>
              <a:lumOff val="80000"/>
            </a:schemeClr>
          </a:solid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latin typeface="Times New Roman" panose="02020603050405020304" pitchFamily="18" charset="0"/>
                <a:cs typeface="Times New Roman" panose="02020603050405020304" pitchFamily="18" charset="0"/>
              </a:rPr>
              <a:t>-Différences notables des débits issues des différentes méthodes dues aux hypothèses de calcul</a:t>
            </a:r>
          </a:p>
          <a:p>
            <a:r>
              <a:rPr lang="fr-FR" sz="2800" dirty="0">
                <a:solidFill>
                  <a:schemeClr val="tx1"/>
                </a:solidFill>
                <a:latin typeface="Times New Roman" panose="02020603050405020304" pitchFamily="18" charset="0"/>
                <a:cs typeface="Times New Roman" panose="02020603050405020304" pitchFamily="18" charset="0"/>
              </a:rPr>
              <a:t>-Méthode du CIEH fournit des valeurs plus réalistes </a:t>
            </a:r>
          </a:p>
          <a:p>
            <a:pPr algn="ctr"/>
            <a:endParaRPr lang="fr-FR" dirty="0"/>
          </a:p>
        </p:txBody>
      </p:sp>
      <p:sp>
        <p:nvSpPr>
          <p:cNvPr id="5" name="Rectangle 4">
            <a:extLst>
              <a:ext uri="{FF2B5EF4-FFF2-40B4-BE49-F238E27FC236}">
                <a16:creationId xmlns:a16="http://schemas.microsoft.com/office/drawing/2014/main" id="{F76B55CE-DE3D-4C65-9301-8694419A4E3A}"/>
              </a:ext>
            </a:extLst>
          </p:cNvPr>
          <p:cNvSpPr/>
          <p:nvPr/>
        </p:nvSpPr>
        <p:spPr>
          <a:xfrm>
            <a:off x="3007605" y="1622514"/>
            <a:ext cx="88135" cy="2120747"/>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BB998F39-B330-48DF-AB65-D85AA1AA7964}"/>
              </a:ext>
            </a:extLst>
          </p:cNvPr>
          <p:cNvSpPr/>
          <p:nvPr/>
        </p:nvSpPr>
        <p:spPr>
          <a:xfrm>
            <a:off x="3007604" y="3743261"/>
            <a:ext cx="88135" cy="2120747"/>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4E8374C-9FE9-44AD-AF1C-296BADA128AA}"/>
              </a:ext>
            </a:extLst>
          </p:cNvPr>
          <p:cNvSpPr/>
          <p:nvPr/>
        </p:nvSpPr>
        <p:spPr>
          <a:xfrm>
            <a:off x="3007604" y="1534772"/>
            <a:ext cx="1046603" cy="87742"/>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ED072BD1-AC04-492F-9866-EFA4FBB2E274}"/>
              </a:ext>
            </a:extLst>
          </p:cNvPr>
          <p:cNvSpPr/>
          <p:nvPr/>
        </p:nvSpPr>
        <p:spPr>
          <a:xfrm>
            <a:off x="3108592" y="3662705"/>
            <a:ext cx="945615" cy="80556"/>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B295A5A1-405E-456C-A9EF-6C20A0B7FE45}"/>
              </a:ext>
            </a:extLst>
          </p:cNvPr>
          <p:cNvSpPr/>
          <p:nvPr/>
        </p:nvSpPr>
        <p:spPr>
          <a:xfrm>
            <a:off x="3060851" y="5783452"/>
            <a:ext cx="993356" cy="80556"/>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2050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randombar(horizontal)">
                                      <p:cBhvr>
                                        <p:cTn id="18" dur="500"/>
                                        <p:tgtEl>
                                          <p:spTgt spid="12"/>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randombar(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randombar(horizontal)">
                                      <p:cBhvr>
                                        <p:cTn id="29" dur="500"/>
                                        <p:tgtEl>
                                          <p:spTgt spid="13"/>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randombar(horizont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animBg="1"/>
      <p:bldP spid="5" grpId="0" animBg="1"/>
      <p:bldP spid="10" grpId="0" animBg="1"/>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3C0AA491-1CF9-4117-B8E2-3280ECA38BBC}"/>
              </a:ext>
            </a:extLst>
          </p:cNvPr>
          <p:cNvSpPr>
            <a:spLocks noGrp="1"/>
          </p:cNvSpPr>
          <p:nvPr>
            <p:ph type="sldNum" sz="quarter" idx="12"/>
          </p:nvPr>
        </p:nvSpPr>
        <p:spPr/>
        <p:txBody>
          <a:bodyPr/>
          <a:lstStyle/>
          <a:p>
            <a:fld id="{DABACED5-4545-4C55-9339-27E0833A921F}" type="slidenum">
              <a:rPr lang="fr-FR" smtClean="0"/>
              <a:t>20</a:t>
            </a:fld>
            <a:endParaRPr lang="fr-FR" dirty="0"/>
          </a:p>
        </p:txBody>
      </p:sp>
      <p:sp>
        <p:nvSpPr>
          <p:cNvPr id="7" name="Rectangle 6">
            <a:extLst>
              <a:ext uri="{FF2B5EF4-FFF2-40B4-BE49-F238E27FC236}">
                <a16:creationId xmlns:a16="http://schemas.microsoft.com/office/drawing/2014/main" id="{BBDF852D-92D2-4A1D-9837-0FB2CCAAD36F}"/>
              </a:ext>
            </a:extLst>
          </p:cNvPr>
          <p:cNvSpPr/>
          <p:nvPr/>
        </p:nvSpPr>
        <p:spPr>
          <a:xfrm>
            <a:off x="0" y="-28432"/>
            <a:ext cx="12192000" cy="678989"/>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3200" b="1" i="0" u="none" strike="noStrike" kern="0" cap="none" spc="0" normalizeH="0" baseline="0" noProof="0" dirty="0">
                <a:ln>
                  <a:noFill/>
                </a:ln>
                <a:solidFill>
                  <a:schemeClr val="tx1"/>
                </a:solidFill>
                <a:effectLst/>
                <a:uLnTx/>
                <a:uFillTx/>
                <a:latin typeface="Times New Roman" pitchFamily="18" charset="0"/>
                <a:ea typeface="Cambria Math" pitchFamily="18" charset="0"/>
                <a:cs typeface="Times New Roman" pitchFamily="18" charset="0"/>
                <a:sym typeface="Arial"/>
              </a:rPr>
              <a:t>CONCLUSION ET PERSPECTIVE(2/2)</a:t>
            </a:r>
            <a:endParaRPr kumimoji="0" lang="fr-FR" sz="3200" b="0" i="0" u="none" strike="noStrike" kern="0" cap="none" spc="0" normalizeH="0" baseline="0" noProof="0" dirty="0">
              <a:ln>
                <a:noFill/>
              </a:ln>
              <a:solidFill>
                <a:schemeClr val="tx1"/>
              </a:solidFill>
              <a:effectLst/>
              <a:uLnTx/>
              <a:uFillTx/>
              <a:latin typeface="Calibri"/>
              <a:ea typeface="+mn-ea"/>
              <a:cs typeface="+mn-cs"/>
              <a:sym typeface="Arial"/>
            </a:endParaRPr>
          </a:p>
        </p:txBody>
      </p:sp>
      <p:sp>
        <p:nvSpPr>
          <p:cNvPr id="3" name="Ellipse 2">
            <a:extLst>
              <a:ext uri="{FF2B5EF4-FFF2-40B4-BE49-F238E27FC236}">
                <a16:creationId xmlns:a16="http://schemas.microsoft.com/office/drawing/2014/main" id="{86F46E75-ADEA-4E3F-99C9-F5A89F47B9C0}"/>
              </a:ext>
            </a:extLst>
          </p:cNvPr>
          <p:cNvSpPr/>
          <p:nvPr/>
        </p:nvSpPr>
        <p:spPr>
          <a:xfrm>
            <a:off x="-121186" y="3216521"/>
            <a:ext cx="3735635" cy="892367"/>
          </a:xfrm>
          <a:prstGeom prst="ellipse">
            <a:avLst/>
          </a:prstGeom>
          <a:solidFill>
            <a:schemeClr val="accent5">
              <a:lumMod val="20000"/>
              <a:lumOff val="80000"/>
            </a:schemeClr>
          </a:solidFill>
          <a:ln w="28575"/>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latin typeface="Times New Roman" panose="02020603050405020304" pitchFamily="18" charset="0"/>
                <a:cs typeface="Times New Roman" panose="02020603050405020304" pitchFamily="18" charset="0"/>
              </a:rPr>
              <a:t>Perspectives</a:t>
            </a:r>
          </a:p>
        </p:txBody>
      </p:sp>
      <p:sp>
        <p:nvSpPr>
          <p:cNvPr id="6" name="Rectangle 5">
            <a:extLst>
              <a:ext uri="{FF2B5EF4-FFF2-40B4-BE49-F238E27FC236}">
                <a16:creationId xmlns:a16="http://schemas.microsoft.com/office/drawing/2014/main" id="{5D7BEF3F-2246-4A04-B846-7CA7644C0B34}"/>
              </a:ext>
            </a:extLst>
          </p:cNvPr>
          <p:cNvSpPr/>
          <p:nvPr/>
        </p:nvSpPr>
        <p:spPr>
          <a:xfrm>
            <a:off x="4494881" y="876991"/>
            <a:ext cx="7160964" cy="1403304"/>
          </a:xfrm>
          <a:prstGeom prst="rect">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2800" dirty="0">
                <a:solidFill>
                  <a:schemeClr val="tx1"/>
                </a:solidFill>
                <a:latin typeface="Times New Roman" panose="02020603050405020304" pitchFamily="18" charset="0"/>
                <a:cs typeface="Times New Roman" panose="02020603050405020304" pitchFamily="18" charset="0"/>
              </a:rPr>
              <a:t>Etendre l’étude à l’ensemble des bassins versant de la ville de Cotonou</a:t>
            </a:r>
          </a:p>
        </p:txBody>
      </p:sp>
      <p:sp>
        <p:nvSpPr>
          <p:cNvPr id="8" name="Rectangle 7">
            <a:extLst>
              <a:ext uri="{FF2B5EF4-FFF2-40B4-BE49-F238E27FC236}">
                <a16:creationId xmlns:a16="http://schemas.microsoft.com/office/drawing/2014/main" id="{789B8EDB-DC8C-47EB-8CBC-21BAFFD339AB}"/>
              </a:ext>
            </a:extLst>
          </p:cNvPr>
          <p:cNvSpPr/>
          <p:nvPr/>
        </p:nvSpPr>
        <p:spPr>
          <a:xfrm>
            <a:off x="4538950" y="3128587"/>
            <a:ext cx="7160964" cy="1068232"/>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latin typeface="Times New Roman" panose="02020603050405020304" pitchFamily="18" charset="0"/>
                <a:cs typeface="Times New Roman" panose="02020603050405020304" pitchFamily="18" charset="0"/>
              </a:rPr>
              <a:t>Utiliser des données de pluie à pas de temps plus fin</a:t>
            </a:r>
          </a:p>
        </p:txBody>
      </p:sp>
      <p:sp>
        <p:nvSpPr>
          <p:cNvPr id="2" name="Rectangle 1">
            <a:extLst>
              <a:ext uri="{FF2B5EF4-FFF2-40B4-BE49-F238E27FC236}">
                <a16:creationId xmlns:a16="http://schemas.microsoft.com/office/drawing/2014/main" id="{29397B0B-7A01-4561-AE02-464E5C40A749}"/>
              </a:ext>
            </a:extLst>
          </p:cNvPr>
          <p:cNvSpPr/>
          <p:nvPr/>
        </p:nvSpPr>
        <p:spPr>
          <a:xfrm>
            <a:off x="4494882" y="5055997"/>
            <a:ext cx="7205032" cy="1186453"/>
          </a:xfrm>
          <a:prstGeom prst="rect">
            <a:avLst/>
          </a:prstGeom>
          <a:solidFill>
            <a:schemeClr val="accent1">
              <a:lumMod val="20000"/>
              <a:lumOff val="80000"/>
            </a:schemeClr>
          </a:solid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800" dirty="0">
                <a:solidFill>
                  <a:schemeClr val="tx1"/>
                </a:solidFill>
                <a:latin typeface="Times New Roman" panose="02020603050405020304" pitchFamily="18" charset="0"/>
                <a:cs typeface="Times New Roman" panose="02020603050405020304" pitchFamily="18" charset="0"/>
              </a:rPr>
              <a:t>Utiliser des modèles hydrologiques plus détaillées (SWMM, HEC-RAS) pour mieux représenter le ruissellement urbain</a:t>
            </a:r>
          </a:p>
        </p:txBody>
      </p:sp>
      <p:sp>
        <p:nvSpPr>
          <p:cNvPr id="5" name="Rectangle 4">
            <a:extLst>
              <a:ext uri="{FF2B5EF4-FFF2-40B4-BE49-F238E27FC236}">
                <a16:creationId xmlns:a16="http://schemas.microsoft.com/office/drawing/2014/main" id="{F76B55CE-DE3D-4C65-9301-8694419A4E3A}"/>
              </a:ext>
            </a:extLst>
          </p:cNvPr>
          <p:cNvSpPr/>
          <p:nvPr/>
        </p:nvSpPr>
        <p:spPr>
          <a:xfrm>
            <a:off x="3614447" y="1582236"/>
            <a:ext cx="88135" cy="2120747"/>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BB998F39-B330-48DF-AB65-D85AA1AA7964}"/>
              </a:ext>
            </a:extLst>
          </p:cNvPr>
          <p:cNvSpPr/>
          <p:nvPr/>
        </p:nvSpPr>
        <p:spPr>
          <a:xfrm>
            <a:off x="3614446" y="3702983"/>
            <a:ext cx="88137" cy="1959687"/>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4E8374C-9FE9-44AD-AF1C-296BADA128AA}"/>
              </a:ext>
            </a:extLst>
          </p:cNvPr>
          <p:cNvSpPr/>
          <p:nvPr/>
        </p:nvSpPr>
        <p:spPr>
          <a:xfrm>
            <a:off x="3614447" y="1498086"/>
            <a:ext cx="880434" cy="80556"/>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ED072BD1-AC04-492F-9866-EFA4FBB2E274}"/>
              </a:ext>
            </a:extLst>
          </p:cNvPr>
          <p:cNvSpPr/>
          <p:nvPr/>
        </p:nvSpPr>
        <p:spPr>
          <a:xfrm>
            <a:off x="3695238" y="3627868"/>
            <a:ext cx="843710" cy="80556"/>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B295A5A1-405E-456C-A9EF-6C20A0B7FE45}"/>
              </a:ext>
            </a:extLst>
          </p:cNvPr>
          <p:cNvSpPr/>
          <p:nvPr/>
        </p:nvSpPr>
        <p:spPr>
          <a:xfrm>
            <a:off x="3614446" y="5673501"/>
            <a:ext cx="880435" cy="80555"/>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106D440-3EE2-441E-8D43-CD98132535BA}"/>
              </a:ext>
            </a:extLst>
          </p:cNvPr>
          <p:cNvSpPr/>
          <p:nvPr/>
        </p:nvSpPr>
        <p:spPr>
          <a:xfrm>
            <a:off x="3614446" y="1507121"/>
            <a:ext cx="88135" cy="2120747"/>
          </a:xfrm>
          <a:prstGeom prst="rect">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9567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inVertical)">
                                      <p:cBhvr>
                                        <p:cTn id="26" dur="500"/>
                                        <p:tgtEl>
                                          <p:spTgt spid="10"/>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 grpId="0" animBg="1"/>
      <p:bldP spid="10" grpId="0" animBg="1"/>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1FE2D19-4C6A-46E9-A52A-14949D32DB61}"/>
              </a:ext>
            </a:extLst>
          </p:cNvPr>
          <p:cNvSpPr>
            <a:spLocks noGrp="1"/>
          </p:cNvSpPr>
          <p:nvPr>
            <p:ph type="sldNum" sz="quarter" idx="12"/>
          </p:nvPr>
        </p:nvSpPr>
        <p:spPr/>
        <p:txBody>
          <a:bodyPr/>
          <a:lstStyle/>
          <a:p>
            <a:fld id="{DABACED5-4545-4C55-9339-27E0833A921F}" type="slidenum">
              <a:rPr lang="fr-FR" smtClean="0"/>
              <a:t>21</a:t>
            </a:fld>
            <a:endParaRPr lang="fr-FR" dirty="0"/>
          </a:p>
        </p:txBody>
      </p:sp>
      <p:pic>
        <p:nvPicPr>
          <p:cNvPr id="15" name="Image 14">
            <a:extLst>
              <a:ext uri="{FF2B5EF4-FFF2-40B4-BE49-F238E27FC236}">
                <a16:creationId xmlns:a16="http://schemas.microsoft.com/office/drawing/2014/main" id="{159D554B-540F-47F5-B23B-9709D55A5643}"/>
              </a:ext>
            </a:extLst>
          </p:cNvPr>
          <p:cNvPicPr>
            <a:picLocks noChangeAspect="1"/>
          </p:cNvPicPr>
          <p:nvPr/>
        </p:nvPicPr>
        <p:blipFill rotWithShape="1">
          <a:blip r:embed="rId3">
            <a:extLst>
              <a:ext uri="{28A0092B-C50C-407E-A947-70E740481C1C}">
                <a14:useLocalDpi xmlns:a14="http://schemas.microsoft.com/office/drawing/2010/main" val="0"/>
              </a:ext>
            </a:extLst>
          </a:blip>
          <a:srcRect t="10164" b="10320"/>
          <a:stretch/>
        </p:blipFill>
        <p:spPr>
          <a:xfrm>
            <a:off x="0" y="0"/>
            <a:ext cx="12222751" cy="6858000"/>
          </a:xfrm>
          <a:prstGeom prst="rect">
            <a:avLst/>
          </a:prstGeom>
        </p:spPr>
      </p:pic>
      <p:sp>
        <p:nvSpPr>
          <p:cNvPr id="17" name="ZoneTexte 16">
            <a:extLst>
              <a:ext uri="{FF2B5EF4-FFF2-40B4-BE49-F238E27FC236}">
                <a16:creationId xmlns:a16="http://schemas.microsoft.com/office/drawing/2014/main" id="{EEBB6C65-6F0E-4424-B15E-4CA7E03A5E8B}"/>
              </a:ext>
            </a:extLst>
          </p:cNvPr>
          <p:cNvSpPr txBox="1"/>
          <p:nvPr/>
        </p:nvSpPr>
        <p:spPr>
          <a:xfrm>
            <a:off x="1523081" y="2116346"/>
            <a:ext cx="9581921" cy="2123658"/>
          </a:xfrm>
          <a:prstGeom prst="rect">
            <a:avLst/>
          </a:prstGeom>
          <a:noFill/>
        </p:spPr>
        <p:txBody>
          <a:bodyPr wrap="square">
            <a:spAutoFit/>
          </a:bodyPr>
          <a:lstStyle/>
          <a:p>
            <a:pPr algn="ctr"/>
            <a:r>
              <a:rPr lang="fr-FR" sz="6600" b="1" dirty="0">
                <a:solidFill>
                  <a:schemeClr val="bg1">
                    <a:lumMod val="95000"/>
                  </a:schemeClr>
                </a:solidFill>
                <a:effectLst>
                  <a:outerShdw blurRad="38100" dist="38100" dir="2700000" algn="tl">
                    <a:srgbClr val="000000">
                      <a:alpha val="43137"/>
                    </a:srgbClr>
                  </a:outerShdw>
                </a:effectLst>
                <a:latin typeface="Algerian" panose="04020705040A02060702" pitchFamily="82" charset="0"/>
                <a:cs typeface="Times New Roman" panose="02020603050405020304" pitchFamily="18" charset="0"/>
              </a:rPr>
              <a:t>MERCI de VOTRE AIMABLE ATTENTION</a:t>
            </a:r>
          </a:p>
        </p:txBody>
      </p:sp>
    </p:spTree>
    <p:extLst>
      <p:ext uri="{BB962C8B-B14F-4D97-AF65-F5344CB8AC3E}">
        <p14:creationId xmlns:p14="http://schemas.microsoft.com/office/powerpoint/2010/main" val="17832866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ème1" id="{8476E049-5468-447C-896D-4CDD144ABA97}" vid="{5643E9FB-F9DB-4EBC-A75E-E474F791AE28}"/>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5336</TotalTime>
  <Words>3372</Words>
  <Application>Microsoft Office PowerPoint</Application>
  <PresentationFormat>Grand écran</PresentationFormat>
  <Paragraphs>374</Paragraphs>
  <Slides>21</Slides>
  <Notes>20</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21</vt:i4>
      </vt:variant>
    </vt:vector>
  </HeadingPairs>
  <TitlesOfParts>
    <vt:vector size="33" baseType="lpstr">
      <vt:lpstr>Algerian</vt:lpstr>
      <vt:lpstr>Arial</vt:lpstr>
      <vt:lpstr>Bodoni MT</vt:lpstr>
      <vt:lpstr>Calibri</vt:lpstr>
      <vt:lpstr>Calibri Light</vt:lpstr>
      <vt:lpstr>Cambria Math</vt:lpstr>
      <vt:lpstr>Söhne</vt:lpstr>
      <vt:lpstr>Times</vt:lpstr>
      <vt:lpstr>Times New Roman</vt:lpstr>
      <vt:lpstr>Wingdings</vt:lpstr>
      <vt:lpstr>Thème Office</vt:lpstr>
      <vt:lpstr>Thème1</vt:lpstr>
      <vt:lpstr>Présentation PowerPoint</vt:lpstr>
      <vt:lpstr>UNIVERSITE  D’ABOMEY-CALAVI (UAC) --------------- INSTITUT  NATIONAL  DE  L’EAU (INE) ----------------- DEPARTEMENT D’HYDROLOGIE ET DE GESTION DES RESSOURCES EN EAU  (HGRE)  Licence Professionnel En Hydrologie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HP</dc:creator>
  <cp:lastModifiedBy>HP</cp:lastModifiedBy>
  <cp:revision>267</cp:revision>
  <dcterms:created xsi:type="dcterms:W3CDTF">2025-12-06T19:41:47Z</dcterms:created>
  <dcterms:modified xsi:type="dcterms:W3CDTF">2025-12-24T19:36:32Z</dcterms:modified>
</cp:coreProperties>
</file>